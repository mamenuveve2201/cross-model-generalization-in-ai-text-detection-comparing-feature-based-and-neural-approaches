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75608" autoAdjust="0"/>
  </p:normalViewPr>
  <p:slideViewPr>
    <p:cSldViewPr snapToGrid="0" snapToObjects="1">
      <p:cViewPr varScale="1">
        <p:scale>
          <a:sx n="149" d="100"/>
          <a:sy n="149" d="100"/>
        </p:scale>
        <p:origin x="65"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Mean F1 Score</c:v>
                </c:pt>
              </c:strCache>
            </c:strRef>
          </c:tx>
          <c:spPr>
            <a:solidFill>
              <a:srgbClr val="10B981"/>
            </a:solidFill>
            <a:effectLst/>
          </c:spPr>
          <c:invertIfNegative val="0"/>
          <c:dPt>
            <c:idx val="0"/>
            <c:invertIfNegative val="0"/>
            <c:bubble3D val="0"/>
            <c:extLst>
              <c:ext xmlns:c16="http://schemas.microsoft.com/office/drawing/2014/chart" uri="{C3380CC4-5D6E-409C-BE32-E72D297353CC}">
                <c16:uniqueId val="{00000001-1E89-4C25-A371-404BB286B4C8}"/>
              </c:ext>
            </c:extLst>
          </c:dPt>
          <c:dPt>
            <c:idx val="1"/>
            <c:invertIfNegative val="0"/>
            <c:bubble3D val="0"/>
            <c:spPr>
              <a:solidFill>
                <a:srgbClr val="00D4FF"/>
              </a:solidFill>
              <a:effectLst/>
            </c:spPr>
            <c:extLst>
              <c:ext xmlns:c16="http://schemas.microsoft.com/office/drawing/2014/chart" uri="{C3380CC4-5D6E-409C-BE32-E72D297353CC}">
                <c16:uniqueId val="{00000003-1E89-4C25-A371-404BB286B4C8}"/>
              </c:ext>
            </c:extLst>
          </c:dPt>
          <c:dPt>
            <c:idx val="2"/>
            <c:invertIfNegative val="0"/>
            <c:bubble3D val="0"/>
            <c:spPr>
              <a:solidFill>
                <a:srgbClr val="7C3AED"/>
              </a:solidFill>
              <a:effectLst/>
            </c:spPr>
            <c:extLst>
              <c:ext xmlns:c16="http://schemas.microsoft.com/office/drawing/2014/chart" uri="{C3380CC4-5D6E-409C-BE32-E72D297353CC}">
                <c16:uniqueId val="{00000005-1E89-4C25-A371-404BB286B4C8}"/>
              </c:ext>
            </c:extLst>
          </c:dPt>
          <c:dPt>
            <c:idx val="3"/>
            <c:invertIfNegative val="0"/>
            <c:bubble3D val="0"/>
            <c:spPr>
              <a:solidFill>
                <a:srgbClr val="EF4444"/>
              </a:solidFill>
              <a:effectLst/>
            </c:spPr>
            <c:extLst>
              <c:ext xmlns:c16="http://schemas.microsoft.com/office/drawing/2014/chart" uri="{C3380CC4-5D6E-409C-BE32-E72D297353CC}">
                <c16:uniqueId val="{00000007-1E89-4C25-A371-404BB286B4C8}"/>
              </c:ext>
            </c:extLst>
          </c:dPt>
          <c:dPt>
            <c:idx val="4"/>
            <c:invertIfNegative val="0"/>
            <c:bubble3D val="0"/>
            <c:spPr>
              <a:solidFill>
                <a:srgbClr val="F59E0B"/>
              </a:solidFill>
              <a:effectLst/>
            </c:spPr>
            <c:extLst>
              <c:ext xmlns:c16="http://schemas.microsoft.com/office/drawing/2014/chart" uri="{C3380CC4-5D6E-409C-BE32-E72D297353CC}">
                <c16:uniqueId val="{00000009-1E89-4C25-A371-404BB286B4C8}"/>
              </c:ext>
            </c:extLst>
          </c:dPt>
          <c:dLbls>
            <c:numFmt formatCode="0.0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c:v>
                </c:pt>
                <c:pt idx="1">
                  <c:v>Random Forest</c:v>
                </c:pt>
                <c:pt idx="2">
                  <c:v>XGBoost</c:v>
                </c:pt>
                <c:pt idx="3">
                  <c:v>RoBERTa-OpenAI</c:v>
                </c:pt>
                <c:pt idx="4">
                  <c:v>ChatGPT Detector</c:v>
                </c:pt>
              </c:strCache>
            </c:strRef>
          </c:cat>
          <c:val>
            <c:numRef>
              <c:f>Sheet1!$B$2:$B$6</c:f>
              <c:numCache>
                <c:formatCode>General</c:formatCode>
                <c:ptCount val="5"/>
                <c:pt idx="0">
                  <c:v>0.99939999999999996</c:v>
                </c:pt>
                <c:pt idx="1">
                  <c:v>0.99609999999999999</c:v>
                </c:pt>
                <c:pt idx="2">
                  <c:v>0.99629999999999996</c:v>
                </c:pt>
                <c:pt idx="3">
                  <c:v>0.1837</c:v>
                </c:pt>
                <c:pt idx="4">
                  <c:v>0.1827</c:v>
                </c:pt>
              </c:numCache>
            </c:numRef>
          </c:val>
          <c:extLst>
            <c:ext xmlns:c16="http://schemas.microsoft.com/office/drawing/2014/chart" uri="{C3380CC4-5D6E-409C-BE32-E72D297353CC}">
              <c16:uniqueId val="{0000000A-1E89-4C25-A371-404BB286B4C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FFFFFF"/>
                </a:solidFill>
                <a:latin typeface="Arial"/>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11827"/>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Mean Generalization Gap</c:v>
                </c:pt>
              </c:strCache>
            </c:strRef>
          </c:tx>
          <c:spPr>
            <a:solidFill>
              <a:srgbClr val="10B981"/>
            </a:solidFill>
            <a:effectLst/>
          </c:spPr>
          <c:invertIfNegative val="0"/>
          <c:dPt>
            <c:idx val="0"/>
            <c:invertIfNegative val="0"/>
            <c:bubble3D val="0"/>
            <c:extLst>
              <c:ext xmlns:c16="http://schemas.microsoft.com/office/drawing/2014/chart" uri="{C3380CC4-5D6E-409C-BE32-E72D297353CC}">
                <c16:uniqueId val="{00000001-4F1D-4CAE-B6B2-7B9CDB394AED}"/>
              </c:ext>
            </c:extLst>
          </c:dPt>
          <c:dPt>
            <c:idx val="1"/>
            <c:invertIfNegative val="0"/>
            <c:bubble3D val="0"/>
            <c:spPr>
              <a:solidFill>
                <a:srgbClr val="00D4FF"/>
              </a:solidFill>
              <a:effectLst/>
            </c:spPr>
            <c:extLst>
              <c:ext xmlns:c16="http://schemas.microsoft.com/office/drawing/2014/chart" uri="{C3380CC4-5D6E-409C-BE32-E72D297353CC}">
                <c16:uniqueId val="{00000003-4F1D-4CAE-B6B2-7B9CDB394AED}"/>
              </c:ext>
            </c:extLst>
          </c:dPt>
          <c:dPt>
            <c:idx val="2"/>
            <c:invertIfNegative val="0"/>
            <c:bubble3D val="0"/>
            <c:spPr>
              <a:solidFill>
                <a:srgbClr val="7C3AED"/>
              </a:solidFill>
              <a:effectLst/>
            </c:spPr>
            <c:extLst>
              <c:ext xmlns:c16="http://schemas.microsoft.com/office/drawing/2014/chart" uri="{C3380CC4-5D6E-409C-BE32-E72D297353CC}">
                <c16:uniqueId val="{00000005-4F1D-4CAE-B6B2-7B9CDB394AED}"/>
              </c:ext>
            </c:extLst>
          </c:dPt>
          <c:dPt>
            <c:idx val="3"/>
            <c:invertIfNegative val="0"/>
            <c:bubble3D val="0"/>
            <c:spPr>
              <a:solidFill>
                <a:srgbClr val="EF4444"/>
              </a:solidFill>
              <a:effectLst/>
            </c:spPr>
            <c:extLst>
              <c:ext xmlns:c16="http://schemas.microsoft.com/office/drawing/2014/chart" uri="{C3380CC4-5D6E-409C-BE32-E72D297353CC}">
                <c16:uniqueId val="{00000007-4F1D-4CAE-B6B2-7B9CDB394AED}"/>
              </c:ext>
            </c:extLst>
          </c:dPt>
          <c:dPt>
            <c:idx val="4"/>
            <c:invertIfNegative val="0"/>
            <c:bubble3D val="0"/>
            <c:spPr>
              <a:solidFill>
                <a:srgbClr val="F59E0B"/>
              </a:solidFill>
              <a:effectLst/>
            </c:spPr>
            <c:extLst>
              <c:ext xmlns:c16="http://schemas.microsoft.com/office/drawing/2014/chart" uri="{C3380CC4-5D6E-409C-BE32-E72D297353CC}">
                <c16:uniqueId val="{00000009-4F1D-4CAE-B6B2-7B9CDB394AED}"/>
              </c:ext>
            </c:extLst>
          </c:dPt>
          <c:dLbls>
            <c:numFmt formatCode="0.00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c:v>
                </c:pt>
                <c:pt idx="1">
                  <c:v>Random Forest</c:v>
                </c:pt>
                <c:pt idx="2">
                  <c:v>XGBoost</c:v>
                </c:pt>
                <c:pt idx="3">
                  <c:v>RoBERTa-OpenAI</c:v>
                </c:pt>
                <c:pt idx="4">
                  <c:v>ChatGPT Detector</c:v>
                </c:pt>
              </c:strCache>
            </c:strRef>
          </c:cat>
          <c:val>
            <c:numRef>
              <c:f>Sheet1!$B$2:$B$6</c:f>
              <c:numCache>
                <c:formatCode>General</c:formatCode>
                <c:ptCount val="5"/>
                <c:pt idx="0">
                  <c:v>-8.0000000000000004E-4</c:v>
                </c:pt>
                <c:pt idx="1">
                  <c:v>-3.0000000000000001E-3</c:v>
                </c:pt>
                <c:pt idx="2">
                  <c:v>-3.2000000000000002E-3</c:v>
                </c:pt>
                <c:pt idx="3">
                  <c:v>8.8999999999999996E-2</c:v>
                </c:pt>
                <c:pt idx="4">
                  <c:v>9.2999999999999999E-2</c:v>
                </c:pt>
              </c:numCache>
            </c:numRef>
          </c:val>
          <c:extLst>
            <c:ext xmlns:c16="http://schemas.microsoft.com/office/drawing/2014/chart" uri="{C3380CC4-5D6E-409C-BE32-E72D297353CC}">
              <c16:uniqueId val="{0000000A-4F1D-4CAE-B6B2-7B9CDB394AE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FFFFF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11827"/>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6499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core question I'm investigating is: if I train a detector on 5 AI models, will it still work on a 6th model it's never seen before? This is called the cross-model generalization problem, and it's a real challenge for AI detection in the wild.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we'll cover today.
I'll start with the motivation , why this problem matters. Then related work, dataset construction, feature extraction, models and evaluation protocol, results, key findings, and a live demo of the web app I built. I'll close with conclusions.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straightforward: AI detectors work well in controlled settings but break down in the real world.
Imagine a university deploying an AI detector trained on GPT-4 text , then students start using Claude or Gemini. The detector has never seen those models, so it could fail completely.
This is the cross-model generalization problem. My project asks: are there universal linguistic patterns in AI text that transfer across all models? And do hand-crafted features capture these patterns better than neural approaches?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landscape of prior work.
Early approaches like GLTR and DetectGPT are statistical and zero-shot. They don't require training but are fragile.
Transformer-based methods like DeBERTa are strong in-distribution but fail when tested on models they weren't trained on.
The most relevant paper is Xia et al. 2026 , they identified which linguistic features correlate with generalization failures across 7 LLMs. But critically, they used these features only to EXPLAIN failures, not as direct classifier inputs.
Our work closes that gap: we directly test whether building classifiers on these transferable features outperforms neural approaches.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5,981 samples , not 6,000 as originally planned. We lost 19 samples during quality filtering: duplicate responses, empty API outputs, and truncated texts were removed.
The human baseline comes from the PERSUADE 2.0 corpus  real student essays on diverse argumentative topics. We used identical zero-shot prompts across all 5 AI models so that any differences we find are due to the model, not the prompt.
Note that LLaMA is the only model with a full 1,000 samples and the others have slightly fewer due to API issues.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extracted 41 linguistic features across 4 categories.
The original proposal targeted 57, but we removed features that required external language model calls like perplexity and embedding coherence  because they would have required running a separate LM on every sample, which was computationally prohibitive.
The Semantic features are the most theoretically interesting because they directly correspond to what Xia et al. identified as predictive. We wanted to test whether these features work as direct classifier inputs — something Xia et al. never did.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interesting findings.
Xia et al. identified passive voice, verb tense, and pronoun frequency as the features most correlated with generalization failures in neural detectors , with correlation values between 0.3 and 0.4.
The implication from their work was that these features should be the most predictive for building a good detector.
But when we actually USE these features as direct inputs to classifiers, they rank between #14 and #40 out of 41 features, with near-zero importance scores.
The actual #1 feature is </a:t>
            </a:r>
            <a:r>
              <a:rPr lang="en-US" dirty="0" err="1"/>
              <a:t>syllables_per_word</a:t>
            </a:r>
            <a:r>
              <a:rPr lang="en-US" dirty="0"/>
              <a:t> , with 50.6% combined importance. AI text simply uses more complex, polysyllabic words than humans.
This doesn't mean Xia et al. were wrong, their features do correlate with failures. But correlation with failure is different from being a useful classifier input.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protocol is Leave-One-Model-Out cross-validation.
In each fold, one AI model is completely held out as the test set. The classifier never sees a single sample from that model during training. This directly tests cross-model generalization.
We also split the 1,000 human samples equally , 200 per test fold, 800 in training, so each fold has both AI and human samples in the test set. This lets us compute the False Positive Rate, which is critical for real-world use.
Importantly, the StandardScaler is fitted ONLY on the training data each fold. We had a data leakage bug early on where we were using pre-scaled features , we caught and fixed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three feature-based classifiers and two neural baselines.
For classical ML: Logistic Regression is our simplest model, if it performs well, it means the features create a linearly separable boundary. Random Forest and XGBoost both provide feature importance scores, which is critical for the analysis.
For neural baselines: both are RoBERTa-based but fine-tuned on different data. The key point is that both were trained on OLDER or MORE LIMITED AI text , GPT-2 or ChatGPT only. This makes them fair baselines for testing cross-model generalization.
We originally proposed a hybrid ensemble, but given the results, it wouldn't add scientific value , a 99% accurate model mixed with an 18% accurate model won't improve either.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results table across all 5 classifiers and 5 folds.
Green means strong performance, yellow means moderate drop (usually LLaMA), red means near-random or worse.
The pattern is crystal clear: classical ML is green almost everywhere, neural baselines are red almost everywhere , except on LLaMA where both neural detectors surprisingly perform better.
I'll break this down further in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tells the whole story in one image.
The three classical ML models all exceed 99% F1. The two neural baselines both sit at roughly 18% F1, barely above chance.
The gap is not a matter of fine-tuning or hyperparameters. It's a fundamental difference: hand-crafted linguistic features capture universal AI writing patterns that transfer across models. Neural detectors trained on specific model outputs cannot generalize.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dig into the neural baseline numbers.
AUC of 0.40 on Gemini  for RoBERTa  means the detector is actively worse than random. If you flipped a coin you'd do better. Same for Claude and Qwen.
The one exception is LLaMA, where both neural detectors perform much better  77% F1 for RoBERTa and 82% for the ChatGPT detector. I think this is because LLaMA's open-source training data overlaps more with the GPT-2 era text these detectors were trained on.
Also note the FPR: the ChatGPT detector falsely accuses human writers at 11.9%  nearly 1 in 8 human essays gets flagged as AI. That's a real problem for academic integrity tools.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importance chart is striking.
syllables_per_word alone accounts for 50.6% of the combined importance across RF and XGBoost. The top 5 features are all vocabulary complexity measures.
The interpretation is clear: AI models consistently use more complex, longer, more polysyllabic words than human writers. This is a universal pattern across all 5 models that's why it transfers.
Human writing, by contrast, uses shorter words, more pronouns, more repetition, and more varied sentence lengths  which is captured by the lower-ranked features.
These are averaged across RF and XGBoost. The rankings are consistent between both models.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which of the 41 features actually transfer across models?
We measure this using the coefficient of variation the ratio of standard deviation to mean across the 5 folds. A low CV means the feature has consistent importance regardless of which model is being tested. A high CV means the feature is only useful for detecting some models.
The results confirm the pattern from the importance chart: vocabulary complexity features are the most transferable, with CVs as low as 0.009 for hapax_ratio.
Interestingly, </a:t>
            </a:r>
            <a:r>
              <a:rPr lang="en-US" dirty="0" err="1"/>
              <a:t>past_tense_freq</a:t>
            </a:r>
            <a:r>
              <a:rPr lang="en-US" dirty="0"/>
              <a:t> one of Xia et al.'s key features with a correlation of 0.416  has a CV of 1.048, meaning it's highly model-specific. It might work well for one model but not another.
This is a nuanced finding: Xia et al. were right that tense correlates with generalization, but the direction of causality is different from what they implied.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generalization gap is defined as in-domain F1 minus out-of-domain F1.
For classical ML, the gap is actually negative  meaning the models perform slightly BETTER on held-out models than the average across folds. This is unusual but it means there's no generalization penalty at all.
For neural baselines, the gap is +0.089 to +0.093  about 9 F1 points drop when testing on an unseen model. This seems small, but remember the neural baselines start at only 18% mean F1 that's a relative drop of about 50%.
The key takeaway: linguistic features have essentially zero generalization gap. They transfer perfectly.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analysis tells a powerful story about practical reliability.
Only 4 samples  out of nearly 6,000  fooled all three classical models simultaneously. All 4 were LLaMA AI samples that were misclassified as human. A 0.07% error rate.
More importantly, look at the false positive rate how often human writing gets falsely flagged as AI.
Logistic Regression and Random Forest: 0%. Zero human essays were ever flagged as AI.
XGBoost: 0.04%  just 2 samples out of thousands.
Compare this to the ChatGPT detector: 11.9% FPR. Nearly 1 in 8 human essays would be falsely accused. That's catastrophic for real-world use in academic integrity contexts.
For practical deployment, FPR matters as much as accuracy.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 is the outlier across every single classifier.
Logistic Regression still gets 99.70% F1 on LLaMA, but RF and XGBoost drop to 98.2% and 98.4%  noticeably lower than their near-perfect scores on other models.
Why? The most likely explanation is that LLaMA uses simpler vocabulary. Remember that syllables_per_word accounts for 50% of the model's importance. LLaMA's open-source training on diverse internet text means it writes more like a human shorter words, more casual language.
Interestingly, the neural detectors actually perform BETTER on LLaMA than on GPT-4o or Claude. We think this is because LLaMA's training data overlaps with the GPT-2 era text that RoBERTa-openai-detector was trained on.
This is an interesting case where different detector types fail on different models  suggesting that an ensemble could potentially combine their strengths, though that's left for future work.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and deployed a live web application that demonstrates the detector in action.
The app takes any text input, extracts the 41 linguistic features, runs all three classical models, and returns an ensemble prediction with confidence score and feature breakdown table.
I tested it on three cases:
1. My own writing — correctly identified as human, 80.3% confidence
2. A ChatGPT paragraph — correctly flagged as AI, 98.9% confidence
3. Mistral text — a model the detector was NEVER trained on — still correctly flagged as AI, 98.7% confidence
This live test on Mistral is our strongest evidence of true cross-model generalization.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do the live demo. Navigate to: huggingface.co/spaces/amenuvevemelissa/ai-detector
Step 1: Paste something you wrote yourself — show it returns HUMAN.
Step 2: Go to ChatGPT, ask for a paragraph, paste it in — show it returns AI.
Step 3: Go to chat.mistral.ai, ask for a paragraph, paste it in — show it returns AI even though Mistral was never in training.
The third test is the most impressive moment — it demonstrates cross-model generalization live.
If the wifi is unreliable, just reference the previous slide which shows all three results with actual screenshots.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the 10 key findings.
The headline finding is #1: classical ML beats neural baselines by 81 F1 points. This is the core answer to our research question.
Findings 3 and 4 together are the most novel contribution: syllables_per_word dominates everything, and the features Xia et al. said should matter actually have near-zero importance as direct classifier inputs.
Finding 10 : the Mistral generalization test , provides external validation that the approach works beyond the 5 training models.
Findings 7 and 8 speak to practical reliability: near-zero error rate, zero false positives for LR and RF.</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directly answer the three research questions.
RQ1: Feature-based classical ML completely outperforms neural baselines. The 81-point F1 gap is decisive.
RQ2: The key features are vocabulary complexity, syllables, word length, hapax ratio. These are universal AI patterns. Notably, the features Xia et al. highlighted (voice, tense, pronouns) have near-zero importance as direct classifier inputs, which extends and challenges their findings.
RQ3: We proposed but did not implement the hybrid ensemble. Given that LR alone achieves 99.94% F1, a hybrid would be diluted by the 18% neural baseline rather than improved by it. This is left as future work for when neural baselines are improved.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directions for future work.
The hybrid ensemble is probably the most natural next step , but it needs a better neural baseline first. Once RoBERTa is fine-tuned on all 5 models rather than just GPT-2, an ensemble combination would be more meaningful.
Adversarial robustness is the most practically important: can someone deliberately paraphrase AI text to fool the detector? That's a real threat in academic settings.
The multi-language direction is interesting scientifically , do vocabulary complexity patterns hold in French, Spanish, or Arabic, or are they English-specific?
Finally, the most direct extension of this work is to keep testing on new models as they release. GPT-5, Llama 4, DeepSeek , the detector should generalize to all of them if our hypothesis about universal AI writing patterns is correct.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take questions.
If anyone wants to try the detector themselves, the link is on the slide , it's live and public.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D4FF"/>
          </a:solidFill>
          <a:ln w="12700">
            <a:solidFill>
              <a:srgbClr val="00D4FF"/>
            </a:solidFill>
            <a:prstDash val="solid"/>
          </a:ln>
        </p:spPr>
        <p:txBody>
          <a:bodyPr/>
          <a:lstStyle/>
          <a:p>
            <a:endParaRPr lang="en-US"/>
          </a:p>
        </p:txBody>
      </p:sp>
      <p:sp>
        <p:nvSpPr>
          <p:cNvPr id="3" name="Shape 1"/>
          <p:cNvSpPr/>
          <p:nvPr/>
        </p:nvSpPr>
        <p:spPr>
          <a:xfrm>
            <a:off x="6858000" y="-1371600"/>
            <a:ext cx="4572000" cy="4572000"/>
          </a:xfrm>
          <a:prstGeom prst="ellipse">
            <a:avLst/>
          </a:prstGeom>
          <a:solidFill>
            <a:srgbClr val="7C3AED">
              <a:alpha val="15000"/>
            </a:srgbClr>
          </a:solidFill>
          <a:ln w="12700">
            <a:solidFill>
              <a:srgbClr val="7C3AED">
                <a:alpha val="15000"/>
              </a:srgbClr>
            </a:solidFill>
            <a:prstDash val="solid"/>
          </a:ln>
        </p:spPr>
        <p:txBody>
          <a:bodyPr/>
          <a:lstStyle/>
          <a:p>
            <a:endParaRPr lang="en-US"/>
          </a:p>
        </p:txBody>
      </p:sp>
      <p:sp>
        <p:nvSpPr>
          <p:cNvPr id="4" name="Shape 2"/>
          <p:cNvSpPr/>
          <p:nvPr/>
        </p:nvSpPr>
        <p:spPr>
          <a:xfrm>
            <a:off x="7498080" y="2286000"/>
            <a:ext cx="2743200" cy="2743200"/>
          </a:xfrm>
          <a:prstGeom prst="ellipse">
            <a:avLst/>
          </a:prstGeom>
          <a:solidFill>
            <a:srgbClr val="00D4FF">
              <a:alpha val="10000"/>
            </a:srgbClr>
          </a:solidFill>
          <a:ln w="12700">
            <a:solidFill>
              <a:srgbClr val="00D4FF">
                <a:alpha val="10000"/>
              </a:srgbClr>
            </a:solidFill>
            <a:prstDash val="solid"/>
          </a:ln>
        </p:spPr>
        <p:txBody>
          <a:bodyPr/>
          <a:lstStyle/>
          <a:p>
            <a:endParaRPr lang="en-US"/>
          </a:p>
        </p:txBody>
      </p:sp>
      <p:sp>
        <p:nvSpPr>
          <p:cNvPr id="5" name="Text 3"/>
          <p:cNvSpPr/>
          <p:nvPr/>
        </p:nvSpPr>
        <p:spPr>
          <a:xfrm>
            <a:off x="457200" y="640080"/>
            <a:ext cx="7772400" cy="82296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Cross-Model Generalization</a:t>
            </a:r>
            <a:endParaRPr lang="en-US" sz="3800" dirty="0"/>
          </a:p>
        </p:txBody>
      </p:sp>
      <p:sp>
        <p:nvSpPr>
          <p:cNvPr id="6" name="Text 4"/>
          <p:cNvSpPr/>
          <p:nvPr/>
        </p:nvSpPr>
        <p:spPr>
          <a:xfrm>
            <a:off x="457200" y="1417320"/>
            <a:ext cx="7772400" cy="822960"/>
          </a:xfrm>
          <a:prstGeom prst="rect">
            <a:avLst/>
          </a:prstGeom>
          <a:noFill/>
          <a:ln/>
        </p:spPr>
        <p:txBody>
          <a:bodyPr wrap="square" rtlCol="0" anchor="ctr"/>
          <a:lstStyle/>
          <a:p>
            <a:pPr marL="0" indent="0">
              <a:buNone/>
            </a:pPr>
            <a:r>
              <a:rPr lang="en-US" sz="3800" b="1" dirty="0">
                <a:solidFill>
                  <a:srgbClr val="00D4FF"/>
                </a:solidFill>
                <a:latin typeface="Calibri" pitchFamily="34" charset="0"/>
                <a:ea typeface="Calibri" pitchFamily="34" charset="-122"/>
                <a:cs typeface="Calibri" pitchFamily="34" charset="-120"/>
              </a:rPr>
              <a:t>in AI Text Detection</a:t>
            </a:r>
            <a:endParaRPr lang="en-US" sz="3800" dirty="0"/>
          </a:p>
        </p:txBody>
      </p:sp>
      <p:sp>
        <p:nvSpPr>
          <p:cNvPr id="7" name="Shape 5"/>
          <p:cNvSpPr/>
          <p:nvPr/>
        </p:nvSpPr>
        <p:spPr>
          <a:xfrm>
            <a:off x="457200" y="2331720"/>
            <a:ext cx="3657600" cy="36576"/>
          </a:xfrm>
          <a:prstGeom prst="rect">
            <a:avLst/>
          </a:prstGeom>
          <a:solidFill>
            <a:srgbClr val="00D4FF"/>
          </a:solidFill>
          <a:ln w="12700">
            <a:solidFill>
              <a:srgbClr val="00D4FF"/>
            </a:solidFill>
            <a:prstDash val="solid"/>
          </a:ln>
        </p:spPr>
        <p:txBody>
          <a:bodyPr/>
          <a:lstStyle/>
          <a:p>
            <a:endParaRPr lang="en-US"/>
          </a:p>
        </p:txBody>
      </p:sp>
      <p:sp>
        <p:nvSpPr>
          <p:cNvPr id="8" name="Text 6"/>
          <p:cNvSpPr/>
          <p:nvPr/>
        </p:nvSpPr>
        <p:spPr>
          <a:xfrm>
            <a:off x="384048" y="2743200"/>
            <a:ext cx="6858000" cy="502920"/>
          </a:xfrm>
          <a:prstGeom prst="rect">
            <a:avLst/>
          </a:prstGeom>
          <a:noFill/>
          <a:ln/>
        </p:spPr>
        <p:txBody>
          <a:bodyPr wrap="square"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Can linguistic features trained on 5 AI models detect a 6th they've never seen?</a:t>
            </a:r>
            <a:endParaRPr lang="en-US" sz="1400" dirty="0"/>
          </a:p>
        </p:txBody>
      </p:sp>
      <p:sp>
        <p:nvSpPr>
          <p:cNvPr id="9" name="Text 7"/>
          <p:cNvSpPr/>
          <p:nvPr/>
        </p:nvSpPr>
        <p:spPr>
          <a:xfrm>
            <a:off x="329184" y="4503420"/>
            <a:ext cx="8229600" cy="36576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Melissa Amenuveve</a:t>
            </a:r>
            <a:r>
              <a:rPr lang="en-US" dirty="0">
                <a:solidFill>
                  <a:srgbClr val="94A3B8"/>
                </a:solidFill>
                <a:latin typeface="Calibri" pitchFamily="34" charset="0"/>
                <a:ea typeface="Calibri" pitchFamily="34" charset="-122"/>
                <a:cs typeface="Calibri" pitchFamily="34" charset="-120"/>
              </a:rPr>
              <a:t>   |   CAP5638 Pattern Recognition   |   Florida State University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Agenda</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 / 24</a:t>
            </a:r>
            <a:endParaRPr lang="en-US" sz="900" dirty="0"/>
          </a:p>
        </p:txBody>
      </p:sp>
      <p:sp>
        <p:nvSpPr>
          <p:cNvPr id="5" name="Shape 3"/>
          <p:cNvSpPr/>
          <p:nvPr/>
        </p:nvSpPr>
        <p:spPr>
          <a:xfrm>
            <a:off x="365760" y="1280160"/>
            <a:ext cx="4114800" cy="6217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6" name="Shape 4"/>
          <p:cNvSpPr/>
          <p:nvPr/>
        </p:nvSpPr>
        <p:spPr>
          <a:xfrm>
            <a:off x="365760" y="1280160"/>
            <a:ext cx="502920" cy="621792"/>
          </a:xfrm>
          <a:prstGeom prst="rect">
            <a:avLst/>
          </a:prstGeom>
          <a:solidFill>
            <a:srgbClr val="00D4FF"/>
          </a:solidFill>
          <a:ln w="12700">
            <a:solidFill>
              <a:srgbClr val="00D4FF"/>
            </a:solidFill>
            <a:prstDash val="solid"/>
          </a:ln>
        </p:spPr>
        <p:txBody>
          <a:bodyPr/>
          <a:lstStyle/>
          <a:p>
            <a:endParaRPr lang="en-US"/>
          </a:p>
        </p:txBody>
      </p:sp>
      <p:sp>
        <p:nvSpPr>
          <p:cNvPr id="7" name="Text 5"/>
          <p:cNvSpPr/>
          <p:nvPr/>
        </p:nvSpPr>
        <p:spPr>
          <a:xfrm>
            <a:off x="365760" y="1417320"/>
            <a:ext cx="502920" cy="320040"/>
          </a:xfrm>
          <a:prstGeom prst="rect">
            <a:avLst/>
          </a:prstGeom>
          <a:noFill/>
          <a:ln/>
        </p:spPr>
        <p:txBody>
          <a:bodyPr wrap="square" rtlCol="0" anchor="ctr"/>
          <a:lstStyle/>
          <a:p>
            <a:pPr marL="0" indent="0" algn="ctr">
              <a:buNone/>
            </a:pPr>
            <a:r>
              <a:rPr lang="en-US" sz="1500" b="1" dirty="0">
                <a:solidFill>
                  <a:srgbClr val="0A0E1A"/>
                </a:solidFill>
                <a:latin typeface="Calibri" pitchFamily="34" charset="0"/>
                <a:ea typeface="Calibri" pitchFamily="34" charset="-122"/>
                <a:cs typeface="Calibri" pitchFamily="34" charset="-120"/>
              </a:rPr>
              <a:t>01</a:t>
            </a:r>
            <a:endParaRPr lang="en-US" sz="1500" dirty="0"/>
          </a:p>
        </p:txBody>
      </p:sp>
      <p:sp>
        <p:nvSpPr>
          <p:cNvPr id="8" name="Text 6"/>
          <p:cNvSpPr/>
          <p:nvPr/>
        </p:nvSpPr>
        <p:spPr>
          <a:xfrm>
            <a:off x="960120" y="1435608"/>
            <a:ext cx="338328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Motivation &amp; Problem</a:t>
            </a:r>
            <a:endParaRPr lang="en-US" sz="1300" dirty="0"/>
          </a:p>
        </p:txBody>
      </p:sp>
      <p:sp>
        <p:nvSpPr>
          <p:cNvPr id="9" name="Shape 7"/>
          <p:cNvSpPr/>
          <p:nvPr/>
        </p:nvSpPr>
        <p:spPr>
          <a:xfrm>
            <a:off x="365760" y="2029968"/>
            <a:ext cx="4114800" cy="6217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0" name="Shape 8"/>
          <p:cNvSpPr/>
          <p:nvPr/>
        </p:nvSpPr>
        <p:spPr>
          <a:xfrm>
            <a:off x="365760" y="2029968"/>
            <a:ext cx="502920" cy="621792"/>
          </a:xfrm>
          <a:prstGeom prst="rect">
            <a:avLst/>
          </a:prstGeom>
          <a:solidFill>
            <a:srgbClr val="10B981"/>
          </a:solidFill>
          <a:ln w="12700">
            <a:solidFill>
              <a:srgbClr val="10B981"/>
            </a:solidFill>
            <a:prstDash val="solid"/>
          </a:ln>
        </p:spPr>
        <p:txBody>
          <a:bodyPr/>
          <a:lstStyle/>
          <a:p>
            <a:endParaRPr lang="en-US"/>
          </a:p>
        </p:txBody>
      </p:sp>
      <p:sp>
        <p:nvSpPr>
          <p:cNvPr id="11" name="Text 9"/>
          <p:cNvSpPr/>
          <p:nvPr/>
        </p:nvSpPr>
        <p:spPr>
          <a:xfrm>
            <a:off x="365760" y="2167128"/>
            <a:ext cx="502920" cy="320040"/>
          </a:xfrm>
          <a:prstGeom prst="rect">
            <a:avLst/>
          </a:prstGeom>
          <a:noFill/>
          <a:ln/>
        </p:spPr>
        <p:txBody>
          <a:bodyPr wrap="square" rtlCol="0" anchor="ctr"/>
          <a:lstStyle/>
          <a:p>
            <a:pPr marL="0" indent="0" algn="ctr">
              <a:buNone/>
            </a:pPr>
            <a:r>
              <a:rPr lang="en-US" sz="1500" b="1" dirty="0">
                <a:solidFill>
                  <a:srgbClr val="0A0E1A"/>
                </a:solidFill>
                <a:latin typeface="Calibri" pitchFamily="34" charset="0"/>
                <a:ea typeface="Calibri" pitchFamily="34" charset="-122"/>
                <a:cs typeface="Calibri" pitchFamily="34" charset="-120"/>
              </a:rPr>
              <a:t>02</a:t>
            </a:r>
            <a:endParaRPr lang="en-US" sz="1500" dirty="0"/>
          </a:p>
        </p:txBody>
      </p:sp>
      <p:sp>
        <p:nvSpPr>
          <p:cNvPr id="12" name="Text 10"/>
          <p:cNvSpPr/>
          <p:nvPr/>
        </p:nvSpPr>
        <p:spPr>
          <a:xfrm>
            <a:off x="960120" y="2185416"/>
            <a:ext cx="338328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Related Work</a:t>
            </a:r>
            <a:endParaRPr lang="en-US" sz="1300" dirty="0"/>
          </a:p>
        </p:txBody>
      </p:sp>
      <p:sp>
        <p:nvSpPr>
          <p:cNvPr id="13" name="Shape 11"/>
          <p:cNvSpPr/>
          <p:nvPr/>
        </p:nvSpPr>
        <p:spPr>
          <a:xfrm>
            <a:off x="365760" y="2779776"/>
            <a:ext cx="4114800" cy="6217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4" name="Shape 12"/>
          <p:cNvSpPr/>
          <p:nvPr/>
        </p:nvSpPr>
        <p:spPr>
          <a:xfrm>
            <a:off x="365760" y="2779776"/>
            <a:ext cx="502920" cy="621792"/>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365760" y="2916936"/>
            <a:ext cx="502920" cy="320040"/>
          </a:xfrm>
          <a:prstGeom prst="rect">
            <a:avLst/>
          </a:prstGeom>
          <a:noFill/>
          <a:ln/>
        </p:spPr>
        <p:txBody>
          <a:bodyPr wrap="square" rtlCol="0" anchor="ctr"/>
          <a:lstStyle/>
          <a:p>
            <a:pPr marL="0" indent="0" algn="ctr">
              <a:buNone/>
            </a:pPr>
            <a:r>
              <a:rPr lang="en-US" sz="1500" b="1" dirty="0">
                <a:solidFill>
                  <a:srgbClr val="0A0E1A"/>
                </a:solidFill>
                <a:latin typeface="Calibri" pitchFamily="34" charset="0"/>
                <a:ea typeface="Calibri" pitchFamily="34" charset="-122"/>
                <a:cs typeface="Calibri" pitchFamily="34" charset="-120"/>
              </a:rPr>
              <a:t>03</a:t>
            </a:r>
            <a:endParaRPr lang="en-US" sz="1500" dirty="0"/>
          </a:p>
        </p:txBody>
      </p:sp>
      <p:sp>
        <p:nvSpPr>
          <p:cNvPr id="16" name="Text 14"/>
          <p:cNvSpPr/>
          <p:nvPr/>
        </p:nvSpPr>
        <p:spPr>
          <a:xfrm>
            <a:off x="960120" y="2935224"/>
            <a:ext cx="338328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Dataset</a:t>
            </a:r>
            <a:endParaRPr lang="en-US" sz="1300" dirty="0"/>
          </a:p>
        </p:txBody>
      </p:sp>
      <p:sp>
        <p:nvSpPr>
          <p:cNvPr id="17" name="Shape 15"/>
          <p:cNvSpPr/>
          <p:nvPr/>
        </p:nvSpPr>
        <p:spPr>
          <a:xfrm>
            <a:off x="365760" y="3529584"/>
            <a:ext cx="4114800" cy="6217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8" name="Shape 16"/>
          <p:cNvSpPr/>
          <p:nvPr/>
        </p:nvSpPr>
        <p:spPr>
          <a:xfrm>
            <a:off x="365760" y="3529584"/>
            <a:ext cx="502920" cy="621792"/>
          </a:xfrm>
          <a:prstGeom prst="rect">
            <a:avLst/>
          </a:prstGeom>
          <a:solidFill>
            <a:srgbClr val="7C3AED"/>
          </a:solidFill>
          <a:ln w="12700">
            <a:solidFill>
              <a:srgbClr val="7C3AED"/>
            </a:solidFill>
            <a:prstDash val="solid"/>
          </a:ln>
        </p:spPr>
        <p:txBody>
          <a:bodyPr/>
          <a:lstStyle/>
          <a:p>
            <a:endParaRPr lang="en-US"/>
          </a:p>
        </p:txBody>
      </p:sp>
      <p:sp>
        <p:nvSpPr>
          <p:cNvPr id="19" name="Text 17"/>
          <p:cNvSpPr/>
          <p:nvPr/>
        </p:nvSpPr>
        <p:spPr>
          <a:xfrm>
            <a:off x="365760" y="3666744"/>
            <a:ext cx="502920" cy="320040"/>
          </a:xfrm>
          <a:prstGeom prst="rect">
            <a:avLst/>
          </a:prstGeom>
          <a:noFill/>
          <a:ln/>
        </p:spPr>
        <p:txBody>
          <a:bodyPr wrap="square" rtlCol="0" anchor="ctr"/>
          <a:lstStyle/>
          <a:p>
            <a:pPr marL="0" indent="0" algn="ctr">
              <a:buNone/>
            </a:pPr>
            <a:r>
              <a:rPr lang="en-US" sz="1500" b="1" dirty="0">
                <a:solidFill>
                  <a:srgbClr val="0A0E1A"/>
                </a:solidFill>
                <a:latin typeface="Calibri" pitchFamily="34" charset="0"/>
                <a:ea typeface="Calibri" pitchFamily="34" charset="-122"/>
                <a:cs typeface="Calibri" pitchFamily="34" charset="-120"/>
              </a:rPr>
              <a:t>04</a:t>
            </a:r>
            <a:endParaRPr lang="en-US" sz="1500" dirty="0"/>
          </a:p>
        </p:txBody>
      </p:sp>
      <p:sp>
        <p:nvSpPr>
          <p:cNvPr id="20" name="Text 18"/>
          <p:cNvSpPr/>
          <p:nvPr/>
        </p:nvSpPr>
        <p:spPr>
          <a:xfrm>
            <a:off x="960120" y="3685032"/>
            <a:ext cx="338328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Feature Extraction</a:t>
            </a:r>
            <a:endParaRPr lang="en-US" sz="1300" dirty="0"/>
          </a:p>
        </p:txBody>
      </p:sp>
      <p:sp>
        <p:nvSpPr>
          <p:cNvPr id="21" name="Shape 19"/>
          <p:cNvSpPr/>
          <p:nvPr/>
        </p:nvSpPr>
        <p:spPr>
          <a:xfrm>
            <a:off x="365760" y="4279392"/>
            <a:ext cx="4114800" cy="6217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2" name="Shape 20"/>
          <p:cNvSpPr/>
          <p:nvPr/>
        </p:nvSpPr>
        <p:spPr>
          <a:xfrm>
            <a:off x="365760" y="4279392"/>
            <a:ext cx="502920" cy="621792"/>
          </a:xfrm>
          <a:prstGeom prst="rect">
            <a:avLst/>
          </a:prstGeom>
          <a:solidFill>
            <a:srgbClr val="00D4FF"/>
          </a:solidFill>
          <a:ln w="12700">
            <a:solidFill>
              <a:srgbClr val="00D4FF"/>
            </a:solidFill>
            <a:prstDash val="solid"/>
          </a:ln>
        </p:spPr>
        <p:txBody>
          <a:bodyPr/>
          <a:lstStyle/>
          <a:p>
            <a:endParaRPr lang="en-US"/>
          </a:p>
        </p:txBody>
      </p:sp>
      <p:sp>
        <p:nvSpPr>
          <p:cNvPr id="23" name="Text 21"/>
          <p:cNvSpPr/>
          <p:nvPr/>
        </p:nvSpPr>
        <p:spPr>
          <a:xfrm>
            <a:off x="365760" y="4416552"/>
            <a:ext cx="502920" cy="320040"/>
          </a:xfrm>
          <a:prstGeom prst="rect">
            <a:avLst/>
          </a:prstGeom>
          <a:noFill/>
          <a:ln/>
        </p:spPr>
        <p:txBody>
          <a:bodyPr wrap="square" rtlCol="0" anchor="ctr"/>
          <a:lstStyle/>
          <a:p>
            <a:pPr marL="0" indent="0" algn="ctr">
              <a:buNone/>
            </a:pPr>
            <a:r>
              <a:rPr lang="en-US" sz="1500" b="1" dirty="0">
                <a:solidFill>
                  <a:srgbClr val="0A0E1A"/>
                </a:solidFill>
                <a:latin typeface="Calibri" pitchFamily="34" charset="0"/>
                <a:ea typeface="Calibri" pitchFamily="34" charset="-122"/>
                <a:cs typeface="Calibri" pitchFamily="34" charset="-120"/>
              </a:rPr>
              <a:t>05</a:t>
            </a:r>
            <a:endParaRPr lang="en-US" sz="1500" dirty="0"/>
          </a:p>
        </p:txBody>
      </p:sp>
      <p:sp>
        <p:nvSpPr>
          <p:cNvPr id="24" name="Text 22"/>
          <p:cNvSpPr/>
          <p:nvPr/>
        </p:nvSpPr>
        <p:spPr>
          <a:xfrm>
            <a:off x="960120" y="4434840"/>
            <a:ext cx="338328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Models &amp; Evaluation</a:t>
            </a:r>
            <a:endParaRPr lang="en-US" sz="1300" dirty="0"/>
          </a:p>
        </p:txBody>
      </p:sp>
      <p:sp>
        <p:nvSpPr>
          <p:cNvPr id="25" name="Shape 23"/>
          <p:cNvSpPr/>
          <p:nvPr/>
        </p:nvSpPr>
        <p:spPr>
          <a:xfrm>
            <a:off x="4754880" y="1280160"/>
            <a:ext cx="4114800" cy="6217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6" name="Shape 24"/>
          <p:cNvSpPr/>
          <p:nvPr/>
        </p:nvSpPr>
        <p:spPr>
          <a:xfrm>
            <a:off x="4754880" y="1280160"/>
            <a:ext cx="502920" cy="621792"/>
          </a:xfrm>
          <a:prstGeom prst="rect">
            <a:avLst/>
          </a:prstGeom>
          <a:solidFill>
            <a:srgbClr val="EF4444"/>
          </a:solidFill>
          <a:ln w="12700">
            <a:solidFill>
              <a:srgbClr val="EF4444"/>
            </a:solidFill>
            <a:prstDash val="solid"/>
          </a:ln>
        </p:spPr>
        <p:txBody>
          <a:bodyPr/>
          <a:lstStyle/>
          <a:p>
            <a:endParaRPr lang="en-US"/>
          </a:p>
        </p:txBody>
      </p:sp>
      <p:sp>
        <p:nvSpPr>
          <p:cNvPr id="27" name="Text 25"/>
          <p:cNvSpPr/>
          <p:nvPr/>
        </p:nvSpPr>
        <p:spPr>
          <a:xfrm>
            <a:off x="4754880" y="1417320"/>
            <a:ext cx="502920" cy="320040"/>
          </a:xfrm>
          <a:prstGeom prst="rect">
            <a:avLst/>
          </a:prstGeom>
          <a:noFill/>
          <a:ln/>
        </p:spPr>
        <p:txBody>
          <a:bodyPr wrap="square" rtlCol="0" anchor="ctr"/>
          <a:lstStyle/>
          <a:p>
            <a:pPr marL="0" indent="0" algn="ctr">
              <a:buNone/>
            </a:pPr>
            <a:r>
              <a:rPr lang="en-US" sz="1500" b="1" dirty="0">
                <a:solidFill>
                  <a:srgbClr val="0A0E1A"/>
                </a:solidFill>
                <a:latin typeface="Calibri" pitchFamily="34" charset="0"/>
                <a:ea typeface="Calibri" pitchFamily="34" charset="-122"/>
                <a:cs typeface="Calibri" pitchFamily="34" charset="-120"/>
              </a:rPr>
              <a:t>06</a:t>
            </a:r>
            <a:endParaRPr lang="en-US" sz="1500" dirty="0"/>
          </a:p>
        </p:txBody>
      </p:sp>
      <p:sp>
        <p:nvSpPr>
          <p:cNvPr id="28" name="Text 26"/>
          <p:cNvSpPr/>
          <p:nvPr/>
        </p:nvSpPr>
        <p:spPr>
          <a:xfrm>
            <a:off x="5349240" y="1435608"/>
            <a:ext cx="338328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Results</a:t>
            </a:r>
            <a:endParaRPr lang="en-US" sz="1300" dirty="0"/>
          </a:p>
        </p:txBody>
      </p:sp>
      <p:sp>
        <p:nvSpPr>
          <p:cNvPr id="29" name="Shape 27"/>
          <p:cNvSpPr/>
          <p:nvPr/>
        </p:nvSpPr>
        <p:spPr>
          <a:xfrm>
            <a:off x="4754880" y="2029968"/>
            <a:ext cx="4114800" cy="6217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0" name="Shape 28"/>
          <p:cNvSpPr/>
          <p:nvPr/>
        </p:nvSpPr>
        <p:spPr>
          <a:xfrm>
            <a:off x="4754880" y="2029968"/>
            <a:ext cx="502920" cy="621792"/>
          </a:xfrm>
          <a:prstGeom prst="rect">
            <a:avLst/>
          </a:prstGeom>
          <a:solidFill>
            <a:srgbClr val="10B981"/>
          </a:solidFill>
          <a:ln w="12700">
            <a:solidFill>
              <a:srgbClr val="10B981"/>
            </a:solidFill>
            <a:prstDash val="solid"/>
          </a:ln>
        </p:spPr>
        <p:txBody>
          <a:bodyPr/>
          <a:lstStyle/>
          <a:p>
            <a:endParaRPr lang="en-US"/>
          </a:p>
        </p:txBody>
      </p:sp>
      <p:sp>
        <p:nvSpPr>
          <p:cNvPr id="31" name="Text 29"/>
          <p:cNvSpPr/>
          <p:nvPr/>
        </p:nvSpPr>
        <p:spPr>
          <a:xfrm>
            <a:off x="4754880" y="2167128"/>
            <a:ext cx="502920" cy="320040"/>
          </a:xfrm>
          <a:prstGeom prst="rect">
            <a:avLst/>
          </a:prstGeom>
          <a:noFill/>
          <a:ln/>
        </p:spPr>
        <p:txBody>
          <a:bodyPr wrap="square" rtlCol="0" anchor="ctr"/>
          <a:lstStyle/>
          <a:p>
            <a:pPr marL="0" indent="0" algn="ctr">
              <a:buNone/>
            </a:pPr>
            <a:r>
              <a:rPr lang="en-US" sz="1500" b="1" dirty="0">
                <a:solidFill>
                  <a:srgbClr val="0A0E1A"/>
                </a:solidFill>
                <a:latin typeface="Calibri" pitchFamily="34" charset="0"/>
                <a:ea typeface="Calibri" pitchFamily="34" charset="-122"/>
                <a:cs typeface="Calibri" pitchFamily="34" charset="-120"/>
              </a:rPr>
              <a:t>07</a:t>
            </a:r>
            <a:endParaRPr lang="en-US" sz="1500" dirty="0"/>
          </a:p>
        </p:txBody>
      </p:sp>
      <p:sp>
        <p:nvSpPr>
          <p:cNvPr id="32" name="Text 30"/>
          <p:cNvSpPr/>
          <p:nvPr/>
        </p:nvSpPr>
        <p:spPr>
          <a:xfrm>
            <a:off x="5349240" y="2185416"/>
            <a:ext cx="338328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Key Findings &amp; Analysis</a:t>
            </a:r>
            <a:endParaRPr lang="en-US" sz="1300" dirty="0"/>
          </a:p>
        </p:txBody>
      </p:sp>
      <p:sp>
        <p:nvSpPr>
          <p:cNvPr id="33" name="Shape 31"/>
          <p:cNvSpPr/>
          <p:nvPr/>
        </p:nvSpPr>
        <p:spPr>
          <a:xfrm>
            <a:off x="4754880" y="2779776"/>
            <a:ext cx="4114800" cy="6217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4" name="Shape 32"/>
          <p:cNvSpPr/>
          <p:nvPr/>
        </p:nvSpPr>
        <p:spPr>
          <a:xfrm>
            <a:off x="4754880" y="2779776"/>
            <a:ext cx="502920" cy="621792"/>
          </a:xfrm>
          <a:prstGeom prst="rect">
            <a:avLst/>
          </a:prstGeom>
          <a:solidFill>
            <a:srgbClr val="00D4FF"/>
          </a:solidFill>
          <a:ln w="12700">
            <a:solidFill>
              <a:srgbClr val="00D4FF"/>
            </a:solidFill>
            <a:prstDash val="solid"/>
          </a:ln>
        </p:spPr>
        <p:txBody>
          <a:bodyPr/>
          <a:lstStyle/>
          <a:p>
            <a:endParaRPr lang="en-US"/>
          </a:p>
        </p:txBody>
      </p:sp>
      <p:sp>
        <p:nvSpPr>
          <p:cNvPr id="35" name="Text 33"/>
          <p:cNvSpPr/>
          <p:nvPr/>
        </p:nvSpPr>
        <p:spPr>
          <a:xfrm>
            <a:off x="4754880" y="2916936"/>
            <a:ext cx="502920" cy="320040"/>
          </a:xfrm>
          <a:prstGeom prst="rect">
            <a:avLst/>
          </a:prstGeom>
          <a:noFill/>
          <a:ln/>
        </p:spPr>
        <p:txBody>
          <a:bodyPr wrap="square" rtlCol="0" anchor="ctr"/>
          <a:lstStyle/>
          <a:p>
            <a:pPr marL="0" indent="0" algn="ctr">
              <a:buNone/>
            </a:pPr>
            <a:r>
              <a:rPr lang="en-US" sz="1500" b="1" dirty="0">
                <a:solidFill>
                  <a:srgbClr val="0A0E1A"/>
                </a:solidFill>
                <a:latin typeface="Calibri" pitchFamily="34" charset="0"/>
                <a:ea typeface="Calibri" pitchFamily="34" charset="-122"/>
                <a:cs typeface="Calibri" pitchFamily="34" charset="-120"/>
              </a:rPr>
              <a:t>08</a:t>
            </a:r>
            <a:endParaRPr lang="en-US" sz="1500" dirty="0"/>
          </a:p>
        </p:txBody>
      </p:sp>
      <p:sp>
        <p:nvSpPr>
          <p:cNvPr id="36" name="Text 34"/>
          <p:cNvSpPr/>
          <p:nvPr/>
        </p:nvSpPr>
        <p:spPr>
          <a:xfrm>
            <a:off x="5349240" y="2935224"/>
            <a:ext cx="338328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Live Demo</a:t>
            </a:r>
            <a:endParaRPr lang="en-US" sz="1300" dirty="0"/>
          </a:p>
        </p:txBody>
      </p:sp>
      <p:sp>
        <p:nvSpPr>
          <p:cNvPr id="37" name="Shape 35"/>
          <p:cNvSpPr/>
          <p:nvPr/>
        </p:nvSpPr>
        <p:spPr>
          <a:xfrm>
            <a:off x="4754880" y="3529584"/>
            <a:ext cx="4114800" cy="6217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8" name="Shape 36"/>
          <p:cNvSpPr/>
          <p:nvPr/>
        </p:nvSpPr>
        <p:spPr>
          <a:xfrm>
            <a:off x="4754880" y="3529584"/>
            <a:ext cx="502920" cy="621792"/>
          </a:xfrm>
          <a:prstGeom prst="rect">
            <a:avLst/>
          </a:prstGeom>
          <a:solidFill>
            <a:srgbClr val="94A3B8"/>
          </a:solidFill>
          <a:ln w="12700">
            <a:solidFill>
              <a:srgbClr val="94A3B8"/>
            </a:solidFill>
            <a:prstDash val="solid"/>
          </a:ln>
        </p:spPr>
        <p:txBody>
          <a:bodyPr/>
          <a:lstStyle/>
          <a:p>
            <a:endParaRPr lang="en-US"/>
          </a:p>
        </p:txBody>
      </p:sp>
      <p:sp>
        <p:nvSpPr>
          <p:cNvPr id="39" name="Text 37"/>
          <p:cNvSpPr/>
          <p:nvPr/>
        </p:nvSpPr>
        <p:spPr>
          <a:xfrm>
            <a:off x="4754880" y="3666744"/>
            <a:ext cx="502920" cy="320040"/>
          </a:xfrm>
          <a:prstGeom prst="rect">
            <a:avLst/>
          </a:prstGeom>
          <a:noFill/>
          <a:ln/>
        </p:spPr>
        <p:txBody>
          <a:bodyPr wrap="square" rtlCol="0" anchor="ctr"/>
          <a:lstStyle/>
          <a:p>
            <a:pPr marL="0" indent="0" algn="ctr">
              <a:buNone/>
            </a:pPr>
            <a:r>
              <a:rPr lang="en-US" sz="1500" b="1" dirty="0">
                <a:solidFill>
                  <a:srgbClr val="0A0E1A"/>
                </a:solidFill>
                <a:latin typeface="Calibri" pitchFamily="34" charset="0"/>
                <a:ea typeface="Calibri" pitchFamily="34" charset="-122"/>
                <a:cs typeface="Calibri" pitchFamily="34" charset="-120"/>
              </a:rPr>
              <a:t>09</a:t>
            </a:r>
            <a:endParaRPr lang="en-US" sz="1500" dirty="0"/>
          </a:p>
        </p:txBody>
      </p:sp>
      <p:sp>
        <p:nvSpPr>
          <p:cNvPr id="40" name="Text 38"/>
          <p:cNvSpPr/>
          <p:nvPr/>
        </p:nvSpPr>
        <p:spPr>
          <a:xfrm>
            <a:off x="5349240" y="3685032"/>
            <a:ext cx="338328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Conclusions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Motivation</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Why does cross-model generalization matter?</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 / 24</a:t>
            </a:r>
            <a:endParaRPr lang="en-US" sz="900" dirty="0"/>
          </a:p>
        </p:txBody>
      </p:sp>
      <p:sp>
        <p:nvSpPr>
          <p:cNvPr id="6" name="Shape 4"/>
          <p:cNvSpPr/>
          <p:nvPr/>
        </p:nvSpPr>
        <p:spPr>
          <a:xfrm>
            <a:off x="365760" y="1280160"/>
            <a:ext cx="8412480" cy="91440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Text 5"/>
          <p:cNvSpPr/>
          <p:nvPr/>
        </p:nvSpPr>
        <p:spPr>
          <a:xfrm>
            <a:off x="594360" y="1353312"/>
            <a:ext cx="7772400" cy="320040"/>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The Core Problem</a:t>
            </a:r>
            <a:endParaRPr lang="en-US" sz="1400" dirty="0"/>
          </a:p>
        </p:txBody>
      </p:sp>
      <p:sp>
        <p:nvSpPr>
          <p:cNvPr id="8" name="Text 6"/>
          <p:cNvSpPr/>
          <p:nvPr/>
        </p:nvSpPr>
        <p:spPr>
          <a:xfrm>
            <a:off x="594360" y="1645920"/>
            <a:ext cx="777240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Most AI detectors are trained and tested on the same model distribution. In the real world, users can choose from dozens of AI models — so detectors need to generalize.</a:t>
            </a:r>
            <a:endParaRPr lang="en-US" sz="1250" dirty="0"/>
          </a:p>
        </p:txBody>
      </p:sp>
      <p:sp>
        <p:nvSpPr>
          <p:cNvPr id="9" name="Shape 7"/>
          <p:cNvSpPr/>
          <p:nvPr/>
        </p:nvSpPr>
        <p:spPr>
          <a:xfrm>
            <a:off x="365760" y="2377440"/>
            <a:ext cx="1920240" cy="137160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0" name="Shape 8"/>
          <p:cNvSpPr/>
          <p:nvPr/>
        </p:nvSpPr>
        <p:spPr>
          <a:xfrm>
            <a:off x="365760" y="2377440"/>
            <a:ext cx="1920240" cy="54864"/>
          </a:xfrm>
          <a:prstGeom prst="rect">
            <a:avLst/>
          </a:prstGeom>
          <a:solidFill>
            <a:srgbClr val="EF4444"/>
          </a:solidFill>
          <a:ln w="12700">
            <a:solidFill>
              <a:srgbClr val="EF4444"/>
            </a:solidFill>
            <a:prstDash val="solid"/>
          </a:ln>
        </p:spPr>
        <p:txBody>
          <a:bodyPr/>
          <a:lstStyle/>
          <a:p>
            <a:endParaRPr lang="en-US"/>
          </a:p>
        </p:txBody>
      </p:sp>
      <p:sp>
        <p:nvSpPr>
          <p:cNvPr id="11" name="Text 9"/>
          <p:cNvSpPr/>
          <p:nvPr/>
        </p:nvSpPr>
        <p:spPr>
          <a:xfrm>
            <a:off x="365760" y="2468880"/>
            <a:ext cx="1920240" cy="502920"/>
          </a:xfrm>
          <a:prstGeom prst="rect">
            <a:avLst/>
          </a:prstGeom>
          <a:noFill/>
          <a:ln/>
        </p:spPr>
        <p:txBody>
          <a:bodyPr wrap="square"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365760" y="2971800"/>
            <a:ext cx="1920240" cy="64008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Detectors fail on</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new AI models</a:t>
            </a:r>
            <a:endParaRPr lang="en-US" sz="1150" dirty="0"/>
          </a:p>
        </p:txBody>
      </p:sp>
      <p:sp>
        <p:nvSpPr>
          <p:cNvPr id="13" name="Shape 11"/>
          <p:cNvSpPr/>
          <p:nvPr/>
        </p:nvSpPr>
        <p:spPr>
          <a:xfrm>
            <a:off x="2514600" y="2377440"/>
            <a:ext cx="1920240" cy="137160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4" name="Shape 12"/>
          <p:cNvSpPr/>
          <p:nvPr/>
        </p:nvSpPr>
        <p:spPr>
          <a:xfrm>
            <a:off x="2514600" y="2377440"/>
            <a:ext cx="1920240" cy="54864"/>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2514600" y="2468880"/>
            <a:ext cx="1920240" cy="502920"/>
          </a:xfrm>
          <a:prstGeom prst="rect">
            <a:avLst/>
          </a:prstGeom>
          <a:noFill/>
          <a:ln/>
        </p:spPr>
        <p:txBody>
          <a:bodyPr wrap="square"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6" name="Text 14"/>
          <p:cNvSpPr/>
          <p:nvPr/>
        </p:nvSpPr>
        <p:spPr>
          <a:xfrm>
            <a:off x="2514600" y="2971800"/>
            <a:ext cx="1920240" cy="64008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No systematic cross-LLM</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generalization study</a:t>
            </a:r>
            <a:endParaRPr lang="en-US" sz="1150" dirty="0"/>
          </a:p>
        </p:txBody>
      </p:sp>
      <p:sp>
        <p:nvSpPr>
          <p:cNvPr id="17" name="Shape 15"/>
          <p:cNvSpPr/>
          <p:nvPr/>
        </p:nvSpPr>
        <p:spPr>
          <a:xfrm>
            <a:off x="4663440" y="2377440"/>
            <a:ext cx="1920240" cy="137160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8" name="Shape 16"/>
          <p:cNvSpPr/>
          <p:nvPr/>
        </p:nvSpPr>
        <p:spPr>
          <a:xfrm>
            <a:off x="4663440" y="2377440"/>
            <a:ext cx="1920240" cy="54864"/>
          </a:xfrm>
          <a:prstGeom prst="rect">
            <a:avLst/>
          </a:prstGeom>
          <a:solidFill>
            <a:srgbClr val="00D4FF"/>
          </a:solidFill>
          <a:ln w="12700">
            <a:solidFill>
              <a:srgbClr val="00D4FF"/>
            </a:solidFill>
            <a:prstDash val="solid"/>
          </a:ln>
        </p:spPr>
        <p:txBody>
          <a:bodyPr/>
          <a:lstStyle/>
          <a:p>
            <a:endParaRPr lang="en-US"/>
          </a:p>
        </p:txBody>
      </p:sp>
      <p:sp>
        <p:nvSpPr>
          <p:cNvPr id="19" name="Text 17"/>
          <p:cNvSpPr/>
          <p:nvPr/>
        </p:nvSpPr>
        <p:spPr>
          <a:xfrm>
            <a:off x="4663440" y="2468880"/>
            <a:ext cx="1920240" cy="502920"/>
          </a:xfrm>
          <a:prstGeom prst="rect">
            <a:avLst/>
          </a:prstGeom>
          <a:noFill/>
          <a:ln/>
        </p:spPr>
        <p:txBody>
          <a:bodyPr wrap="square"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0" name="Text 18"/>
          <p:cNvSpPr/>
          <p:nvPr/>
        </p:nvSpPr>
        <p:spPr>
          <a:xfrm>
            <a:off x="4663440" y="2971800"/>
            <a:ext cx="1920240" cy="64008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Which features actually</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transfer across models?</a:t>
            </a:r>
            <a:endParaRPr lang="en-US" sz="1150" dirty="0"/>
          </a:p>
        </p:txBody>
      </p:sp>
      <p:sp>
        <p:nvSpPr>
          <p:cNvPr id="21" name="Shape 19"/>
          <p:cNvSpPr/>
          <p:nvPr/>
        </p:nvSpPr>
        <p:spPr>
          <a:xfrm>
            <a:off x="6812280" y="2377440"/>
            <a:ext cx="1920240" cy="137160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2" name="Shape 20"/>
          <p:cNvSpPr/>
          <p:nvPr/>
        </p:nvSpPr>
        <p:spPr>
          <a:xfrm>
            <a:off x="6812280" y="2377440"/>
            <a:ext cx="1920240" cy="54864"/>
          </a:xfrm>
          <a:prstGeom prst="rect">
            <a:avLst/>
          </a:prstGeom>
          <a:solidFill>
            <a:srgbClr val="10B981"/>
          </a:solidFill>
          <a:ln w="12700">
            <a:solidFill>
              <a:srgbClr val="10B981"/>
            </a:solidFill>
            <a:prstDash val="solid"/>
          </a:ln>
        </p:spPr>
        <p:txBody>
          <a:bodyPr/>
          <a:lstStyle/>
          <a:p>
            <a:endParaRPr lang="en-US"/>
          </a:p>
        </p:txBody>
      </p:sp>
      <p:sp>
        <p:nvSpPr>
          <p:cNvPr id="23" name="Text 21"/>
          <p:cNvSpPr/>
          <p:nvPr/>
        </p:nvSpPr>
        <p:spPr>
          <a:xfrm>
            <a:off x="6812280" y="2468880"/>
            <a:ext cx="1920240" cy="502920"/>
          </a:xfrm>
          <a:prstGeom prst="rect">
            <a:avLst/>
          </a:prstGeom>
          <a:noFill/>
          <a:ln/>
        </p:spPr>
        <p:txBody>
          <a:bodyPr wrap="square"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4" name="Text 22"/>
          <p:cNvSpPr/>
          <p:nvPr/>
        </p:nvSpPr>
        <p:spPr>
          <a:xfrm>
            <a:off x="6812280" y="2971800"/>
            <a:ext cx="1920240" cy="64008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Real-world impact:</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academic integrity tools</a:t>
            </a:r>
            <a:endParaRPr lang="en-US" sz="1150" dirty="0"/>
          </a:p>
        </p:txBody>
      </p:sp>
      <p:sp>
        <p:nvSpPr>
          <p:cNvPr id="25" name="Text 23"/>
          <p:cNvSpPr/>
          <p:nvPr/>
        </p:nvSpPr>
        <p:spPr>
          <a:xfrm>
            <a:off x="365760" y="3913632"/>
            <a:ext cx="8412480" cy="457200"/>
          </a:xfrm>
          <a:prstGeom prst="rect">
            <a:avLst/>
          </a:prstGeom>
          <a:noFill/>
          <a:ln/>
        </p:spPr>
        <p:txBody>
          <a:bodyPr wrap="square" rtlCol="0" anchor="ctr"/>
          <a:lstStyle/>
          <a:p>
            <a:pPr marL="0" indent="0">
              <a:buNone/>
            </a:pPr>
            <a:r>
              <a:rPr lang="en-US" sz="1300" b="1" i="1" dirty="0">
                <a:solidFill>
                  <a:srgbClr val="00D4FF"/>
                </a:solidFill>
                <a:latin typeface="Calibri" pitchFamily="34" charset="0"/>
                <a:ea typeface="Calibri" pitchFamily="34" charset="-122"/>
                <a:cs typeface="Calibri" pitchFamily="34" charset="-120"/>
              </a:rPr>
              <a:t>Research Question: Do hand-crafted linguistic features generalize better than neural detectors trained on specific model outputs?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Related Work</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Building on prior detection approaches</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4 / 24</a:t>
            </a:r>
            <a:endParaRPr lang="en-US" sz="900" dirty="0"/>
          </a:p>
        </p:txBody>
      </p:sp>
      <p:sp>
        <p:nvSpPr>
          <p:cNvPr id="6" name="Shape 4"/>
          <p:cNvSpPr/>
          <p:nvPr/>
        </p:nvSpPr>
        <p:spPr>
          <a:xfrm>
            <a:off x="365760" y="1280160"/>
            <a:ext cx="4114800" cy="7498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65760" y="1280160"/>
            <a:ext cx="54864" cy="749808"/>
          </a:xfrm>
          <a:prstGeom prst="rect">
            <a:avLst/>
          </a:prstGeom>
          <a:solidFill>
            <a:srgbClr val="94A3B8"/>
          </a:solidFill>
          <a:ln w="12700">
            <a:solidFill>
              <a:srgbClr val="94A3B8"/>
            </a:solidFill>
            <a:prstDash val="solid"/>
          </a:ln>
        </p:spPr>
        <p:txBody>
          <a:bodyPr/>
          <a:lstStyle/>
          <a:p>
            <a:endParaRPr lang="en-US"/>
          </a:p>
        </p:txBody>
      </p:sp>
      <p:sp>
        <p:nvSpPr>
          <p:cNvPr id="8" name="Text 6"/>
          <p:cNvSpPr/>
          <p:nvPr/>
        </p:nvSpPr>
        <p:spPr>
          <a:xfrm>
            <a:off x="502920" y="1325880"/>
            <a:ext cx="3840480" cy="274320"/>
          </a:xfrm>
          <a:prstGeom prst="rect">
            <a:avLst/>
          </a:prstGeom>
          <a:noFill/>
          <a:ln/>
        </p:spPr>
        <p:txBody>
          <a:bodyPr wrap="square"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Gehrmann et al. (2019) — GLTR</a:t>
            </a:r>
            <a:endParaRPr lang="en-US" sz="1100" dirty="0"/>
          </a:p>
        </p:txBody>
      </p:sp>
      <p:sp>
        <p:nvSpPr>
          <p:cNvPr id="9" name="Text 7"/>
          <p:cNvSpPr/>
          <p:nvPr/>
        </p:nvSpPr>
        <p:spPr>
          <a:xfrm>
            <a:off x="502920" y="1627632"/>
            <a:ext cx="3840480" cy="34747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Statistical detection using token probability distributions. Early baseline, not robust to newer models.</a:t>
            </a:r>
            <a:endParaRPr lang="en-US" sz="1000" dirty="0"/>
          </a:p>
        </p:txBody>
      </p:sp>
      <p:sp>
        <p:nvSpPr>
          <p:cNvPr id="10" name="Shape 8"/>
          <p:cNvSpPr/>
          <p:nvPr/>
        </p:nvSpPr>
        <p:spPr>
          <a:xfrm>
            <a:off x="365760" y="2176272"/>
            <a:ext cx="4114800" cy="7498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1" name="Shape 9"/>
          <p:cNvSpPr/>
          <p:nvPr/>
        </p:nvSpPr>
        <p:spPr>
          <a:xfrm>
            <a:off x="365760" y="2176272"/>
            <a:ext cx="54864" cy="749808"/>
          </a:xfrm>
          <a:prstGeom prst="rect">
            <a:avLst/>
          </a:prstGeom>
          <a:solidFill>
            <a:srgbClr val="F59E0B"/>
          </a:solidFill>
          <a:ln w="12700">
            <a:solidFill>
              <a:srgbClr val="F59E0B"/>
            </a:solidFill>
            <a:prstDash val="solid"/>
          </a:ln>
        </p:spPr>
        <p:txBody>
          <a:bodyPr/>
          <a:lstStyle/>
          <a:p>
            <a:endParaRPr lang="en-US"/>
          </a:p>
        </p:txBody>
      </p:sp>
      <p:sp>
        <p:nvSpPr>
          <p:cNvPr id="12" name="Text 10"/>
          <p:cNvSpPr/>
          <p:nvPr/>
        </p:nvSpPr>
        <p:spPr>
          <a:xfrm>
            <a:off x="502920" y="2221992"/>
            <a:ext cx="3840480"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Mitchell et al. (2023) — DetectGPT</a:t>
            </a:r>
            <a:endParaRPr lang="en-US" sz="1100" dirty="0"/>
          </a:p>
        </p:txBody>
      </p:sp>
      <p:sp>
        <p:nvSpPr>
          <p:cNvPr id="13" name="Text 11"/>
          <p:cNvSpPr/>
          <p:nvPr/>
        </p:nvSpPr>
        <p:spPr>
          <a:xfrm>
            <a:off x="502920" y="2523744"/>
            <a:ext cx="3840480" cy="34747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Zero-shot detection using probability curvature. No training needed but model-specific.</a:t>
            </a:r>
            <a:endParaRPr lang="en-US" sz="1000" dirty="0"/>
          </a:p>
        </p:txBody>
      </p:sp>
      <p:sp>
        <p:nvSpPr>
          <p:cNvPr id="14" name="Shape 12"/>
          <p:cNvSpPr/>
          <p:nvPr/>
        </p:nvSpPr>
        <p:spPr>
          <a:xfrm>
            <a:off x="365760" y="3072384"/>
            <a:ext cx="4114800" cy="7498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5" name="Shape 13"/>
          <p:cNvSpPr/>
          <p:nvPr/>
        </p:nvSpPr>
        <p:spPr>
          <a:xfrm>
            <a:off x="365760" y="3072384"/>
            <a:ext cx="54864" cy="749808"/>
          </a:xfrm>
          <a:prstGeom prst="rect">
            <a:avLst/>
          </a:prstGeom>
          <a:solidFill>
            <a:srgbClr val="7C3AED"/>
          </a:solidFill>
          <a:ln w="12700">
            <a:solidFill>
              <a:srgbClr val="7C3AED"/>
            </a:solidFill>
            <a:prstDash val="solid"/>
          </a:ln>
        </p:spPr>
        <p:txBody>
          <a:bodyPr/>
          <a:lstStyle/>
          <a:p>
            <a:endParaRPr lang="en-US"/>
          </a:p>
        </p:txBody>
      </p:sp>
      <p:sp>
        <p:nvSpPr>
          <p:cNvPr id="16" name="Text 14"/>
          <p:cNvSpPr/>
          <p:nvPr/>
        </p:nvSpPr>
        <p:spPr>
          <a:xfrm>
            <a:off x="502920" y="3118104"/>
            <a:ext cx="3840480" cy="274320"/>
          </a:xfrm>
          <a:prstGeom prst="rect">
            <a:avLst/>
          </a:prstGeom>
          <a:noFill/>
          <a:ln/>
        </p:spPr>
        <p:txBody>
          <a:bodyPr wrap="square"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He et al. (2021) — DeBERTa</a:t>
            </a:r>
            <a:endParaRPr lang="en-US" sz="1100" dirty="0"/>
          </a:p>
        </p:txBody>
      </p:sp>
      <p:sp>
        <p:nvSpPr>
          <p:cNvPr id="17" name="Text 15"/>
          <p:cNvSpPr/>
          <p:nvPr/>
        </p:nvSpPr>
        <p:spPr>
          <a:xfrm>
            <a:off x="502920" y="3419856"/>
            <a:ext cx="3840480" cy="34747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Fine-tuned transformer for detection. Strong in-distribution but poor cross-model generalization.</a:t>
            </a:r>
            <a:endParaRPr lang="en-US" sz="1000" dirty="0"/>
          </a:p>
        </p:txBody>
      </p:sp>
      <p:sp>
        <p:nvSpPr>
          <p:cNvPr id="18" name="Shape 16"/>
          <p:cNvSpPr/>
          <p:nvPr/>
        </p:nvSpPr>
        <p:spPr>
          <a:xfrm>
            <a:off x="365760" y="3968496"/>
            <a:ext cx="4114800" cy="7498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9" name="Shape 17"/>
          <p:cNvSpPr/>
          <p:nvPr/>
        </p:nvSpPr>
        <p:spPr>
          <a:xfrm>
            <a:off x="365760" y="3968496"/>
            <a:ext cx="54864" cy="749808"/>
          </a:xfrm>
          <a:prstGeom prst="rect">
            <a:avLst/>
          </a:prstGeom>
          <a:solidFill>
            <a:srgbClr val="10B981"/>
          </a:solidFill>
          <a:ln w="12700">
            <a:solidFill>
              <a:srgbClr val="10B981"/>
            </a:solidFill>
            <a:prstDash val="solid"/>
          </a:ln>
        </p:spPr>
        <p:txBody>
          <a:bodyPr/>
          <a:lstStyle/>
          <a:p>
            <a:endParaRPr lang="en-US"/>
          </a:p>
        </p:txBody>
      </p:sp>
      <p:sp>
        <p:nvSpPr>
          <p:cNvPr id="20" name="Text 18"/>
          <p:cNvSpPr/>
          <p:nvPr/>
        </p:nvSpPr>
        <p:spPr>
          <a:xfrm>
            <a:off x="502920" y="4014216"/>
            <a:ext cx="3840480" cy="27432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Desaire et al. (2023)</a:t>
            </a:r>
            <a:endParaRPr lang="en-US" sz="1100" dirty="0"/>
          </a:p>
        </p:txBody>
      </p:sp>
      <p:sp>
        <p:nvSpPr>
          <p:cNvPr id="21" name="Text 19"/>
          <p:cNvSpPr/>
          <p:nvPr/>
        </p:nvSpPr>
        <p:spPr>
          <a:xfrm>
            <a:off x="502920" y="4315968"/>
            <a:ext cx="3840480" cy="34747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99% accuracy distinguishing ChatGPT vs academics using classical ML — supports feature-based approach.</a:t>
            </a:r>
            <a:endParaRPr lang="en-US" sz="1000" dirty="0"/>
          </a:p>
        </p:txBody>
      </p:sp>
      <p:sp>
        <p:nvSpPr>
          <p:cNvPr id="22" name="Shape 20"/>
          <p:cNvSpPr/>
          <p:nvPr/>
        </p:nvSpPr>
        <p:spPr>
          <a:xfrm>
            <a:off x="4663440" y="1280160"/>
            <a:ext cx="4114800" cy="7498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3" name="Shape 21"/>
          <p:cNvSpPr/>
          <p:nvPr/>
        </p:nvSpPr>
        <p:spPr>
          <a:xfrm>
            <a:off x="4663440" y="1280160"/>
            <a:ext cx="54864" cy="749808"/>
          </a:xfrm>
          <a:prstGeom prst="rect">
            <a:avLst/>
          </a:prstGeom>
          <a:solidFill>
            <a:srgbClr val="F59E0B"/>
          </a:solidFill>
          <a:ln w="12700">
            <a:solidFill>
              <a:srgbClr val="F59E0B"/>
            </a:solidFill>
            <a:prstDash val="solid"/>
          </a:ln>
        </p:spPr>
        <p:txBody>
          <a:bodyPr/>
          <a:lstStyle/>
          <a:p>
            <a:endParaRPr lang="en-US"/>
          </a:p>
        </p:txBody>
      </p:sp>
      <p:sp>
        <p:nvSpPr>
          <p:cNvPr id="24" name="Text 22"/>
          <p:cNvSpPr/>
          <p:nvPr/>
        </p:nvSpPr>
        <p:spPr>
          <a:xfrm>
            <a:off x="4800600" y="1325880"/>
            <a:ext cx="3840480"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Li et al. (2023) — Deepfake Text</a:t>
            </a:r>
            <a:endParaRPr lang="en-US" sz="1100" dirty="0"/>
          </a:p>
        </p:txBody>
      </p:sp>
      <p:sp>
        <p:nvSpPr>
          <p:cNvPr id="25" name="Text 23"/>
          <p:cNvSpPr/>
          <p:nvPr/>
        </p:nvSpPr>
        <p:spPr>
          <a:xfrm>
            <a:off x="4800600" y="1627632"/>
            <a:ext cx="3840480" cy="34747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Cross-domain detection study. Highlights distribution shift as the core challenge.</a:t>
            </a:r>
            <a:endParaRPr lang="en-US" sz="1000" dirty="0"/>
          </a:p>
        </p:txBody>
      </p:sp>
      <p:sp>
        <p:nvSpPr>
          <p:cNvPr id="26" name="Shape 24"/>
          <p:cNvSpPr/>
          <p:nvPr/>
        </p:nvSpPr>
        <p:spPr>
          <a:xfrm>
            <a:off x="4663440" y="2176272"/>
            <a:ext cx="4114800" cy="7498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7" name="Shape 25"/>
          <p:cNvSpPr/>
          <p:nvPr/>
        </p:nvSpPr>
        <p:spPr>
          <a:xfrm>
            <a:off x="4663440" y="2176272"/>
            <a:ext cx="54864" cy="749808"/>
          </a:xfrm>
          <a:prstGeom prst="rect">
            <a:avLst/>
          </a:prstGeom>
          <a:solidFill>
            <a:srgbClr val="00D4FF"/>
          </a:solidFill>
          <a:ln w="12700">
            <a:solidFill>
              <a:srgbClr val="00D4FF"/>
            </a:solidFill>
            <a:prstDash val="solid"/>
          </a:ln>
        </p:spPr>
        <p:txBody>
          <a:bodyPr/>
          <a:lstStyle/>
          <a:p>
            <a:endParaRPr lang="en-US"/>
          </a:p>
        </p:txBody>
      </p:sp>
      <p:sp>
        <p:nvSpPr>
          <p:cNvPr id="28" name="Text 26"/>
          <p:cNvSpPr/>
          <p:nvPr/>
        </p:nvSpPr>
        <p:spPr>
          <a:xfrm>
            <a:off x="4800600" y="2221992"/>
            <a:ext cx="3840480" cy="27432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Wang et al. (2024) — M4GT-Bench</a:t>
            </a:r>
            <a:endParaRPr lang="en-US" sz="1100" dirty="0"/>
          </a:p>
        </p:txBody>
      </p:sp>
      <p:sp>
        <p:nvSpPr>
          <p:cNvPr id="29" name="Text 27"/>
          <p:cNvSpPr/>
          <p:nvPr/>
        </p:nvSpPr>
        <p:spPr>
          <a:xfrm>
            <a:off x="4800600" y="2523744"/>
            <a:ext cx="3840480" cy="34747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Multi-model, multi-domain benchmark. Sets the standard for cross-model evaluation.</a:t>
            </a:r>
            <a:endParaRPr lang="en-US" sz="1000" dirty="0"/>
          </a:p>
        </p:txBody>
      </p:sp>
      <p:sp>
        <p:nvSpPr>
          <p:cNvPr id="30" name="Shape 28"/>
          <p:cNvSpPr/>
          <p:nvPr/>
        </p:nvSpPr>
        <p:spPr>
          <a:xfrm>
            <a:off x="4663440" y="3072384"/>
            <a:ext cx="4114800" cy="7498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1" name="Shape 29"/>
          <p:cNvSpPr/>
          <p:nvPr/>
        </p:nvSpPr>
        <p:spPr>
          <a:xfrm>
            <a:off x="4663440" y="3072384"/>
            <a:ext cx="54864" cy="749808"/>
          </a:xfrm>
          <a:prstGeom prst="rect">
            <a:avLst/>
          </a:prstGeom>
          <a:solidFill>
            <a:srgbClr val="EF4444"/>
          </a:solidFill>
          <a:ln w="12700">
            <a:solidFill>
              <a:srgbClr val="EF4444"/>
            </a:solidFill>
            <a:prstDash val="solid"/>
          </a:ln>
        </p:spPr>
        <p:txBody>
          <a:bodyPr/>
          <a:lstStyle/>
          <a:p>
            <a:endParaRPr lang="en-US"/>
          </a:p>
        </p:txBody>
      </p:sp>
      <p:sp>
        <p:nvSpPr>
          <p:cNvPr id="32" name="Text 30"/>
          <p:cNvSpPr/>
          <p:nvPr/>
        </p:nvSpPr>
        <p:spPr>
          <a:xfrm>
            <a:off x="4800600" y="3118104"/>
            <a:ext cx="3840480" cy="27432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Xu et al. (2023)</a:t>
            </a:r>
            <a:endParaRPr lang="en-US" sz="1100" dirty="0"/>
          </a:p>
        </p:txBody>
      </p:sp>
      <p:sp>
        <p:nvSpPr>
          <p:cNvPr id="33" name="Text 31"/>
          <p:cNvSpPr/>
          <p:nvPr/>
        </p:nvSpPr>
        <p:spPr>
          <a:xfrm>
            <a:off x="4800600" y="3419856"/>
            <a:ext cx="3840480" cy="34747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ChatGPT detection generalization study — shows trained detectors fail on unseen models.</a:t>
            </a:r>
            <a:endParaRPr lang="en-US" sz="1000" dirty="0"/>
          </a:p>
        </p:txBody>
      </p:sp>
      <p:sp>
        <p:nvSpPr>
          <p:cNvPr id="34" name="Shape 32"/>
          <p:cNvSpPr/>
          <p:nvPr/>
        </p:nvSpPr>
        <p:spPr>
          <a:xfrm>
            <a:off x="4663440" y="3968496"/>
            <a:ext cx="4114800" cy="7498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5" name="Shape 33"/>
          <p:cNvSpPr/>
          <p:nvPr/>
        </p:nvSpPr>
        <p:spPr>
          <a:xfrm>
            <a:off x="4663440" y="3968496"/>
            <a:ext cx="54864" cy="749808"/>
          </a:xfrm>
          <a:prstGeom prst="rect">
            <a:avLst/>
          </a:prstGeom>
          <a:solidFill>
            <a:srgbClr val="00D4FF"/>
          </a:solidFill>
          <a:ln w="12700">
            <a:solidFill>
              <a:srgbClr val="00D4FF"/>
            </a:solidFill>
            <a:prstDash val="solid"/>
          </a:ln>
        </p:spPr>
        <p:txBody>
          <a:bodyPr/>
          <a:lstStyle/>
          <a:p>
            <a:endParaRPr lang="en-US"/>
          </a:p>
        </p:txBody>
      </p:sp>
      <p:sp>
        <p:nvSpPr>
          <p:cNvPr id="36" name="Text 34"/>
          <p:cNvSpPr/>
          <p:nvPr/>
        </p:nvSpPr>
        <p:spPr>
          <a:xfrm>
            <a:off x="4800600" y="4014216"/>
            <a:ext cx="3840480" cy="27432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Xia et al. (2026) ★</a:t>
            </a:r>
            <a:endParaRPr lang="en-US" sz="1100" dirty="0"/>
          </a:p>
        </p:txBody>
      </p:sp>
      <p:sp>
        <p:nvSpPr>
          <p:cNvPr id="37" name="Text 35"/>
          <p:cNvSpPr/>
          <p:nvPr/>
        </p:nvSpPr>
        <p:spPr>
          <a:xfrm>
            <a:off x="4800600" y="4315968"/>
            <a:ext cx="3840480" cy="34747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Key paper: passive voice (r=0.296), past tense (r=0.416), pronoun (r=0.385) explain generalization failures. Used for POST-HOC explanation only — not as classifier inputs. We close this gap.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Dataset Construction</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5,981 samples — why not 6,000?</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 / 24</a:t>
            </a:r>
            <a:endParaRPr lang="en-US" sz="900" dirty="0"/>
          </a:p>
        </p:txBody>
      </p:sp>
      <p:sp>
        <p:nvSpPr>
          <p:cNvPr id="6" name="Shape 4"/>
          <p:cNvSpPr/>
          <p:nvPr/>
        </p:nvSpPr>
        <p:spPr>
          <a:xfrm>
            <a:off x="365760" y="1261872"/>
            <a:ext cx="1920240" cy="82296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Text 5"/>
          <p:cNvSpPr/>
          <p:nvPr/>
        </p:nvSpPr>
        <p:spPr>
          <a:xfrm>
            <a:off x="365760" y="1298448"/>
            <a:ext cx="1920240" cy="475488"/>
          </a:xfrm>
          <a:prstGeom prst="rect">
            <a:avLst/>
          </a:prstGeom>
          <a:noFill/>
          <a:ln/>
        </p:spPr>
        <p:txBody>
          <a:bodyPr wrap="square" rtlCol="0" anchor="ctr"/>
          <a:lstStyle/>
          <a:p>
            <a:pPr marL="0" indent="0" algn="ctr">
              <a:buNone/>
            </a:pPr>
            <a:r>
              <a:rPr lang="en-US" sz="2600" b="1" dirty="0">
                <a:solidFill>
                  <a:srgbClr val="00D4FF"/>
                </a:solidFill>
                <a:latin typeface="Calibri" pitchFamily="34" charset="0"/>
                <a:ea typeface="Calibri" pitchFamily="34" charset="-122"/>
                <a:cs typeface="Calibri" pitchFamily="34" charset="-120"/>
              </a:rPr>
              <a:t>5,981</a:t>
            </a:r>
            <a:endParaRPr lang="en-US" sz="2600" dirty="0"/>
          </a:p>
        </p:txBody>
      </p:sp>
      <p:sp>
        <p:nvSpPr>
          <p:cNvPr id="8" name="Text 6"/>
          <p:cNvSpPr/>
          <p:nvPr/>
        </p:nvSpPr>
        <p:spPr>
          <a:xfrm>
            <a:off x="365760" y="1737360"/>
            <a:ext cx="1920240" cy="27432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Final Samples</a:t>
            </a:r>
            <a:endParaRPr lang="en-US" sz="1100" dirty="0"/>
          </a:p>
        </p:txBody>
      </p:sp>
      <p:sp>
        <p:nvSpPr>
          <p:cNvPr id="9" name="Shape 7"/>
          <p:cNvSpPr/>
          <p:nvPr/>
        </p:nvSpPr>
        <p:spPr>
          <a:xfrm>
            <a:off x="2514600" y="1261872"/>
            <a:ext cx="1920240" cy="82296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0" name="Text 8"/>
          <p:cNvSpPr/>
          <p:nvPr/>
        </p:nvSpPr>
        <p:spPr>
          <a:xfrm>
            <a:off x="2514600" y="1298448"/>
            <a:ext cx="1920240" cy="475488"/>
          </a:xfrm>
          <a:prstGeom prst="rect">
            <a:avLst/>
          </a:prstGeom>
          <a:noFill/>
          <a:ln/>
        </p:spPr>
        <p:txBody>
          <a:bodyPr wrap="square" rtlCol="0" anchor="ctr"/>
          <a:lstStyle/>
          <a:p>
            <a:pPr marL="0" indent="0" algn="ctr">
              <a:buNone/>
            </a:pPr>
            <a:r>
              <a:rPr lang="en-US" sz="2600" b="1" dirty="0">
                <a:solidFill>
                  <a:srgbClr val="00D4FF"/>
                </a:solidFill>
                <a:latin typeface="Calibri" pitchFamily="34" charset="0"/>
                <a:ea typeface="Calibri" pitchFamily="34" charset="-122"/>
                <a:cs typeface="Calibri" pitchFamily="34" charset="-120"/>
              </a:rPr>
              <a:t>1,000</a:t>
            </a:r>
            <a:endParaRPr lang="en-US" sz="2600" dirty="0"/>
          </a:p>
        </p:txBody>
      </p:sp>
      <p:sp>
        <p:nvSpPr>
          <p:cNvPr id="11" name="Text 9"/>
          <p:cNvSpPr/>
          <p:nvPr/>
        </p:nvSpPr>
        <p:spPr>
          <a:xfrm>
            <a:off x="2514600" y="1737360"/>
            <a:ext cx="1920240" cy="27432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Human Essays</a:t>
            </a:r>
            <a:endParaRPr lang="en-US" sz="1100" dirty="0"/>
          </a:p>
        </p:txBody>
      </p:sp>
      <p:sp>
        <p:nvSpPr>
          <p:cNvPr id="12" name="Shape 10"/>
          <p:cNvSpPr/>
          <p:nvPr/>
        </p:nvSpPr>
        <p:spPr>
          <a:xfrm>
            <a:off x="4663440" y="1261872"/>
            <a:ext cx="1920240" cy="82296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3" name="Text 11"/>
          <p:cNvSpPr/>
          <p:nvPr/>
        </p:nvSpPr>
        <p:spPr>
          <a:xfrm>
            <a:off x="4663440" y="1298448"/>
            <a:ext cx="1920240" cy="475488"/>
          </a:xfrm>
          <a:prstGeom prst="rect">
            <a:avLst/>
          </a:prstGeom>
          <a:noFill/>
          <a:ln/>
        </p:spPr>
        <p:txBody>
          <a:bodyPr wrap="square" rtlCol="0" anchor="ctr"/>
          <a:lstStyle/>
          <a:p>
            <a:pPr marL="0" indent="0" algn="ctr">
              <a:buNone/>
            </a:pPr>
            <a:r>
              <a:rPr lang="en-US" sz="2600" b="1" dirty="0">
                <a:solidFill>
                  <a:srgbClr val="00D4FF"/>
                </a:solidFill>
                <a:latin typeface="Calibri" pitchFamily="34" charset="0"/>
                <a:ea typeface="Calibri" pitchFamily="34" charset="-122"/>
                <a:cs typeface="Calibri" pitchFamily="34" charset="-120"/>
              </a:rPr>
              <a:t>4,981</a:t>
            </a:r>
            <a:endParaRPr lang="en-US" sz="2600" dirty="0"/>
          </a:p>
        </p:txBody>
      </p:sp>
      <p:sp>
        <p:nvSpPr>
          <p:cNvPr id="14" name="Text 12"/>
          <p:cNvSpPr/>
          <p:nvPr/>
        </p:nvSpPr>
        <p:spPr>
          <a:xfrm>
            <a:off x="4663440" y="1737360"/>
            <a:ext cx="1920240" cy="27432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AI Samples</a:t>
            </a:r>
            <a:endParaRPr lang="en-US" sz="1100" dirty="0"/>
          </a:p>
        </p:txBody>
      </p:sp>
      <p:sp>
        <p:nvSpPr>
          <p:cNvPr id="15" name="Shape 13"/>
          <p:cNvSpPr/>
          <p:nvPr/>
        </p:nvSpPr>
        <p:spPr>
          <a:xfrm>
            <a:off x="6812280" y="1261872"/>
            <a:ext cx="1920240" cy="82296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6" name="Text 14"/>
          <p:cNvSpPr/>
          <p:nvPr/>
        </p:nvSpPr>
        <p:spPr>
          <a:xfrm>
            <a:off x="6812280" y="1298448"/>
            <a:ext cx="1920240" cy="475488"/>
          </a:xfrm>
          <a:prstGeom prst="rect">
            <a:avLst/>
          </a:prstGeom>
          <a:noFill/>
          <a:ln/>
        </p:spPr>
        <p:txBody>
          <a:bodyPr wrap="square" rtlCol="0" anchor="ctr"/>
          <a:lstStyle/>
          <a:p>
            <a:pPr marL="0" indent="0" algn="ctr">
              <a:buNone/>
            </a:pPr>
            <a:r>
              <a:rPr lang="en-US" sz="2600" b="1" dirty="0">
                <a:solidFill>
                  <a:srgbClr val="00D4FF"/>
                </a:solidFill>
                <a:latin typeface="Calibri" pitchFamily="34" charset="0"/>
                <a:ea typeface="Calibri" pitchFamily="34" charset="-122"/>
                <a:cs typeface="Calibri" pitchFamily="34" charset="-120"/>
              </a:rPr>
              <a:t>5</a:t>
            </a:r>
            <a:endParaRPr lang="en-US" sz="2600" dirty="0"/>
          </a:p>
        </p:txBody>
      </p:sp>
      <p:sp>
        <p:nvSpPr>
          <p:cNvPr id="17" name="Text 15"/>
          <p:cNvSpPr/>
          <p:nvPr/>
        </p:nvSpPr>
        <p:spPr>
          <a:xfrm>
            <a:off x="6812280" y="1737360"/>
            <a:ext cx="1920240" cy="27432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AI Models</a:t>
            </a:r>
            <a:endParaRPr lang="en-US" sz="1100" dirty="0"/>
          </a:p>
        </p:txBody>
      </p:sp>
      <p:sp>
        <p:nvSpPr>
          <p:cNvPr id="18" name="Text 16"/>
          <p:cNvSpPr/>
          <p:nvPr/>
        </p:nvSpPr>
        <p:spPr>
          <a:xfrm>
            <a:off x="365760" y="2240280"/>
            <a:ext cx="84124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AI samples per model (actual counts after quality filtering):</a:t>
            </a:r>
            <a:endParaRPr lang="en-US" sz="1200" dirty="0"/>
          </a:p>
        </p:txBody>
      </p:sp>
      <p:sp>
        <p:nvSpPr>
          <p:cNvPr id="19" name="Shape 17"/>
          <p:cNvSpPr/>
          <p:nvPr/>
        </p:nvSpPr>
        <p:spPr>
          <a:xfrm>
            <a:off x="365760" y="2578608"/>
            <a:ext cx="1554480" cy="123444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0" name="Shape 18"/>
          <p:cNvSpPr/>
          <p:nvPr/>
        </p:nvSpPr>
        <p:spPr>
          <a:xfrm>
            <a:off x="365760" y="2578608"/>
            <a:ext cx="1554480" cy="54864"/>
          </a:xfrm>
          <a:prstGeom prst="rect">
            <a:avLst/>
          </a:prstGeom>
          <a:solidFill>
            <a:srgbClr val="10B981"/>
          </a:solidFill>
          <a:ln w="12700">
            <a:solidFill>
              <a:srgbClr val="10B981"/>
            </a:solidFill>
            <a:prstDash val="solid"/>
          </a:ln>
        </p:spPr>
        <p:txBody>
          <a:bodyPr/>
          <a:lstStyle/>
          <a:p>
            <a:endParaRPr lang="en-US"/>
          </a:p>
        </p:txBody>
      </p:sp>
      <p:sp>
        <p:nvSpPr>
          <p:cNvPr id="21" name="Text 19"/>
          <p:cNvSpPr/>
          <p:nvPr/>
        </p:nvSpPr>
        <p:spPr>
          <a:xfrm>
            <a:off x="365760" y="2670048"/>
            <a:ext cx="1554480" cy="274320"/>
          </a:xfrm>
          <a:prstGeom prst="rect">
            <a:avLst/>
          </a:prstGeom>
          <a:noFill/>
          <a:ln/>
        </p:spPr>
        <p:txBody>
          <a:bodyPr wrap="square" rtlCol="0" anchor="ctr"/>
          <a:lstStyle/>
          <a:p>
            <a:pPr marL="0" indent="0" algn="ctr">
              <a:buNone/>
            </a:pPr>
            <a:r>
              <a:rPr lang="en-US" sz="1200" b="1" dirty="0">
                <a:solidFill>
                  <a:srgbClr val="10B981"/>
                </a:solidFill>
                <a:latin typeface="Calibri" pitchFamily="34" charset="0"/>
                <a:ea typeface="Calibri" pitchFamily="34" charset="-122"/>
                <a:cs typeface="Calibri" pitchFamily="34" charset="-120"/>
              </a:rPr>
              <a:t>GPT-4o</a:t>
            </a:r>
            <a:endParaRPr lang="en-US" sz="1200" dirty="0"/>
          </a:p>
        </p:txBody>
      </p:sp>
      <p:sp>
        <p:nvSpPr>
          <p:cNvPr id="22" name="Text 20"/>
          <p:cNvSpPr/>
          <p:nvPr/>
        </p:nvSpPr>
        <p:spPr>
          <a:xfrm>
            <a:off x="365760" y="2926080"/>
            <a:ext cx="1554480" cy="228600"/>
          </a:xfrm>
          <a:prstGeom prst="rect">
            <a:avLst/>
          </a:prstGeom>
          <a:noFill/>
          <a:ln/>
        </p:spPr>
        <p:txBody>
          <a:bodyPr wrap="square"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OpenAI — Commercial</a:t>
            </a:r>
            <a:endParaRPr lang="en-US" sz="950" dirty="0"/>
          </a:p>
        </p:txBody>
      </p:sp>
      <p:sp>
        <p:nvSpPr>
          <p:cNvPr id="23" name="Text 21"/>
          <p:cNvSpPr/>
          <p:nvPr/>
        </p:nvSpPr>
        <p:spPr>
          <a:xfrm>
            <a:off x="365760" y="3182112"/>
            <a:ext cx="155448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993</a:t>
            </a:r>
            <a:endParaRPr lang="en-US" sz="2200" dirty="0"/>
          </a:p>
        </p:txBody>
      </p:sp>
      <p:sp>
        <p:nvSpPr>
          <p:cNvPr id="24" name="Shape 22"/>
          <p:cNvSpPr/>
          <p:nvPr/>
        </p:nvSpPr>
        <p:spPr>
          <a:xfrm>
            <a:off x="2084832" y="2578608"/>
            <a:ext cx="1554480" cy="123444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5" name="Shape 23"/>
          <p:cNvSpPr/>
          <p:nvPr/>
        </p:nvSpPr>
        <p:spPr>
          <a:xfrm>
            <a:off x="2084832" y="2578608"/>
            <a:ext cx="1554480" cy="54864"/>
          </a:xfrm>
          <a:prstGeom prst="rect">
            <a:avLst/>
          </a:prstGeom>
          <a:solidFill>
            <a:srgbClr val="00D4FF"/>
          </a:solidFill>
          <a:ln w="12700">
            <a:solidFill>
              <a:srgbClr val="00D4FF"/>
            </a:solidFill>
            <a:prstDash val="solid"/>
          </a:ln>
        </p:spPr>
        <p:txBody>
          <a:bodyPr/>
          <a:lstStyle/>
          <a:p>
            <a:endParaRPr lang="en-US"/>
          </a:p>
        </p:txBody>
      </p:sp>
      <p:sp>
        <p:nvSpPr>
          <p:cNvPr id="26" name="Text 24"/>
          <p:cNvSpPr/>
          <p:nvPr/>
        </p:nvSpPr>
        <p:spPr>
          <a:xfrm>
            <a:off x="2084832" y="2670048"/>
            <a:ext cx="1554480" cy="274320"/>
          </a:xfrm>
          <a:prstGeom prst="rect">
            <a:avLst/>
          </a:prstGeom>
          <a:noFill/>
          <a:ln/>
        </p:spPr>
        <p:txBody>
          <a:bodyPr wrap="square" rtlCol="0" anchor="ctr"/>
          <a:lstStyle/>
          <a:p>
            <a:pPr marL="0" indent="0" algn="ctr">
              <a:buNone/>
            </a:pPr>
            <a:r>
              <a:rPr lang="en-US" sz="1200" b="1" dirty="0">
                <a:solidFill>
                  <a:srgbClr val="00D4FF"/>
                </a:solidFill>
                <a:latin typeface="Calibri" pitchFamily="34" charset="0"/>
                <a:ea typeface="Calibri" pitchFamily="34" charset="-122"/>
                <a:cs typeface="Calibri" pitchFamily="34" charset="-120"/>
              </a:rPr>
              <a:t>Claude 3.5</a:t>
            </a:r>
            <a:endParaRPr lang="en-US" sz="1200" dirty="0"/>
          </a:p>
        </p:txBody>
      </p:sp>
      <p:sp>
        <p:nvSpPr>
          <p:cNvPr id="27" name="Text 25"/>
          <p:cNvSpPr/>
          <p:nvPr/>
        </p:nvSpPr>
        <p:spPr>
          <a:xfrm>
            <a:off x="2084832" y="2926080"/>
            <a:ext cx="1554480" cy="228600"/>
          </a:xfrm>
          <a:prstGeom prst="rect">
            <a:avLst/>
          </a:prstGeom>
          <a:noFill/>
          <a:ln/>
        </p:spPr>
        <p:txBody>
          <a:bodyPr wrap="square"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Anthropic — Commercial</a:t>
            </a:r>
            <a:endParaRPr lang="en-US" sz="950" dirty="0"/>
          </a:p>
        </p:txBody>
      </p:sp>
      <p:sp>
        <p:nvSpPr>
          <p:cNvPr id="28" name="Text 26"/>
          <p:cNvSpPr/>
          <p:nvPr/>
        </p:nvSpPr>
        <p:spPr>
          <a:xfrm>
            <a:off x="2084832" y="3182112"/>
            <a:ext cx="155448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999</a:t>
            </a:r>
            <a:endParaRPr lang="en-US" sz="2200" dirty="0"/>
          </a:p>
        </p:txBody>
      </p:sp>
      <p:sp>
        <p:nvSpPr>
          <p:cNvPr id="29" name="Shape 27"/>
          <p:cNvSpPr/>
          <p:nvPr/>
        </p:nvSpPr>
        <p:spPr>
          <a:xfrm>
            <a:off x="3803904" y="2578608"/>
            <a:ext cx="1554480" cy="123444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0" name="Shape 28"/>
          <p:cNvSpPr/>
          <p:nvPr/>
        </p:nvSpPr>
        <p:spPr>
          <a:xfrm>
            <a:off x="3803904" y="2578608"/>
            <a:ext cx="1554480" cy="54864"/>
          </a:xfrm>
          <a:prstGeom prst="rect">
            <a:avLst/>
          </a:prstGeom>
          <a:solidFill>
            <a:srgbClr val="7C3AED"/>
          </a:solidFill>
          <a:ln w="12700">
            <a:solidFill>
              <a:srgbClr val="7C3AED"/>
            </a:solidFill>
            <a:prstDash val="solid"/>
          </a:ln>
        </p:spPr>
        <p:txBody>
          <a:bodyPr/>
          <a:lstStyle/>
          <a:p>
            <a:endParaRPr lang="en-US"/>
          </a:p>
        </p:txBody>
      </p:sp>
      <p:sp>
        <p:nvSpPr>
          <p:cNvPr id="31" name="Text 29"/>
          <p:cNvSpPr/>
          <p:nvPr/>
        </p:nvSpPr>
        <p:spPr>
          <a:xfrm>
            <a:off x="3803904" y="2670048"/>
            <a:ext cx="1554480" cy="274320"/>
          </a:xfrm>
          <a:prstGeom prst="rect">
            <a:avLst/>
          </a:prstGeom>
          <a:noFill/>
          <a:ln/>
        </p:spPr>
        <p:txBody>
          <a:bodyPr wrap="square" rtlCol="0" anchor="ctr"/>
          <a:lstStyle/>
          <a:p>
            <a:pPr marL="0" indent="0" algn="ctr">
              <a:buNone/>
            </a:pPr>
            <a:r>
              <a:rPr lang="en-US" sz="1200" b="1" dirty="0">
                <a:solidFill>
                  <a:srgbClr val="7C3AED"/>
                </a:solidFill>
                <a:latin typeface="Calibri" pitchFamily="34" charset="0"/>
                <a:ea typeface="Calibri" pitchFamily="34" charset="-122"/>
                <a:cs typeface="Calibri" pitchFamily="34" charset="-120"/>
              </a:rPr>
              <a:t>Gemini 1.5</a:t>
            </a:r>
            <a:endParaRPr lang="en-US" sz="1200" dirty="0"/>
          </a:p>
        </p:txBody>
      </p:sp>
      <p:sp>
        <p:nvSpPr>
          <p:cNvPr id="32" name="Text 30"/>
          <p:cNvSpPr/>
          <p:nvPr/>
        </p:nvSpPr>
        <p:spPr>
          <a:xfrm>
            <a:off x="3803904" y="2926080"/>
            <a:ext cx="1554480" cy="228600"/>
          </a:xfrm>
          <a:prstGeom prst="rect">
            <a:avLst/>
          </a:prstGeom>
          <a:noFill/>
          <a:ln/>
        </p:spPr>
        <p:txBody>
          <a:bodyPr wrap="square"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Google — Multimodal</a:t>
            </a:r>
            <a:endParaRPr lang="en-US" sz="950" dirty="0"/>
          </a:p>
        </p:txBody>
      </p:sp>
      <p:sp>
        <p:nvSpPr>
          <p:cNvPr id="33" name="Text 31"/>
          <p:cNvSpPr/>
          <p:nvPr/>
        </p:nvSpPr>
        <p:spPr>
          <a:xfrm>
            <a:off x="3803904" y="3182112"/>
            <a:ext cx="155448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993</a:t>
            </a:r>
            <a:endParaRPr lang="en-US" sz="2200" dirty="0"/>
          </a:p>
        </p:txBody>
      </p:sp>
      <p:sp>
        <p:nvSpPr>
          <p:cNvPr id="34" name="Shape 32"/>
          <p:cNvSpPr/>
          <p:nvPr/>
        </p:nvSpPr>
        <p:spPr>
          <a:xfrm>
            <a:off x="5522976" y="2578608"/>
            <a:ext cx="1554480" cy="123444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5" name="Shape 33"/>
          <p:cNvSpPr/>
          <p:nvPr/>
        </p:nvSpPr>
        <p:spPr>
          <a:xfrm>
            <a:off x="5522976" y="2578608"/>
            <a:ext cx="1554480" cy="54864"/>
          </a:xfrm>
          <a:prstGeom prst="rect">
            <a:avLst/>
          </a:prstGeom>
          <a:solidFill>
            <a:srgbClr val="F59E0B"/>
          </a:solidFill>
          <a:ln w="12700">
            <a:solidFill>
              <a:srgbClr val="F59E0B"/>
            </a:solidFill>
            <a:prstDash val="solid"/>
          </a:ln>
        </p:spPr>
        <p:txBody>
          <a:bodyPr/>
          <a:lstStyle/>
          <a:p>
            <a:endParaRPr lang="en-US"/>
          </a:p>
        </p:txBody>
      </p:sp>
      <p:sp>
        <p:nvSpPr>
          <p:cNvPr id="36" name="Text 34"/>
          <p:cNvSpPr/>
          <p:nvPr/>
        </p:nvSpPr>
        <p:spPr>
          <a:xfrm>
            <a:off x="5522976" y="2670048"/>
            <a:ext cx="1554480" cy="274320"/>
          </a:xfrm>
          <a:prstGeom prst="rect">
            <a:avLst/>
          </a:prstGeom>
          <a:noFill/>
          <a:ln/>
        </p:spPr>
        <p:txBody>
          <a:bodyPr wrap="square"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LLaMA 3.1</a:t>
            </a:r>
            <a:endParaRPr lang="en-US" sz="1200" dirty="0"/>
          </a:p>
        </p:txBody>
      </p:sp>
      <p:sp>
        <p:nvSpPr>
          <p:cNvPr id="37" name="Text 35"/>
          <p:cNvSpPr/>
          <p:nvPr/>
        </p:nvSpPr>
        <p:spPr>
          <a:xfrm>
            <a:off x="5522976" y="2926080"/>
            <a:ext cx="1554480" cy="228600"/>
          </a:xfrm>
          <a:prstGeom prst="rect">
            <a:avLst/>
          </a:prstGeom>
          <a:noFill/>
          <a:ln/>
        </p:spPr>
        <p:txBody>
          <a:bodyPr wrap="square"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Meta — Open Source</a:t>
            </a:r>
            <a:endParaRPr lang="en-US" sz="950" dirty="0"/>
          </a:p>
        </p:txBody>
      </p:sp>
      <p:sp>
        <p:nvSpPr>
          <p:cNvPr id="38" name="Text 36"/>
          <p:cNvSpPr/>
          <p:nvPr/>
        </p:nvSpPr>
        <p:spPr>
          <a:xfrm>
            <a:off x="5522976" y="3182112"/>
            <a:ext cx="155448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1,000</a:t>
            </a:r>
            <a:endParaRPr lang="en-US" sz="2200" dirty="0"/>
          </a:p>
        </p:txBody>
      </p:sp>
      <p:sp>
        <p:nvSpPr>
          <p:cNvPr id="39" name="Shape 37"/>
          <p:cNvSpPr/>
          <p:nvPr/>
        </p:nvSpPr>
        <p:spPr>
          <a:xfrm>
            <a:off x="7242048" y="2578608"/>
            <a:ext cx="1554480" cy="123444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40" name="Shape 38"/>
          <p:cNvSpPr/>
          <p:nvPr/>
        </p:nvSpPr>
        <p:spPr>
          <a:xfrm>
            <a:off x="7242048" y="2578608"/>
            <a:ext cx="1554480" cy="54864"/>
          </a:xfrm>
          <a:prstGeom prst="rect">
            <a:avLst/>
          </a:prstGeom>
          <a:solidFill>
            <a:srgbClr val="EF4444"/>
          </a:solidFill>
          <a:ln w="12700">
            <a:solidFill>
              <a:srgbClr val="EF4444"/>
            </a:solidFill>
            <a:prstDash val="solid"/>
          </a:ln>
        </p:spPr>
        <p:txBody>
          <a:bodyPr/>
          <a:lstStyle/>
          <a:p>
            <a:endParaRPr lang="en-US"/>
          </a:p>
        </p:txBody>
      </p:sp>
      <p:sp>
        <p:nvSpPr>
          <p:cNvPr id="41" name="Text 39"/>
          <p:cNvSpPr/>
          <p:nvPr/>
        </p:nvSpPr>
        <p:spPr>
          <a:xfrm>
            <a:off x="7242048" y="2670048"/>
            <a:ext cx="1554480" cy="274320"/>
          </a:xfrm>
          <a:prstGeom prst="rect">
            <a:avLst/>
          </a:prstGeom>
          <a:noFill/>
          <a:ln/>
        </p:spPr>
        <p:txBody>
          <a:bodyPr wrap="square" rtlCol="0" anchor="ctr"/>
          <a:lstStyle/>
          <a:p>
            <a:pPr marL="0" indent="0" algn="ctr">
              <a:buNone/>
            </a:pPr>
            <a:r>
              <a:rPr lang="en-US" sz="1200" b="1" dirty="0">
                <a:solidFill>
                  <a:srgbClr val="EF4444"/>
                </a:solidFill>
                <a:latin typeface="Calibri" pitchFamily="34" charset="0"/>
                <a:ea typeface="Calibri" pitchFamily="34" charset="-122"/>
                <a:cs typeface="Calibri" pitchFamily="34" charset="-120"/>
              </a:rPr>
              <a:t>Qwen</a:t>
            </a:r>
            <a:endParaRPr lang="en-US" sz="1200" dirty="0"/>
          </a:p>
        </p:txBody>
      </p:sp>
      <p:sp>
        <p:nvSpPr>
          <p:cNvPr id="42" name="Text 40"/>
          <p:cNvSpPr/>
          <p:nvPr/>
        </p:nvSpPr>
        <p:spPr>
          <a:xfrm>
            <a:off x="7242048" y="2926080"/>
            <a:ext cx="1554480" cy="228600"/>
          </a:xfrm>
          <a:prstGeom prst="rect">
            <a:avLst/>
          </a:prstGeom>
          <a:noFill/>
          <a:ln/>
        </p:spPr>
        <p:txBody>
          <a:bodyPr wrap="square"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Alibaba — Open Source</a:t>
            </a:r>
            <a:endParaRPr lang="en-US" sz="950" dirty="0"/>
          </a:p>
        </p:txBody>
      </p:sp>
      <p:sp>
        <p:nvSpPr>
          <p:cNvPr id="43" name="Text 41"/>
          <p:cNvSpPr/>
          <p:nvPr/>
        </p:nvSpPr>
        <p:spPr>
          <a:xfrm>
            <a:off x="7242048" y="3182112"/>
            <a:ext cx="155448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996</a:t>
            </a:r>
            <a:endParaRPr lang="en-US" sz="2200" dirty="0"/>
          </a:p>
        </p:txBody>
      </p:sp>
      <p:sp>
        <p:nvSpPr>
          <p:cNvPr id="44" name="Shape 42"/>
          <p:cNvSpPr/>
          <p:nvPr/>
        </p:nvSpPr>
        <p:spPr>
          <a:xfrm>
            <a:off x="365760" y="3913632"/>
            <a:ext cx="8412480" cy="68580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45" name="Text 43"/>
          <p:cNvSpPr/>
          <p:nvPr/>
        </p:nvSpPr>
        <p:spPr>
          <a:xfrm>
            <a:off x="548640" y="3977640"/>
            <a:ext cx="8046720" cy="54864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Why 5,981 not 6,000?  API rate limits and response filtering removed 19 samples (duplicates, empty responses, truncated outputs). Human baseline: 1,000 essays from the PERSUADE 2.0 corpus — diverse topics, real student writing. Same 0-shot prompts used across all AI models to isolate model differences.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Feature Extraction</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41 hand-crafted linguistic features across 4 categories</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6 / 24</a:t>
            </a:r>
            <a:endParaRPr lang="en-US" sz="900" dirty="0"/>
          </a:p>
        </p:txBody>
      </p:sp>
      <p:sp>
        <p:nvSpPr>
          <p:cNvPr id="6" name="Shape 4"/>
          <p:cNvSpPr/>
          <p:nvPr/>
        </p:nvSpPr>
        <p:spPr>
          <a:xfrm>
            <a:off x="365760" y="1261872"/>
            <a:ext cx="8412480" cy="75895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65760" y="1261872"/>
            <a:ext cx="1463040" cy="758952"/>
          </a:xfrm>
          <a:prstGeom prst="rect">
            <a:avLst/>
          </a:prstGeom>
          <a:solidFill>
            <a:srgbClr val="00D4FF">
              <a:alpha val="80000"/>
            </a:srgbClr>
          </a:solidFill>
          <a:ln w="12700">
            <a:solidFill>
              <a:srgbClr val="00D4FF"/>
            </a:solidFill>
            <a:prstDash val="solid"/>
          </a:ln>
        </p:spPr>
        <p:txBody>
          <a:bodyPr/>
          <a:lstStyle/>
          <a:p>
            <a:endParaRPr lang="en-US"/>
          </a:p>
        </p:txBody>
      </p:sp>
      <p:sp>
        <p:nvSpPr>
          <p:cNvPr id="8" name="Text 6"/>
          <p:cNvSpPr/>
          <p:nvPr/>
        </p:nvSpPr>
        <p:spPr>
          <a:xfrm>
            <a:off x="365760" y="1335024"/>
            <a:ext cx="1463040" cy="301752"/>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Stylometric</a:t>
            </a:r>
            <a:endParaRPr lang="en-US" sz="1200" dirty="0"/>
          </a:p>
        </p:txBody>
      </p:sp>
      <p:sp>
        <p:nvSpPr>
          <p:cNvPr id="9" name="Text 7"/>
          <p:cNvSpPr/>
          <p:nvPr/>
        </p:nvSpPr>
        <p:spPr>
          <a:xfrm>
            <a:off x="365760" y="1682496"/>
            <a:ext cx="1463040" cy="246888"/>
          </a:xfrm>
          <a:prstGeom prst="rect">
            <a:avLst/>
          </a:prstGeom>
          <a:noFill/>
          <a:ln/>
        </p:spPr>
        <p:txBody>
          <a:bodyPr wrap="square" rtlCol="0" anchor="ctr"/>
          <a:lstStyle/>
          <a:p>
            <a:pPr marL="0" indent="0" algn="ctr">
              <a:buNone/>
            </a:pPr>
            <a:r>
              <a:rPr lang="en-US" sz="1100" dirty="0">
                <a:solidFill>
                  <a:srgbClr val="0A0E1A"/>
                </a:solidFill>
                <a:latin typeface="Calibri" pitchFamily="34" charset="0"/>
                <a:ea typeface="Calibri" pitchFamily="34" charset="-122"/>
                <a:cs typeface="Calibri" pitchFamily="34" charset="-120"/>
              </a:rPr>
              <a:t>12 features</a:t>
            </a:r>
            <a:endParaRPr lang="en-US" sz="1100" dirty="0"/>
          </a:p>
        </p:txBody>
      </p:sp>
      <p:sp>
        <p:nvSpPr>
          <p:cNvPr id="10" name="Text 8"/>
          <p:cNvSpPr/>
          <p:nvPr/>
        </p:nvSpPr>
        <p:spPr>
          <a:xfrm>
            <a:off x="1965960" y="1353312"/>
            <a:ext cx="6583680" cy="59436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TTR, Yule's K, hapax ratio, syllables/word, avg word length, word length variance, long/short word ratios, lexical density, vocab richness</a:t>
            </a:r>
            <a:endParaRPr lang="en-US" sz="1150" dirty="0"/>
          </a:p>
        </p:txBody>
      </p:sp>
      <p:sp>
        <p:nvSpPr>
          <p:cNvPr id="11" name="Shape 9"/>
          <p:cNvSpPr/>
          <p:nvPr/>
        </p:nvSpPr>
        <p:spPr>
          <a:xfrm>
            <a:off x="365760" y="2157984"/>
            <a:ext cx="8412480" cy="75895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2" name="Shape 10"/>
          <p:cNvSpPr/>
          <p:nvPr/>
        </p:nvSpPr>
        <p:spPr>
          <a:xfrm>
            <a:off x="365760" y="2157984"/>
            <a:ext cx="1463040" cy="758952"/>
          </a:xfrm>
          <a:prstGeom prst="rect">
            <a:avLst/>
          </a:prstGeom>
          <a:solidFill>
            <a:srgbClr val="10B981">
              <a:alpha val="80000"/>
            </a:srgbClr>
          </a:solidFill>
          <a:ln w="12700">
            <a:solidFill>
              <a:srgbClr val="10B981"/>
            </a:solidFill>
            <a:prstDash val="solid"/>
          </a:ln>
        </p:spPr>
        <p:txBody>
          <a:bodyPr/>
          <a:lstStyle/>
          <a:p>
            <a:endParaRPr lang="en-US"/>
          </a:p>
        </p:txBody>
      </p:sp>
      <p:sp>
        <p:nvSpPr>
          <p:cNvPr id="13" name="Text 11"/>
          <p:cNvSpPr/>
          <p:nvPr/>
        </p:nvSpPr>
        <p:spPr>
          <a:xfrm>
            <a:off x="365760" y="2231136"/>
            <a:ext cx="1463040" cy="301752"/>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Syntactic</a:t>
            </a:r>
            <a:endParaRPr lang="en-US" sz="1200" dirty="0"/>
          </a:p>
        </p:txBody>
      </p:sp>
      <p:sp>
        <p:nvSpPr>
          <p:cNvPr id="14" name="Text 12"/>
          <p:cNvSpPr/>
          <p:nvPr/>
        </p:nvSpPr>
        <p:spPr>
          <a:xfrm>
            <a:off x="365760" y="2578608"/>
            <a:ext cx="1463040" cy="246888"/>
          </a:xfrm>
          <a:prstGeom prst="rect">
            <a:avLst/>
          </a:prstGeom>
          <a:noFill/>
          <a:ln/>
        </p:spPr>
        <p:txBody>
          <a:bodyPr wrap="square" rtlCol="0" anchor="ctr"/>
          <a:lstStyle/>
          <a:p>
            <a:pPr marL="0" indent="0" algn="ctr">
              <a:buNone/>
            </a:pPr>
            <a:r>
              <a:rPr lang="en-US" sz="1100" dirty="0">
                <a:solidFill>
                  <a:srgbClr val="0A0E1A"/>
                </a:solidFill>
                <a:latin typeface="Calibri" pitchFamily="34" charset="0"/>
                <a:ea typeface="Calibri" pitchFamily="34" charset="-122"/>
                <a:cs typeface="Calibri" pitchFamily="34" charset="-120"/>
              </a:rPr>
              <a:t>10 features</a:t>
            </a:r>
            <a:endParaRPr lang="en-US" sz="1100" dirty="0"/>
          </a:p>
        </p:txBody>
      </p:sp>
      <p:sp>
        <p:nvSpPr>
          <p:cNvPr id="15" name="Text 13"/>
          <p:cNvSpPr/>
          <p:nvPr/>
        </p:nvSpPr>
        <p:spPr>
          <a:xfrm>
            <a:off x="1965960" y="2249424"/>
            <a:ext cx="6583680" cy="59436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POS tag frequencies: noun, verb, adj, adv, pronoun, determiner, conjunction, particle, interjection, numeral</a:t>
            </a:r>
            <a:endParaRPr lang="en-US" sz="1150" dirty="0"/>
          </a:p>
        </p:txBody>
      </p:sp>
      <p:sp>
        <p:nvSpPr>
          <p:cNvPr id="16" name="Shape 14"/>
          <p:cNvSpPr/>
          <p:nvPr/>
        </p:nvSpPr>
        <p:spPr>
          <a:xfrm>
            <a:off x="365760" y="3054096"/>
            <a:ext cx="8412480" cy="75895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7" name="Shape 15"/>
          <p:cNvSpPr/>
          <p:nvPr/>
        </p:nvSpPr>
        <p:spPr>
          <a:xfrm>
            <a:off x="365760" y="3054096"/>
            <a:ext cx="1463040" cy="758952"/>
          </a:xfrm>
          <a:prstGeom prst="rect">
            <a:avLst/>
          </a:prstGeom>
          <a:solidFill>
            <a:srgbClr val="F59E0B">
              <a:alpha val="80000"/>
            </a:srgbClr>
          </a:solidFill>
          <a:ln w="12700">
            <a:solidFill>
              <a:srgbClr val="F59E0B"/>
            </a:solidFill>
            <a:prstDash val="solid"/>
          </a:ln>
        </p:spPr>
        <p:txBody>
          <a:bodyPr/>
          <a:lstStyle/>
          <a:p>
            <a:endParaRPr lang="en-US"/>
          </a:p>
        </p:txBody>
      </p:sp>
      <p:sp>
        <p:nvSpPr>
          <p:cNvPr id="18" name="Text 16"/>
          <p:cNvSpPr/>
          <p:nvPr/>
        </p:nvSpPr>
        <p:spPr>
          <a:xfrm>
            <a:off x="365760" y="3127248"/>
            <a:ext cx="1463040" cy="301752"/>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Semantic</a:t>
            </a:r>
            <a:endParaRPr lang="en-US" sz="1200" dirty="0"/>
          </a:p>
        </p:txBody>
      </p:sp>
      <p:sp>
        <p:nvSpPr>
          <p:cNvPr id="19" name="Text 17"/>
          <p:cNvSpPr/>
          <p:nvPr/>
        </p:nvSpPr>
        <p:spPr>
          <a:xfrm>
            <a:off x="365760" y="3474720"/>
            <a:ext cx="1463040" cy="246888"/>
          </a:xfrm>
          <a:prstGeom prst="rect">
            <a:avLst/>
          </a:prstGeom>
          <a:noFill/>
          <a:ln/>
        </p:spPr>
        <p:txBody>
          <a:bodyPr wrap="square" rtlCol="0" anchor="ctr"/>
          <a:lstStyle/>
          <a:p>
            <a:pPr marL="0" indent="0" algn="ctr">
              <a:buNone/>
            </a:pPr>
            <a:r>
              <a:rPr lang="en-US" sz="1100" dirty="0">
                <a:solidFill>
                  <a:srgbClr val="0A0E1A"/>
                </a:solidFill>
                <a:latin typeface="Calibri" pitchFamily="34" charset="0"/>
                <a:ea typeface="Calibri" pitchFamily="34" charset="-122"/>
                <a:cs typeface="Calibri" pitchFamily="34" charset="-120"/>
              </a:rPr>
              <a:t>10 features</a:t>
            </a:r>
            <a:endParaRPr lang="en-US" sz="1100" dirty="0"/>
          </a:p>
        </p:txBody>
      </p:sp>
      <p:sp>
        <p:nvSpPr>
          <p:cNvPr id="20" name="Text 18"/>
          <p:cNvSpPr/>
          <p:nvPr/>
        </p:nvSpPr>
        <p:spPr>
          <a:xfrm>
            <a:off x="1965960" y="3145536"/>
            <a:ext cx="6583680" cy="59436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 Xia et al. KEY features: passive voice, active voice, past/present/future tense, 1st/2nd/3rd person pronouns, question frequency</a:t>
            </a:r>
            <a:endParaRPr lang="en-US" sz="1150" dirty="0"/>
          </a:p>
        </p:txBody>
      </p:sp>
      <p:sp>
        <p:nvSpPr>
          <p:cNvPr id="21" name="Shape 19"/>
          <p:cNvSpPr/>
          <p:nvPr/>
        </p:nvSpPr>
        <p:spPr>
          <a:xfrm>
            <a:off x="365760" y="3950208"/>
            <a:ext cx="8412480" cy="75895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2" name="Shape 20"/>
          <p:cNvSpPr/>
          <p:nvPr/>
        </p:nvSpPr>
        <p:spPr>
          <a:xfrm>
            <a:off x="365760" y="3950208"/>
            <a:ext cx="1463040" cy="758952"/>
          </a:xfrm>
          <a:prstGeom prst="rect">
            <a:avLst/>
          </a:prstGeom>
          <a:solidFill>
            <a:srgbClr val="7C3AED">
              <a:alpha val="80000"/>
            </a:srgbClr>
          </a:solidFill>
          <a:ln w="12700">
            <a:solidFill>
              <a:srgbClr val="7C3AED"/>
            </a:solidFill>
            <a:prstDash val="solid"/>
          </a:ln>
        </p:spPr>
        <p:txBody>
          <a:bodyPr/>
          <a:lstStyle/>
          <a:p>
            <a:endParaRPr lang="en-US"/>
          </a:p>
        </p:txBody>
      </p:sp>
      <p:sp>
        <p:nvSpPr>
          <p:cNvPr id="23" name="Text 21"/>
          <p:cNvSpPr/>
          <p:nvPr/>
        </p:nvSpPr>
        <p:spPr>
          <a:xfrm>
            <a:off x="365760" y="4023360"/>
            <a:ext cx="1463040" cy="301752"/>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Statistical</a:t>
            </a:r>
            <a:endParaRPr lang="en-US" sz="1200" dirty="0"/>
          </a:p>
        </p:txBody>
      </p:sp>
      <p:sp>
        <p:nvSpPr>
          <p:cNvPr id="24" name="Text 22"/>
          <p:cNvSpPr/>
          <p:nvPr/>
        </p:nvSpPr>
        <p:spPr>
          <a:xfrm>
            <a:off x="365760" y="4370832"/>
            <a:ext cx="1463040" cy="246888"/>
          </a:xfrm>
          <a:prstGeom prst="rect">
            <a:avLst/>
          </a:prstGeom>
          <a:noFill/>
          <a:ln/>
        </p:spPr>
        <p:txBody>
          <a:bodyPr wrap="square" rtlCol="0" anchor="ctr"/>
          <a:lstStyle/>
          <a:p>
            <a:pPr marL="0" indent="0" algn="ctr">
              <a:buNone/>
            </a:pPr>
            <a:r>
              <a:rPr lang="en-US" sz="1100" dirty="0">
                <a:solidFill>
                  <a:srgbClr val="0A0E1A"/>
                </a:solidFill>
                <a:latin typeface="Calibri" pitchFamily="34" charset="0"/>
                <a:ea typeface="Calibri" pitchFamily="34" charset="-122"/>
                <a:cs typeface="Calibri" pitchFamily="34" charset="-120"/>
              </a:rPr>
              <a:t>9 features</a:t>
            </a:r>
            <a:endParaRPr lang="en-US" sz="1100" dirty="0"/>
          </a:p>
        </p:txBody>
      </p:sp>
      <p:sp>
        <p:nvSpPr>
          <p:cNvPr id="25" name="Text 23"/>
          <p:cNvSpPr/>
          <p:nvPr/>
        </p:nvSpPr>
        <p:spPr>
          <a:xfrm>
            <a:off x="1965960" y="4041648"/>
            <a:ext cx="6583680" cy="59436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Burstiness, Shannon entropy, bigram/trigram repetition, sentence-start diversity, sentence length stats, punctuation density</a:t>
            </a:r>
            <a:endParaRPr lang="en-US" sz="1150" dirty="0"/>
          </a:p>
        </p:txBody>
      </p:sp>
      <p:sp>
        <p:nvSpPr>
          <p:cNvPr id="26" name="Text 24"/>
          <p:cNvSpPr/>
          <p:nvPr/>
        </p:nvSpPr>
        <p:spPr>
          <a:xfrm>
            <a:off x="365760" y="4892040"/>
            <a:ext cx="8412480" cy="228600"/>
          </a:xfrm>
          <a:prstGeom prst="rect">
            <a:avLst/>
          </a:prstGeom>
          <a:noFill/>
          <a:ln/>
        </p:spPr>
        <p:txBody>
          <a:bodyPr wrap="square"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Note: Original proposal targeted 57 features. Final count is 41 after removing features requiring external LM calls (perplexity, embedding coherence) due to computational constraints.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Xia et al. (2026) vs Our Findings</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They explained failures. We tested whether their features actually work.</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7 / 24</a:t>
            </a:r>
            <a:endParaRPr lang="en-US" sz="900" dirty="0"/>
          </a:p>
        </p:txBody>
      </p:sp>
      <p:sp>
        <p:nvSpPr>
          <p:cNvPr id="6" name="Shape 4"/>
          <p:cNvSpPr/>
          <p:nvPr/>
        </p:nvSpPr>
        <p:spPr>
          <a:xfrm>
            <a:off x="365760" y="1261872"/>
            <a:ext cx="3931920" cy="356616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65760" y="1261872"/>
            <a:ext cx="3931920" cy="54864"/>
          </a:xfrm>
          <a:prstGeom prst="rect">
            <a:avLst/>
          </a:prstGeom>
          <a:solidFill>
            <a:srgbClr val="F59E0B"/>
          </a:solidFill>
          <a:ln w="12700">
            <a:solidFill>
              <a:srgbClr val="F59E0B"/>
            </a:solidFill>
            <a:prstDash val="solid"/>
          </a:ln>
        </p:spPr>
        <p:txBody>
          <a:bodyPr/>
          <a:lstStyle/>
          <a:p>
            <a:endParaRPr lang="en-US"/>
          </a:p>
        </p:txBody>
      </p:sp>
      <p:sp>
        <p:nvSpPr>
          <p:cNvPr id="8" name="Text 6"/>
          <p:cNvSpPr/>
          <p:nvPr/>
        </p:nvSpPr>
        <p:spPr>
          <a:xfrm>
            <a:off x="502920" y="1353312"/>
            <a:ext cx="3657600" cy="45720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Xia et al. — Correlation with</a:t>
            </a:r>
            <a:endParaRPr lang="en-US" sz="1300" dirty="0"/>
          </a:p>
          <a:p>
            <a:pPr marL="0" indent="0">
              <a:buNone/>
            </a:pPr>
            <a:r>
              <a:rPr lang="en-US" sz="1300" b="1" dirty="0">
                <a:solidFill>
                  <a:srgbClr val="F59E0B"/>
                </a:solidFill>
                <a:latin typeface="Calibri" pitchFamily="34" charset="0"/>
                <a:ea typeface="Calibri" pitchFamily="34" charset="-122"/>
                <a:cs typeface="Calibri" pitchFamily="34" charset="-120"/>
              </a:rPr>
              <a:t>generalization failure</a:t>
            </a:r>
            <a:endParaRPr lang="en-US" sz="1300" dirty="0"/>
          </a:p>
        </p:txBody>
      </p:sp>
      <p:sp>
        <p:nvSpPr>
          <p:cNvPr id="9" name="Text 7"/>
          <p:cNvSpPr/>
          <p:nvPr/>
        </p:nvSpPr>
        <p:spPr>
          <a:xfrm>
            <a:off x="502920" y="1920240"/>
            <a:ext cx="265176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passive_voice_freq</a:t>
            </a:r>
            <a:endParaRPr lang="en-US" sz="1100" dirty="0"/>
          </a:p>
        </p:txBody>
      </p:sp>
      <p:sp>
        <p:nvSpPr>
          <p:cNvPr id="10" name="Text 8"/>
          <p:cNvSpPr/>
          <p:nvPr/>
        </p:nvSpPr>
        <p:spPr>
          <a:xfrm>
            <a:off x="3200400" y="1920240"/>
            <a:ext cx="914400" cy="292608"/>
          </a:xfrm>
          <a:prstGeom prst="rect">
            <a:avLst/>
          </a:prstGeom>
          <a:noFill/>
          <a:ln/>
        </p:spPr>
        <p:txBody>
          <a:bodyPr wrap="square" rtlCol="0" anchor="ctr"/>
          <a:lstStyle/>
          <a:p>
            <a:pPr marL="0" indent="0">
              <a:buNone/>
            </a:pPr>
            <a:r>
              <a:rPr lang="en-US" sz="1100" dirty="0">
                <a:solidFill>
                  <a:srgbClr val="F59E0B"/>
                </a:solidFill>
                <a:latin typeface="Calibri" pitchFamily="34" charset="0"/>
                <a:ea typeface="Calibri" pitchFamily="34" charset="-122"/>
                <a:cs typeface="Calibri" pitchFamily="34" charset="-120"/>
              </a:rPr>
              <a:t>r = 0.296</a:t>
            </a:r>
            <a:endParaRPr lang="en-US" sz="1100" dirty="0"/>
          </a:p>
        </p:txBody>
      </p:sp>
      <p:sp>
        <p:nvSpPr>
          <p:cNvPr id="11" name="Text 9"/>
          <p:cNvSpPr/>
          <p:nvPr/>
        </p:nvSpPr>
        <p:spPr>
          <a:xfrm>
            <a:off x="502920" y="2258568"/>
            <a:ext cx="265176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active_voice_freq</a:t>
            </a:r>
            <a:endParaRPr lang="en-US" sz="1100" dirty="0"/>
          </a:p>
        </p:txBody>
      </p:sp>
      <p:sp>
        <p:nvSpPr>
          <p:cNvPr id="12" name="Text 10"/>
          <p:cNvSpPr/>
          <p:nvPr/>
        </p:nvSpPr>
        <p:spPr>
          <a:xfrm>
            <a:off x="3200400" y="2258568"/>
            <a:ext cx="914400" cy="292608"/>
          </a:xfrm>
          <a:prstGeom prst="rect">
            <a:avLst/>
          </a:prstGeom>
          <a:noFill/>
          <a:ln/>
        </p:spPr>
        <p:txBody>
          <a:bodyPr wrap="square" rtlCol="0" anchor="ctr"/>
          <a:lstStyle/>
          <a:p>
            <a:pPr marL="0" indent="0">
              <a:buNone/>
            </a:pPr>
            <a:r>
              <a:rPr lang="en-US" sz="1100" dirty="0">
                <a:solidFill>
                  <a:srgbClr val="F59E0B"/>
                </a:solidFill>
                <a:latin typeface="Calibri" pitchFamily="34" charset="0"/>
                <a:ea typeface="Calibri" pitchFamily="34" charset="-122"/>
                <a:cs typeface="Calibri" pitchFamily="34" charset="-120"/>
              </a:rPr>
              <a:t>r = —</a:t>
            </a:r>
            <a:endParaRPr lang="en-US" sz="1100" dirty="0"/>
          </a:p>
        </p:txBody>
      </p:sp>
      <p:sp>
        <p:nvSpPr>
          <p:cNvPr id="13" name="Text 11"/>
          <p:cNvSpPr/>
          <p:nvPr/>
        </p:nvSpPr>
        <p:spPr>
          <a:xfrm>
            <a:off x="502920" y="2596896"/>
            <a:ext cx="265176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past_tense_freq</a:t>
            </a:r>
            <a:endParaRPr lang="en-US" sz="1100" dirty="0"/>
          </a:p>
        </p:txBody>
      </p:sp>
      <p:sp>
        <p:nvSpPr>
          <p:cNvPr id="14" name="Text 12"/>
          <p:cNvSpPr/>
          <p:nvPr/>
        </p:nvSpPr>
        <p:spPr>
          <a:xfrm>
            <a:off x="3200400" y="2596896"/>
            <a:ext cx="914400" cy="292608"/>
          </a:xfrm>
          <a:prstGeom prst="rect">
            <a:avLst/>
          </a:prstGeom>
          <a:noFill/>
          <a:ln/>
        </p:spPr>
        <p:txBody>
          <a:bodyPr wrap="square" rtlCol="0" anchor="ctr"/>
          <a:lstStyle/>
          <a:p>
            <a:pPr marL="0" indent="0">
              <a:buNone/>
            </a:pPr>
            <a:r>
              <a:rPr lang="en-US" sz="1100" dirty="0">
                <a:solidFill>
                  <a:srgbClr val="F59E0B"/>
                </a:solidFill>
                <a:latin typeface="Calibri" pitchFamily="34" charset="0"/>
                <a:ea typeface="Calibri" pitchFamily="34" charset="-122"/>
                <a:cs typeface="Calibri" pitchFamily="34" charset="-120"/>
              </a:rPr>
              <a:t>r = 0.416</a:t>
            </a:r>
            <a:endParaRPr lang="en-US" sz="1100" dirty="0"/>
          </a:p>
        </p:txBody>
      </p:sp>
      <p:sp>
        <p:nvSpPr>
          <p:cNvPr id="15" name="Text 13"/>
          <p:cNvSpPr/>
          <p:nvPr/>
        </p:nvSpPr>
        <p:spPr>
          <a:xfrm>
            <a:off x="502920" y="2935224"/>
            <a:ext cx="265176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present_tense_freq</a:t>
            </a:r>
            <a:endParaRPr lang="en-US" sz="1100" dirty="0"/>
          </a:p>
        </p:txBody>
      </p:sp>
      <p:sp>
        <p:nvSpPr>
          <p:cNvPr id="16" name="Text 14"/>
          <p:cNvSpPr/>
          <p:nvPr/>
        </p:nvSpPr>
        <p:spPr>
          <a:xfrm>
            <a:off x="3200400" y="2935224"/>
            <a:ext cx="914400" cy="292608"/>
          </a:xfrm>
          <a:prstGeom prst="rect">
            <a:avLst/>
          </a:prstGeom>
          <a:noFill/>
          <a:ln/>
        </p:spPr>
        <p:txBody>
          <a:bodyPr wrap="square" rtlCol="0" anchor="ctr"/>
          <a:lstStyle/>
          <a:p>
            <a:pPr marL="0" indent="0">
              <a:buNone/>
            </a:pPr>
            <a:r>
              <a:rPr lang="en-US" sz="1100" dirty="0">
                <a:solidFill>
                  <a:srgbClr val="F59E0B"/>
                </a:solidFill>
                <a:latin typeface="Calibri" pitchFamily="34" charset="0"/>
                <a:ea typeface="Calibri" pitchFamily="34" charset="-122"/>
                <a:cs typeface="Calibri" pitchFamily="34" charset="-120"/>
              </a:rPr>
              <a:t>r = —</a:t>
            </a:r>
            <a:endParaRPr lang="en-US" sz="1100" dirty="0"/>
          </a:p>
        </p:txBody>
      </p:sp>
      <p:sp>
        <p:nvSpPr>
          <p:cNvPr id="17" name="Text 15"/>
          <p:cNvSpPr/>
          <p:nvPr/>
        </p:nvSpPr>
        <p:spPr>
          <a:xfrm>
            <a:off x="502920" y="3273552"/>
            <a:ext cx="265176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future_tense_freq</a:t>
            </a:r>
            <a:endParaRPr lang="en-US" sz="1100" dirty="0"/>
          </a:p>
        </p:txBody>
      </p:sp>
      <p:sp>
        <p:nvSpPr>
          <p:cNvPr id="18" name="Text 16"/>
          <p:cNvSpPr/>
          <p:nvPr/>
        </p:nvSpPr>
        <p:spPr>
          <a:xfrm>
            <a:off x="3200400" y="3273552"/>
            <a:ext cx="914400" cy="292608"/>
          </a:xfrm>
          <a:prstGeom prst="rect">
            <a:avLst/>
          </a:prstGeom>
          <a:noFill/>
          <a:ln/>
        </p:spPr>
        <p:txBody>
          <a:bodyPr wrap="square" rtlCol="0" anchor="ctr"/>
          <a:lstStyle/>
          <a:p>
            <a:pPr marL="0" indent="0">
              <a:buNone/>
            </a:pPr>
            <a:r>
              <a:rPr lang="en-US" sz="1100" dirty="0">
                <a:solidFill>
                  <a:srgbClr val="F59E0B"/>
                </a:solidFill>
                <a:latin typeface="Calibri" pitchFamily="34" charset="0"/>
                <a:ea typeface="Calibri" pitchFamily="34" charset="-122"/>
                <a:cs typeface="Calibri" pitchFamily="34" charset="-120"/>
              </a:rPr>
              <a:t>r = —</a:t>
            </a:r>
            <a:endParaRPr lang="en-US" sz="1100" dirty="0"/>
          </a:p>
        </p:txBody>
      </p:sp>
      <p:sp>
        <p:nvSpPr>
          <p:cNvPr id="19" name="Text 17"/>
          <p:cNvSpPr/>
          <p:nvPr/>
        </p:nvSpPr>
        <p:spPr>
          <a:xfrm>
            <a:off x="502920" y="3611880"/>
            <a:ext cx="265176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first_person_freq</a:t>
            </a:r>
            <a:endParaRPr lang="en-US" sz="1100" dirty="0"/>
          </a:p>
        </p:txBody>
      </p:sp>
      <p:sp>
        <p:nvSpPr>
          <p:cNvPr id="20" name="Text 18"/>
          <p:cNvSpPr/>
          <p:nvPr/>
        </p:nvSpPr>
        <p:spPr>
          <a:xfrm>
            <a:off x="3200400" y="3611880"/>
            <a:ext cx="914400" cy="292608"/>
          </a:xfrm>
          <a:prstGeom prst="rect">
            <a:avLst/>
          </a:prstGeom>
          <a:noFill/>
          <a:ln/>
        </p:spPr>
        <p:txBody>
          <a:bodyPr wrap="square" rtlCol="0" anchor="ctr"/>
          <a:lstStyle/>
          <a:p>
            <a:pPr marL="0" indent="0">
              <a:buNone/>
            </a:pPr>
            <a:r>
              <a:rPr lang="en-US" sz="1100" dirty="0">
                <a:solidFill>
                  <a:srgbClr val="F59E0B"/>
                </a:solidFill>
                <a:latin typeface="Calibri" pitchFamily="34" charset="0"/>
                <a:ea typeface="Calibri" pitchFamily="34" charset="-122"/>
                <a:cs typeface="Calibri" pitchFamily="34" charset="-120"/>
              </a:rPr>
              <a:t>r = 0.385</a:t>
            </a:r>
            <a:endParaRPr lang="en-US" sz="1100" dirty="0"/>
          </a:p>
        </p:txBody>
      </p:sp>
      <p:sp>
        <p:nvSpPr>
          <p:cNvPr id="21" name="Text 19"/>
          <p:cNvSpPr/>
          <p:nvPr/>
        </p:nvSpPr>
        <p:spPr>
          <a:xfrm>
            <a:off x="502920" y="3950208"/>
            <a:ext cx="265176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second_person_freq</a:t>
            </a:r>
            <a:endParaRPr lang="en-US" sz="1100" dirty="0"/>
          </a:p>
        </p:txBody>
      </p:sp>
      <p:sp>
        <p:nvSpPr>
          <p:cNvPr id="22" name="Text 20"/>
          <p:cNvSpPr/>
          <p:nvPr/>
        </p:nvSpPr>
        <p:spPr>
          <a:xfrm>
            <a:off x="3200400" y="3950208"/>
            <a:ext cx="914400" cy="292608"/>
          </a:xfrm>
          <a:prstGeom prst="rect">
            <a:avLst/>
          </a:prstGeom>
          <a:noFill/>
          <a:ln/>
        </p:spPr>
        <p:txBody>
          <a:bodyPr wrap="square" rtlCol="0" anchor="ctr"/>
          <a:lstStyle/>
          <a:p>
            <a:pPr marL="0" indent="0">
              <a:buNone/>
            </a:pPr>
            <a:r>
              <a:rPr lang="en-US" sz="1100" dirty="0">
                <a:solidFill>
                  <a:srgbClr val="F59E0B"/>
                </a:solidFill>
                <a:latin typeface="Calibri" pitchFamily="34" charset="0"/>
                <a:ea typeface="Calibri" pitchFamily="34" charset="-122"/>
                <a:cs typeface="Calibri" pitchFamily="34" charset="-120"/>
              </a:rPr>
              <a:t>r = 0.385</a:t>
            </a:r>
            <a:endParaRPr lang="en-US" sz="1100" dirty="0"/>
          </a:p>
        </p:txBody>
      </p:sp>
      <p:sp>
        <p:nvSpPr>
          <p:cNvPr id="23" name="Text 21"/>
          <p:cNvSpPr/>
          <p:nvPr/>
        </p:nvSpPr>
        <p:spPr>
          <a:xfrm>
            <a:off x="502920" y="4288536"/>
            <a:ext cx="265176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third_person_freq</a:t>
            </a:r>
            <a:endParaRPr lang="en-US" sz="1100" dirty="0"/>
          </a:p>
        </p:txBody>
      </p:sp>
      <p:sp>
        <p:nvSpPr>
          <p:cNvPr id="24" name="Text 22"/>
          <p:cNvSpPr/>
          <p:nvPr/>
        </p:nvSpPr>
        <p:spPr>
          <a:xfrm>
            <a:off x="3200400" y="4288536"/>
            <a:ext cx="914400" cy="292608"/>
          </a:xfrm>
          <a:prstGeom prst="rect">
            <a:avLst/>
          </a:prstGeom>
          <a:noFill/>
          <a:ln/>
        </p:spPr>
        <p:txBody>
          <a:bodyPr wrap="square" rtlCol="0" anchor="ctr"/>
          <a:lstStyle/>
          <a:p>
            <a:pPr marL="0" indent="0">
              <a:buNone/>
            </a:pPr>
            <a:r>
              <a:rPr lang="en-US" sz="1100" dirty="0">
                <a:solidFill>
                  <a:srgbClr val="F59E0B"/>
                </a:solidFill>
                <a:latin typeface="Calibri" pitchFamily="34" charset="0"/>
                <a:ea typeface="Calibri" pitchFamily="34" charset="-122"/>
                <a:cs typeface="Calibri" pitchFamily="34" charset="-120"/>
              </a:rPr>
              <a:t>r = 0.385</a:t>
            </a:r>
            <a:endParaRPr lang="en-US" sz="1100" dirty="0"/>
          </a:p>
        </p:txBody>
      </p:sp>
      <p:sp>
        <p:nvSpPr>
          <p:cNvPr id="25" name="Text 23"/>
          <p:cNvSpPr/>
          <p:nvPr/>
        </p:nvSpPr>
        <p:spPr>
          <a:xfrm>
            <a:off x="502920" y="4617720"/>
            <a:ext cx="3657600" cy="411480"/>
          </a:xfrm>
          <a:prstGeom prst="rect">
            <a:avLst/>
          </a:prstGeom>
          <a:noFill/>
          <a:ln/>
        </p:spPr>
        <p:txBody>
          <a:bodyPr wrap="square"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Used for post-hoc EXPLANATION only</a:t>
            </a:r>
            <a:endParaRPr lang="en-US" sz="1100" dirty="0"/>
          </a:p>
          <a:p>
            <a:pPr marL="0" indent="0">
              <a:buNone/>
            </a:pPr>
            <a:r>
              <a:rPr lang="en-US" sz="1100" i="1" dirty="0">
                <a:solidFill>
                  <a:srgbClr val="94A3B8"/>
                </a:solidFill>
                <a:latin typeface="Calibri" pitchFamily="34" charset="0"/>
                <a:ea typeface="Calibri" pitchFamily="34" charset="-122"/>
                <a:cs typeface="Calibri" pitchFamily="34" charset="-120"/>
              </a:rPr>
              <a:t>Not tested as classifier inputs</a:t>
            </a:r>
            <a:endParaRPr lang="en-US" sz="1100" dirty="0"/>
          </a:p>
        </p:txBody>
      </p:sp>
      <p:sp>
        <p:nvSpPr>
          <p:cNvPr id="26" name="Shape 24"/>
          <p:cNvSpPr/>
          <p:nvPr/>
        </p:nvSpPr>
        <p:spPr>
          <a:xfrm>
            <a:off x="4480560" y="1261872"/>
            <a:ext cx="4297680" cy="356616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7" name="Shape 25"/>
          <p:cNvSpPr/>
          <p:nvPr/>
        </p:nvSpPr>
        <p:spPr>
          <a:xfrm>
            <a:off x="4480560" y="1261872"/>
            <a:ext cx="4297680" cy="54864"/>
          </a:xfrm>
          <a:prstGeom prst="rect">
            <a:avLst/>
          </a:prstGeom>
          <a:solidFill>
            <a:srgbClr val="EF4444"/>
          </a:solidFill>
          <a:ln w="12700">
            <a:solidFill>
              <a:srgbClr val="EF4444"/>
            </a:solidFill>
            <a:prstDash val="solid"/>
          </a:ln>
        </p:spPr>
        <p:txBody>
          <a:bodyPr/>
          <a:lstStyle/>
          <a:p>
            <a:endParaRPr lang="en-US"/>
          </a:p>
        </p:txBody>
      </p:sp>
      <p:sp>
        <p:nvSpPr>
          <p:cNvPr id="28" name="Text 26"/>
          <p:cNvSpPr/>
          <p:nvPr/>
        </p:nvSpPr>
        <p:spPr>
          <a:xfrm>
            <a:off x="4617720" y="1353312"/>
            <a:ext cx="4023360" cy="457200"/>
          </a:xfrm>
          <a:prstGeom prst="rect">
            <a:avLst/>
          </a:prstGeom>
          <a:noFill/>
          <a:ln/>
        </p:spPr>
        <p:txBody>
          <a:bodyPr wrap="square"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Our Results — Actual importance</a:t>
            </a:r>
            <a:endParaRPr lang="en-US" sz="1300" dirty="0"/>
          </a:p>
          <a:p>
            <a:pPr marL="0" indent="0">
              <a:buNone/>
            </a:pPr>
            <a:r>
              <a:rPr lang="en-US" sz="1300" b="1" dirty="0">
                <a:solidFill>
                  <a:srgbClr val="EF4444"/>
                </a:solidFill>
                <a:latin typeface="Calibri" pitchFamily="34" charset="0"/>
                <a:ea typeface="Calibri" pitchFamily="34" charset="-122"/>
                <a:cs typeface="Calibri" pitchFamily="34" charset="-120"/>
              </a:rPr>
              <a:t>when used as classifier inputs</a:t>
            </a:r>
            <a:endParaRPr lang="en-US" sz="1300" dirty="0"/>
          </a:p>
        </p:txBody>
      </p:sp>
      <p:sp>
        <p:nvSpPr>
          <p:cNvPr id="29" name="Text 27"/>
          <p:cNvSpPr/>
          <p:nvPr/>
        </p:nvSpPr>
        <p:spPr>
          <a:xfrm>
            <a:off x="4617720" y="1920240"/>
            <a:ext cx="201168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passive_voice_freq</a:t>
            </a:r>
            <a:endParaRPr lang="en-US" sz="1100" dirty="0"/>
          </a:p>
        </p:txBody>
      </p:sp>
      <p:sp>
        <p:nvSpPr>
          <p:cNvPr id="30" name="Text 28"/>
          <p:cNvSpPr/>
          <p:nvPr/>
        </p:nvSpPr>
        <p:spPr>
          <a:xfrm>
            <a:off x="6675120" y="1920240"/>
            <a:ext cx="914400" cy="292608"/>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Rank #40</a:t>
            </a:r>
            <a:endParaRPr lang="en-US" sz="1100" dirty="0"/>
          </a:p>
        </p:txBody>
      </p:sp>
      <p:sp>
        <p:nvSpPr>
          <p:cNvPr id="31" name="Text 29"/>
          <p:cNvSpPr/>
          <p:nvPr/>
        </p:nvSpPr>
        <p:spPr>
          <a:xfrm>
            <a:off x="7635240" y="1920240"/>
            <a:ext cx="10058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 0.0000</a:t>
            </a:r>
            <a:endParaRPr lang="en-US" sz="1000" dirty="0"/>
          </a:p>
        </p:txBody>
      </p:sp>
      <p:sp>
        <p:nvSpPr>
          <p:cNvPr id="32" name="Text 30"/>
          <p:cNvSpPr/>
          <p:nvPr/>
        </p:nvSpPr>
        <p:spPr>
          <a:xfrm>
            <a:off x="4617720" y="2258568"/>
            <a:ext cx="201168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active_voice_freq</a:t>
            </a:r>
            <a:endParaRPr lang="en-US" sz="1100" dirty="0"/>
          </a:p>
        </p:txBody>
      </p:sp>
      <p:sp>
        <p:nvSpPr>
          <p:cNvPr id="33" name="Text 31"/>
          <p:cNvSpPr/>
          <p:nvPr/>
        </p:nvSpPr>
        <p:spPr>
          <a:xfrm>
            <a:off x="6675120" y="2258568"/>
            <a:ext cx="914400" cy="292608"/>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Rank #29</a:t>
            </a:r>
            <a:endParaRPr lang="en-US" sz="1100" dirty="0"/>
          </a:p>
        </p:txBody>
      </p:sp>
      <p:sp>
        <p:nvSpPr>
          <p:cNvPr id="34" name="Text 32"/>
          <p:cNvSpPr/>
          <p:nvPr/>
        </p:nvSpPr>
        <p:spPr>
          <a:xfrm>
            <a:off x="7635240" y="2258568"/>
            <a:ext cx="10058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 0.0005</a:t>
            </a:r>
            <a:endParaRPr lang="en-US" sz="1000" dirty="0"/>
          </a:p>
        </p:txBody>
      </p:sp>
      <p:sp>
        <p:nvSpPr>
          <p:cNvPr id="35" name="Text 33"/>
          <p:cNvSpPr/>
          <p:nvPr/>
        </p:nvSpPr>
        <p:spPr>
          <a:xfrm>
            <a:off x="4617720" y="2596896"/>
            <a:ext cx="201168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past_tense_freq</a:t>
            </a:r>
            <a:endParaRPr lang="en-US" sz="1100" dirty="0"/>
          </a:p>
        </p:txBody>
      </p:sp>
      <p:sp>
        <p:nvSpPr>
          <p:cNvPr id="36" name="Text 34"/>
          <p:cNvSpPr/>
          <p:nvPr/>
        </p:nvSpPr>
        <p:spPr>
          <a:xfrm>
            <a:off x="6675120" y="2596896"/>
            <a:ext cx="914400" cy="292608"/>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Rank #35</a:t>
            </a:r>
            <a:endParaRPr lang="en-US" sz="1100" dirty="0"/>
          </a:p>
        </p:txBody>
      </p:sp>
      <p:sp>
        <p:nvSpPr>
          <p:cNvPr id="37" name="Text 35"/>
          <p:cNvSpPr/>
          <p:nvPr/>
        </p:nvSpPr>
        <p:spPr>
          <a:xfrm>
            <a:off x="7635240" y="2596896"/>
            <a:ext cx="10058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 0.0001</a:t>
            </a:r>
            <a:endParaRPr lang="en-US" sz="1000" dirty="0"/>
          </a:p>
        </p:txBody>
      </p:sp>
      <p:sp>
        <p:nvSpPr>
          <p:cNvPr id="38" name="Text 36"/>
          <p:cNvSpPr/>
          <p:nvPr/>
        </p:nvSpPr>
        <p:spPr>
          <a:xfrm>
            <a:off x="4617720" y="2935224"/>
            <a:ext cx="201168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present_tense_freq</a:t>
            </a:r>
            <a:endParaRPr lang="en-US" sz="1100" dirty="0"/>
          </a:p>
        </p:txBody>
      </p:sp>
      <p:sp>
        <p:nvSpPr>
          <p:cNvPr id="39" name="Text 37"/>
          <p:cNvSpPr/>
          <p:nvPr/>
        </p:nvSpPr>
        <p:spPr>
          <a:xfrm>
            <a:off x="6675120" y="2935224"/>
            <a:ext cx="914400" cy="292608"/>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Rank #33</a:t>
            </a:r>
            <a:endParaRPr lang="en-US" sz="1100" dirty="0"/>
          </a:p>
        </p:txBody>
      </p:sp>
      <p:sp>
        <p:nvSpPr>
          <p:cNvPr id="40" name="Text 38"/>
          <p:cNvSpPr/>
          <p:nvPr/>
        </p:nvSpPr>
        <p:spPr>
          <a:xfrm>
            <a:off x="7635240" y="2935224"/>
            <a:ext cx="10058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 0.0002</a:t>
            </a:r>
            <a:endParaRPr lang="en-US" sz="1000" dirty="0"/>
          </a:p>
        </p:txBody>
      </p:sp>
      <p:sp>
        <p:nvSpPr>
          <p:cNvPr id="41" name="Text 39"/>
          <p:cNvSpPr/>
          <p:nvPr/>
        </p:nvSpPr>
        <p:spPr>
          <a:xfrm>
            <a:off x="4617720" y="3273552"/>
            <a:ext cx="201168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future_tense_freq</a:t>
            </a:r>
            <a:endParaRPr lang="en-US" sz="1100" dirty="0"/>
          </a:p>
        </p:txBody>
      </p:sp>
      <p:sp>
        <p:nvSpPr>
          <p:cNvPr id="42" name="Text 40"/>
          <p:cNvSpPr/>
          <p:nvPr/>
        </p:nvSpPr>
        <p:spPr>
          <a:xfrm>
            <a:off x="6675120" y="3273552"/>
            <a:ext cx="914400" cy="292608"/>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Rank #16</a:t>
            </a:r>
            <a:endParaRPr lang="en-US" sz="1100" dirty="0"/>
          </a:p>
        </p:txBody>
      </p:sp>
      <p:sp>
        <p:nvSpPr>
          <p:cNvPr id="43" name="Text 41"/>
          <p:cNvSpPr/>
          <p:nvPr/>
        </p:nvSpPr>
        <p:spPr>
          <a:xfrm>
            <a:off x="7635240" y="3273552"/>
            <a:ext cx="10058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 0.0023</a:t>
            </a:r>
            <a:endParaRPr lang="en-US" sz="1000" dirty="0"/>
          </a:p>
        </p:txBody>
      </p:sp>
      <p:sp>
        <p:nvSpPr>
          <p:cNvPr id="44" name="Text 42"/>
          <p:cNvSpPr/>
          <p:nvPr/>
        </p:nvSpPr>
        <p:spPr>
          <a:xfrm>
            <a:off x="4617720" y="3611880"/>
            <a:ext cx="201168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first_person_freq</a:t>
            </a:r>
            <a:endParaRPr lang="en-US" sz="1100" dirty="0"/>
          </a:p>
        </p:txBody>
      </p:sp>
      <p:sp>
        <p:nvSpPr>
          <p:cNvPr id="45" name="Text 43"/>
          <p:cNvSpPr/>
          <p:nvPr/>
        </p:nvSpPr>
        <p:spPr>
          <a:xfrm>
            <a:off x="6675120" y="3611880"/>
            <a:ext cx="914400" cy="292608"/>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Rank #28</a:t>
            </a:r>
            <a:endParaRPr lang="en-US" sz="1100" dirty="0"/>
          </a:p>
        </p:txBody>
      </p:sp>
      <p:sp>
        <p:nvSpPr>
          <p:cNvPr id="46" name="Text 44"/>
          <p:cNvSpPr/>
          <p:nvPr/>
        </p:nvSpPr>
        <p:spPr>
          <a:xfrm>
            <a:off x="7635240" y="3611880"/>
            <a:ext cx="10058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 0.0005</a:t>
            </a:r>
            <a:endParaRPr lang="en-US" sz="1000" dirty="0"/>
          </a:p>
        </p:txBody>
      </p:sp>
      <p:sp>
        <p:nvSpPr>
          <p:cNvPr id="47" name="Text 45"/>
          <p:cNvSpPr/>
          <p:nvPr/>
        </p:nvSpPr>
        <p:spPr>
          <a:xfrm>
            <a:off x="4617720" y="3950208"/>
            <a:ext cx="201168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second_person_freq</a:t>
            </a:r>
            <a:endParaRPr lang="en-US" sz="1100" dirty="0"/>
          </a:p>
        </p:txBody>
      </p:sp>
      <p:sp>
        <p:nvSpPr>
          <p:cNvPr id="48" name="Text 46"/>
          <p:cNvSpPr/>
          <p:nvPr/>
        </p:nvSpPr>
        <p:spPr>
          <a:xfrm>
            <a:off x="6675120" y="3950208"/>
            <a:ext cx="914400" cy="292608"/>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Rank #14</a:t>
            </a:r>
            <a:endParaRPr lang="en-US" sz="1100" dirty="0"/>
          </a:p>
        </p:txBody>
      </p:sp>
      <p:sp>
        <p:nvSpPr>
          <p:cNvPr id="49" name="Text 47"/>
          <p:cNvSpPr/>
          <p:nvPr/>
        </p:nvSpPr>
        <p:spPr>
          <a:xfrm>
            <a:off x="7635240" y="3950208"/>
            <a:ext cx="10058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 0.0067</a:t>
            </a:r>
            <a:endParaRPr lang="en-US" sz="1000" dirty="0"/>
          </a:p>
        </p:txBody>
      </p:sp>
      <p:sp>
        <p:nvSpPr>
          <p:cNvPr id="50" name="Text 48"/>
          <p:cNvSpPr/>
          <p:nvPr/>
        </p:nvSpPr>
        <p:spPr>
          <a:xfrm>
            <a:off x="4617720" y="4288536"/>
            <a:ext cx="201168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third_person_freq</a:t>
            </a:r>
            <a:endParaRPr lang="en-US" sz="1100" dirty="0"/>
          </a:p>
        </p:txBody>
      </p:sp>
      <p:sp>
        <p:nvSpPr>
          <p:cNvPr id="51" name="Text 49"/>
          <p:cNvSpPr/>
          <p:nvPr/>
        </p:nvSpPr>
        <p:spPr>
          <a:xfrm>
            <a:off x="6675120" y="4288536"/>
            <a:ext cx="914400" cy="292608"/>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Rank #26</a:t>
            </a:r>
            <a:endParaRPr lang="en-US" sz="1100" dirty="0"/>
          </a:p>
        </p:txBody>
      </p:sp>
      <p:sp>
        <p:nvSpPr>
          <p:cNvPr id="52" name="Text 50"/>
          <p:cNvSpPr/>
          <p:nvPr/>
        </p:nvSpPr>
        <p:spPr>
          <a:xfrm>
            <a:off x="7635240" y="4288536"/>
            <a:ext cx="10058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 0.0006</a:t>
            </a:r>
            <a:endParaRPr lang="en-US" sz="1000" dirty="0"/>
          </a:p>
        </p:txBody>
      </p:sp>
      <p:sp>
        <p:nvSpPr>
          <p:cNvPr id="53" name="Text 51"/>
          <p:cNvSpPr/>
          <p:nvPr/>
        </p:nvSpPr>
        <p:spPr>
          <a:xfrm>
            <a:off x="4617720" y="4617720"/>
            <a:ext cx="4023360" cy="41148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syllables_per_word ranks #1 (50.6% importance)</a:t>
            </a:r>
            <a:endParaRPr lang="en-US" sz="1100" dirty="0"/>
          </a:p>
          <a:p>
            <a:pPr marL="0" indent="0">
              <a:buNone/>
            </a:pPr>
            <a:r>
              <a:rPr lang="en-US" sz="1100" b="1" dirty="0">
                <a:solidFill>
                  <a:srgbClr val="10B981"/>
                </a:solidFill>
                <a:latin typeface="Calibri" pitchFamily="34" charset="0"/>
                <a:ea typeface="Calibri" pitchFamily="34" charset="-122"/>
                <a:cs typeface="Calibri" pitchFamily="34" charset="-120"/>
              </a:rPr>
              <a:t>vocabulary complexity dominates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Evaluation Protocol</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Leave-One-Model-Out Cross-Validation (LOMO-CV)</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8 / 24</a:t>
            </a:r>
            <a:endParaRPr lang="en-US" sz="900" dirty="0"/>
          </a:p>
        </p:txBody>
      </p:sp>
      <p:sp>
        <p:nvSpPr>
          <p:cNvPr id="6" name="Shape 4"/>
          <p:cNvSpPr/>
          <p:nvPr/>
        </p:nvSpPr>
        <p:spPr>
          <a:xfrm>
            <a:off x="365760" y="1261872"/>
            <a:ext cx="8412480" cy="61264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Text 5"/>
          <p:cNvSpPr/>
          <p:nvPr/>
        </p:nvSpPr>
        <p:spPr>
          <a:xfrm>
            <a:off x="502920" y="1417320"/>
            <a:ext cx="777240" cy="274320"/>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Fold 1</a:t>
            </a:r>
            <a:endParaRPr lang="en-US" sz="1200" dirty="0"/>
          </a:p>
        </p:txBody>
      </p:sp>
      <p:sp>
        <p:nvSpPr>
          <p:cNvPr id="8" name="Shape 6"/>
          <p:cNvSpPr/>
          <p:nvPr/>
        </p:nvSpPr>
        <p:spPr>
          <a:xfrm>
            <a:off x="1417320" y="1335024"/>
            <a:ext cx="3474720" cy="457200"/>
          </a:xfrm>
          <a:prstGeom prst="rect">
            <a:avLst/>
          </a:prstGeom>
          <a:solidFill>
            <a:srgbClr val="EF4444">
              <a:alpha val="25000"/>
            </a:srgbClr>
          </a:solidFill>
          <a:ln w="12700">
            <a:solidFill>
              <a:srgbClr val="EF4444"/>
            </a:solidFill>
            <a:prstDash val="solid"/>
          </a:ln>
        </p:spPr>
        <p:txBody>
          <a:bodyPr/>
          <a:lstStyle/>
          <a:p>
            <a:endParaRPr lang="en-US"/>
          </a:p>
        </p:txBody>
      </p:sp>
      <p:sp>
        <p:nvSpPr>
          <p:cNvPr id="9" name="Text 7"/>
          <p:cNvSpPr/>
          <p:nvPr/>
        </p:nvSpPr>
        <p:spPr>
          <a:xfrm>
            <a:off x="1417320" y="1335024"/>
            <a:ext cx="34747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 GPT-4o (993 AI + 200 Human = 1,193)</a:t>
            </a:r>
            <a:endParaRPr lang="en-US" sz="1100" dirty="0"/>
          </a:p>
        </p:txBody>
      </p:sp>
      <p:sp>
        <p:nvSpPr>
          <p:cNvPr id="10" name="Text 8"/>
          <p:cNvSpPr/>
          <p:nvPr/>
        </p:nvSpPr>
        <p:spPr>
          <a:xfrm>
            <a:off x="5074920" y="1417320"/>
            <a:ext cx="3566160" cy="27432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Train: Claude + Gemini + LLaMA + Qwen + 800 Human</a:t>
            </a:r>
            <a:endParaRPr lang="en-US" sz="1050" dirty="0"/>
          </a:p>
        </p:txBody>
      </p:sp>
      <p:sp>
        <p:nvSpPr>
          <p:cNvPr id="11" name="Shape 9"/>
          <p:cNvSpPr/>
          <p:nvPr/>
        </p:nvSpPr>
        <p:spPr>
          <a:xfrm>
            <a:off x="365760" y="1993392"/>
            <a:ext cx="8412480" cy="61264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2" name="Text 10"/>
          <p:cNvSpPr/>
          <p:nvPr/>
        </p:nvSpPr>
        <p:spPr>
          <a:xfrm>
            <a:off x="502920" y="2148840"/>
            <a:ext cx="777240" cy="274320"/>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Fold 2</a:t>
            </a:r>
            <a:endParaRPr lang="en-US" sz="1200" dirty="0"/>
          </a:p>
        </p:txBody>
      </p:sp>
      <p:sp>
        <p:nvSpPr>
          <p:cNvPr id="13" name="Shape 11"/>
          <p:cNvSpPr/>
          <p:nvPr/>
        </p:nvSpPr>
        <p:spPr>
          <a:xfrm>
            <a:off x="1417320" y="2066544"/>
            <a:ext cx="3474720" cy="457200"/>
          </a:xfrm>
          <a:prstGeom prst="rect">
            <a:avLst/>
          </a:prstGeom>
          <a:solidFill>
            <a:srgbClr val="EF4444">
              <a:alpha val="25000"/>
            </a:srgbClr>
          </a:solidFill>
          <a:ln w="12700">
            <a:solidFill>
              <a:srgbClr val="EF4444"/>
            </a:solidFill>
            <a:prstDash val="solid"/>
          </a:ln>
        </p:spPr>
        <p:txBody>
          <a:bodyPr/>
          <a:lstStyle/>
          <a:p>
            <a:endParaRPr lang="en-US"/>
          </a:p>
        </p:txBody>
      </p:sp>
      <p:sp>
        <p:nvSpPr>
          <p:cNvPr id="14" name="Text 12"/>
          <p:cNvSpPr/>
          <p:nvPr/>
        </p:nvSpPr>
        <p:spPr>
          <a:xfrm>
            <a:off x="1417320" y="2066544"/>
            <a:ext cx="34747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 Claude (999 AI + 200 Human = 1,199)</a:t>
            </a:r>
            <a:endParaRPr lang="en-US" sz="1100" dirty="0"/>
          </a:p>
        </p:txBody>
      </p:sp>
      <p:sp>
        <p:nvSpPr>
          <p:cNvPr id="15" name="Text 13"/>
          <p:cNvSpPr/>
          <p:nvPr/>
        </p:nvSpPr>
        <p:spPr>
          <a:xfrm>
            <a:off x="5074920" y="2148840"/>
            <a:ext cx="3566160" cy="27432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Train: GPT-4o + Gemini + LLaMA + Qwen + 800 Human</a:t>
            </a:r>
            <a:endParaRPr lang="en-US" sz="1050" dirty="0"/>
          </a:p>
        </p:txBody>
      </p:sp>
      <p:sp>
        <p:nvSpPr>
          <p:cNvPr id="16" name="Shape 14"/>
          <p:cNvSpPr/>
          <p:nvPr/>
        </p:nvSpPr>
        <p:spPr>
          <a:xfrm>
            <a:off x="365760" y="2724912"/>
            <a:ext cx="8412480" cy="61264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7" name="Text 15"/>
          <p:cNvSpPr/>
          <p:nvPr/>
        </p:nvSpPr>
        <p:spPr>
          <a:xfrm>
            <a:off x="502920" y="2880360"/>
            <a:ext cx="777240" cy="274320"/>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Fold 3</a:t>
            </a:r>
            <a:endParaRPr lang="en-US" sz="1200" dirty="0"/>
          </a:p>
        </p:txBody>
      </p:sp>
      <p:sp>
        <p:nvSpPr>
          <p:cNvPr id="18" name="Shape 16"/>
          <p:cNvSpPr/>
          <p:nvPr/>
        </p:nvSpPr>
        <p:spPr>
          <a:xfrm>
            <a:off x="1417320" y="2798064"/>
            <a:ext cx="3474720" cy="457200"/>
          </a:xfrm>
          <a:prstGeom prst="rect">
            <a:avLst/>
          </a:prstGeom>
          <a:solidFill>
            <a:srgbClr val="EF4444">
              <a:alpha val="25000"/>
            </a:srgbClr>
          </a:solidFill>
          <a:ln w="12700">
            <a:solidFill>
              <a:srgbClr val="EF4444"/>
            </a:solidFill>
            <a:prstDash val="solid"/>
          </a:ln>
        </p:spPr>
        <p:txBody>
          <a:bodyPr/>
          <a:lstStyle/>
          <a:p>
            <a:endParaRPr lang="en-US"/>
          </a:p>
        </p:txBody>
      </p:sp>
      <p:sp>
        <p:nvSpPr>
          <p:cNvPr id="19" name="Text 17"/>
          <p:cNvSpPr/>
          <p:nvPr/>
        </p:nvSpPr>
        <p:spPr>
          <a:xfrm>
            <a:off x="1417320" y="2798064"/>
            <a:ext cx="34747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 Gemini (993 AI + 200 Human = 1,193)</a:t>
            </a:r>
            <a:endParaRPr lang="en-US" sz="1100" dirty="0"/>
          </a:p>
        </p:txBody>
      </p:sp>
      <p:sp>
        <p:nvSpPr>
          <p:cNvPr id="20" name="Text 18"/>
          <p:cNvSpPr/>
          <p:nvPr/>
        </p:nvSpPr>
        <p:spPr>
          <a:xfrm>
            <a:off x="5074920" y="2880360"/>
            <a:ext cx="3566160" cy="27432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Train: GPT-4o + Claude + LLaMA + Qwen + 800 Human</a:t>
            </a:r>
            <a:endParaRPr lang="en-US" sz="1050" dirty="0"/>
          </a:p>
        </p:txBody>
      </p:sp>
      <p:sp>
        <p:nvSpPr>
          <p:cNvPr id="21" name="Shape 19"/>
          <p:cNvSpPr/>
          <p:nvPr/>
        </p:nvSpPr>
        <p:spPr>
          <a:xfrm>
            <a:off x="365760" y="3456432"/>
            <a:ext cx="8412480" cy="61264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2" name="Text 20"/>
          <p:cNvSpPr/>
          <p:nvPr/>
        </p:nvSpPr>
        <p:spPr>
          <a:xfrm>
            <a:off x="502920" y="3611880"/>
            <a:ext cx="777240" cy="274320"/>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Fold 4</a:t>
            </a:r>
            <a:endParaRPr lang="en-US" sz="1200" dirty="0"/>
          </a:p>
        </p:txBody>
      </p:sp>
      <p:sp>
        <p:nvSpPr>
          <p:cNvPr id="23" name="Shape 21"/>
          <p:cNvSpPr/>
          <p:nvPr/>
        </p:nvSpPr>
        <p:spPr>
          <a:xfrm>
            <a:off x="1417320" y="3529584"/>
            <a:ext cx="3474720" cy="457200"/>
          </a:xfrm>
          <a:prstGeom prst="rect">
            <a:avLst/>
          </a:prstGeom>
          <a:solidFill>
            <a:srgbClr val="EF4444">
              <a:alpha val="25000"/>
            </a:srgbClr>
          </a:solidFill>
          <a:ln w="12700">
            <a:solidFill>
              <a:srgbClr val="EF4444"/>
            </a:solidFill>
            <a:prstDash val="solid"/>
          </a:ln>
        </p:spPr>
        <p:txBody>
          <a:bodyPr/>
          <a:lstStyle/>
          <a:p>
            <a:endParaRPr lang="en-US"/>
          </a:p>
        </p:txBody>
      </p:sp>
      <p:sp>
        <p:nvSpPr>
          <p:cNvPr id="24" name="Text 22"/>
          <p:cNvSpPr/>
          <p:nvPr/>
        </p:nvSpPr>
        <p:spPr>
          <a:xfrm>
            <a:off x="1417320" y="3529584"/>
            <a:ext cx="34747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 LLaMA (1,000 AI + 200 Human = 1,200)</a:t>
            </a:r>
            <a:endParaRPr lang="en-US" sz="1100" dirty="0"/>
          </a:p>
        </p:txBody>
      </p:sp>
      <p:sp>
        <p:nvSpPr>
          <p:cNvPr id="25" name="Text 23"/>
          <p:cNvSpPr/>
          <p:nvPr/>
        </p:nvSpPr>
        <p:spPr>
          <a:xfrm>
            <a:off x="5074920" y="3611880"/>
            <a:ext cx="3566160" cy="27432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Train: GPT-4o + Claude + Gemini + Qwen + 800 Human</a:t>
            </a:r>
            <a:endParaRPr lang="en-US" sz="1050" dirty="0"/>
          </a:p>
        </p:txBody>
      </p:sp>
      <p:sp>
        <p:nvSpPr>
          <p:cNvPr id="26" name="Shape 24"/>
          <p:cNvSpPr/>
          <p:nvPr/>
        </p:nvSpPr>
        <p:spPr>
          <a:xfrm>
            <a:off x="365760" y="4187952"/>
            <a:ext cx="8412480" cy="61264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7" name="Text 25"/>
          <p:cNvSpPr/>
          <p:nvPr/>
        </p:nvSpPr>
        <p:spPr>
          <a:xfrm>
            <a:off x="502920" y="4343400"/>
            <a:ext cx="777240" cy="274320"/>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Fold 5</a:t>
            </a:r>
            <a:endParaRPr lang="en-US" sz="1200" dirty="0"/>
          </a:p>
        </p:txBody>
      </p:sp>
      <p:sp>
        <p:nvSpPr>
          <p:cNvPr id="28" name="Shape 26"/>
          <p:cNvSpPr/>
          <p:nvPr/>
        </p:nvSpPr>
        <p:spPr>
          <a:xfrm>
            <a:off x="1417320" y="4261104"/>
            <a:ext cx="3474720" cy="457200"/>
          </a:xfrm>
          <a:prstGeom prst="rect">
            <a:avLst/>
          </a:prstGeom>
          <a:solidFill>
            <a:srgbClr val="EF4444">
              <a:alpha val="25000"/>
            </a:srgbClr>
          </a:solidFill>
          <a:ln w="12700">
            <a:solidFill>
              <a:srgbClr val="EF4444"/>
            </a:solidFill>
            <a:prstDash val="solid"/>
          </a:ln>
        </p:spPr>
        <p:txBody>
          <a:bodyPr/>
          <a:lstStyle/>
          <a:p>
            <a:endParaRPr lang="en-US"/>
          </a:p>
        </p:txBody>
      </p:sp>
      <p:sp>
        <p:nvSpPr>
          <p:cNvPr id="29" name="Text 27"/>
          <p:cNvSpPr/>
          <p:nvPr/>
        </p:nvSpPr>
        <p:spPr>
          <a:xfrm>
            <a:off x="1417320" y="4261104"/>
            <a:ext cx="34747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 Qwen (996 AI + 200 Human = 1,196)</a:t>
            </a:r>
            <a:endParaRPr lang="en-US" sz="1100" dirty="0"/>
          </a:p>
        </p:txBody>
      </p:sp>
      <p:sp>
        <p:nvSpPr>
          <p:cNvPr id="30" name="Text 28"/>
          <p:cNvSpPr/>
          <p:nvPr/>
        </p:nvSpPr>
        <p:spPr>
          <a:xfrm>
            <a:off x="5074920" y="4343400"/>
            <a:ext cx="3566160" cy="27432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Train: GPT-4o + Claude + Gemini + LLaMA + 800 Human</a:t>
            </a:r>
            <a:endParaRPr lang="en-US" sz="1050" dirty="0"/>
          </a:p>
        </p:txBody>
      </p:sp>
      <p:sp>
        <p:nvSpPr>
          <p:cNvPr id="31" name="Text 29"/>
          <p:cNvSpPr/>
          <p:nvPr/>
        </p:nvSpPr>
        <p:spPr>
          <a:xfrm>
            <a:off x="365760" y="4919472"/>
            <a:ext cx="8412480" cy="210312"/>
          </a:xfrm>
          <a:prstGeom prst="rect">
            <a:avLst/>
          </a:prstGeom>
          <a:noFill/>
          <a:ln/>
        </p:spPr>
        <p:txBody>
          <a:bodyPr wrap="square"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Human samples split equally across folds (200 per test fold). Per-fold StandardScaler fitted on train only — no data leakage. Metrics: F1, Accuracy, AUC-ROC, FPR.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Classification Models</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Feature-based vs neural baselines</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 / 24</a:t>
            </a:r>
            <a:endParaRPr lang="en-US" sz="900" dirty="0"/>
          </a:p>
        </p:txBody>
      </p:sp>
      <p:sp>
        <p:nvSpPr>
          <p:cNvPr id="6" name="Shape 4"/>
          <p:cNvSpPr/>
          <p:nvPr/>
        </p:nvSpPr>
        <p:spPr>
          <a:xfrm>
            <a:off x="365760" y="1261872"/>
            <a:ext cx="5120640" cy="33832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65760" y="1261872"/>
            <a:ext cx="5120640" cy="54864"/>
          </a:xfrm>
          <a:prstGeom prst="rect">
            <a:avLst/>
          </a:prstGeom>
          <a:solidFill>
            <a:srgbClr val="10B981"/>
          </a:solidFill>
          <a:ln w="12700">
            <a:solidFill>
              <a:srgbClr val="10B981"/>
            </a:solidFill>
            <a:prstDash val="solid"/>
          </a:ln>
        </p:spPr>
        <p:txBody>
          <a:bodyPr/>
          <a:lstStyle/>
          <a:p>
            <a:endParaRPr lang="en-US"/>
          </a:p>
        </p:txBody>
      </p:sp>
      <p:sp>
        <p:nvSpPr>
          <p:cNvPr id="8" name="Text 6"/>
          <p:cNvSpPr/>
          <p:nvPr/>
        </p:nvSpPr>
        <p:spPr>
          <a:xfrm>
            <a:off x="502920" y="1353312"/>
            <a:ext cx="4846320" cy="347472"/>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Our Models — Feature-Based (41 features)</a:t>
            </a:r>
            <a:endParaRPr lang="en-US" sz="1300" dirty="0"/>
          </a:p>
        </p:txBody>
      </p:sp>
      <p:sp>
        <p:nvSpPr>
          <p:cNvPr id="9" name="Text 7"/>
          <p:cNvSpPr/>
          <p:nvPr/>
        </p:nvSpPr>
        <p:spPr>
          <a:xfrm>
            <a:off x="548640" y="1828800"/>
            <a:ext cx="475488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Logistic Regression</a:t>
            </a:r>
            <a:endParaRPr lang="en-US" sz="1300" dirty="0"/>
          </a:p>
        </p:txBody>
      </p:sp>
      <p:sp>
        <p:nvSpPr>
          <p:cNvPr id="10" name="Text 8"/>
          <p:cNvSpPr/>
          <p:nvPr/>
        </p:nvSpPr>
        <p:spPr>
          <a:xfrm>
            <a:off x="548640" y="2084832"/>
            <a:ext cx="4754880" cy="228600"/>
          </a:xfrm>
          <a:prstGeom prst="rect">
            <a:avLst/>
          </a:prstGeom>
          <a:noFill/>
          <a:ln/>
        </p:spPr>
        <p:txBody>
          <a:bodyPr wrap="square" rtlCol="0" anchor="ctr"/>
          <a:lstStyle/>
          <a:p>
            <a:pPr marL="0" indent="0">
              <a:buNone/>
            </a:pPr>
            <a:r>
              <a:rPr lang="en-US" sz="1050" i="1" dirty="0">
                <a:solidFill>
                  <a:srgbClr val="00D4FF"/>
                </a:solidFill>
                <a:latin typeface="Calibri" pitchFamily="34" charset="0"/>
                <a:ea typeface="Calibri" pitchFamily="34" charset="-122"/>
                <a:cs typeface="Calibri" pitchFamily="34" charset="-120"/>
              </a:rPr>
              <a:t>L2, C=1.0, max_iter=1000</a:t>
            </a:r>
            <a:endParaRPr lang="en-US" sz="1050" dirty="0"/>
          </a:p>
        </p:txBody>
      </p:sp>
      <p:sp>
        <p:nvSpPr>
          <p:cNvPr id="11" name="Text 9"/>
          <p:cNvSpPr/>
          <p:nvPr/>
        </p:nvSpPr>
        <p:spPr>
          <a:xfrm>
            <a:off x="548640" y="2331720"/>
            <a:ext cx="4754880" cy="22860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Linear baseline — tests linear separability of features</a:t>
            </a:r>
            <a:endParaRPr lang="en-US" sz="1050" dirty="0"/>
          </a:p>
        </p:txBody>
      </p:sp>
      <p:sp>
        <p:nvSpPr>
          <p:cNvPr id="12" name="Text 10"/>
          <p:cNvSpPr/>
          <p:nvPr/>
        </p:nvSpPr>
        <p:spPr>
          <a:xfrm>
            <a:off x="548640" y="2724912"/>
            <a:ext cx="475488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Random Forest</a:t>
            </a:r>
            <a:endParaRPr lang="en-US" sz="1300" dirty="0"/>
          </a:p>
        </p:txBody>
      </p:sp>
      <p:sp>
        <p:nvSpPr>
          <p:cNvPr id="13" name="Text 11"/>
          <p:cNvSpPr/>
          <p:nvPr/>
        </p:nvSpPr>
        <p:spPr>
          <a:xfrm>
            <a:off x="548640" y="2980944"/>
            <a:ext cx="4754880" cy="228600"/>
          </a:xfrm>
          <a:prstGeom prst="rect">
            <a:avLst/>
          </a:prstGeom>
          <a:noFill/>
          <a:ln/>
        </p:spPr>
        <p:txBody>
          <a:bodyPr wrap="square" rtlCol="0" anchor="ctr"/>
          <a:lstStyle/>
          <a:p>
            <a:pPr marL="0" indent="0">
              <a:buNone/>
            </a:pPr>
            <a:r>
              <a:rPr lang="en-US" sz="1050" i="1" dirty="0">
                <a:solidFill>
                  <a:srgbClr val="00D4FF"/>
                </a:solidFill>
                <a:latin typeface="Calibri" pitchFamily="34" charset="0"/>
                <a:ea typeface="Calibri" pitchFamily="34" charset="-122"/>
                <a:cs typeface="Calibri" pitchFamily="34" charset="-120"/>
              </a:rPr>
              <a:t>100 estimators, max_depth=10, n_jobs=-1</a:t>
            </a:r>
            <a:endParaRPr lang="en-US" sz="1050" dirty="0"/>
          </a:p>
        </p:txBody>
      </p:sp>
      <p:sp>
        <p:nvSpPr>
          <p:cNvPr id="14" name="Text 12"/>
          <p:cNvSpPr/>
          <p:nvPr/>
        </p:nvSpPr>
        <p:spPr>
          <a:xfrm>
            <a:off x="548640" y="3227832"/>
            <a:ext cx="4754880" cy="22860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Provides feature importance scores across folds</a:t>
            </a:r>
            <a:endParaRPr lang="en-US" sz="1050" dirty="0"/>
          </a:p>
        </p:txBody>
      </p:sp>
      <p:sp>
        <p:nvSpPr>
          <p:cNvPr id="15" name="Text 13"/>
          <p:cNvSpPr/>
          <p:nvPr/>
        </p:nvSpPr>
        <p:spPr>
          <a:xfrm>
            <a:off x="548640" y="3621024"/>
            <a:ext cx="475488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XGBoost</a:t>
            </a:r>
            <a:endParaRPr lang="en-US" sz="1300" dirty="0"/>
          </a:p>
        </p:txBody>
      </p:sp>
      <p:sp>
        <p:nvSpPr>
          <p:cNvPr id="16" name="Text 14"/>
          <p:cNvSpPr/>
          <p:nvPr/>
        </p:nvSpPr>
        <p:spPr>
          <a:xfrm>
            <a:off x="548640" y="3877056"/>
            <a:ext cx="4754880" cy="228600"/>
          </a:xfrm>
          <a:prstGeom prst="rect">
            <a:avLst/>
          </a:prstGeom>
          <a:noFill/>
          <a:ln/>
        </p:spPr>
        <p:txBody>
          <a:bodyPr wrap="square" rtlCol="0" anchor="ctr"/>
          <a:lstStyle/>
          <a:p>
            <a:pPr marL="0" indent="0">
              <a:buNone/>
            </a:pPr>
            <a:r>
              <a:rPr lang="en-US" sz="1050" i="1" dirty="0">
                <a:solidFill>
                  <a:srgbClr val="00D4FF"/>
                </a:solidFill>
                <a:latin typeface="Calibri" pitchFamily="34" charset="0"/>
                <a:ea typeface="Calibri" pitchFamily="34" charset="-122"/>
                <a:cs typeface="Calibri" pitchFamily="34" charset="-120"/>
              </a:rPr>
              <a:t>lr=0.1, max_depth=6, 100 estimators</a:t>
            </a:r>
            <a:endParaRPr lang="en-US" sz="1050" dirty="0"/>
          </a:p>
        </p:txBody>
      </p:sp>
      <p:sp>
        <p:nvSpPr>
          <p:cNvPr id="17" name="Text 15"/>
          <p:cNvSpPr/>
          <p:nvPr/>
        </p:nvSpPr>
        <p:spPr>
          <a:xfrm>
            <a:off x="548640" y="4123944"/>
            <a:ext cx="4754880" cy="22860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Gradient boosting — strongest feature importance ranking</a:t>
            </a:r>
            <a:endParaRPr lang="en-US" sz="1050" dirty="0"/>
          </a:p>
        </p:txBody>
      </p:sp>
      <p:sp>
        <p:nvSpPr>
          <p:cNvPr id="18" name="Shape 16"/>
          <p:cNvSpPr/>
          <p:nvPr/>
        </p:nvSpPr>
        <p:spPr>
          <a:xfrm>
            <a:off x="5669280" y="1261872"/>
            <a:ext cx="3108960" cy="33832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9" name="Shape 17"/>
          <p:cNvSpPr/>
          <p:nvPr/>
        </p:nvSpPr>
        <p:spPr>
          <a:xfrm>
            <a:off x="5669280" y="1261872"/>
            <a:ext cx="3108960" cy="54864"/>
          </a:xfrm>
          <a:prstGeom prst="rect">
            <a:avLst/>
          </a:prstGeom>
          <a:solidFill>
            <a:srgbClr val="EF4444"/>
          </a:solidFill>
          <a:ln w="12700">
            <a:solidFill>
              <a:srgbClr val="EF4444"/>
            </a:solidFill>
            <a:prstDash val="solid"/>
          </a:ln>
        </p:spPr>
        <p:txBody>
          <a:bodyPr/>
          <a:lstStyle/>
          <a:p>
            <a:endParaRPr lang="en-US"/>
          </a:p>
        </p:txBody>
      </p:sp>
      <p:sp>
        <p:nvSpPr>
          <p:cNvPr id="20" name="Text 18"/>
          <p:cNvSpPr/>
          <p:nvPr/>
        </p:nvSpPr>
        <p:spPr>
          <a:xfrm>
            <a:off x="5806440" y="1353312"/>
            <a:ext cx="2834640" cy="347472"/>
          </a:xfrm>
          <a:prstGeom prst="rect">
            <a:avLst/>
          </a:prstGeom>
          <a:noFill/>
          <a:ln/>
        </p:spPr>
        <p:txBody>
          <a:bodyPr wrap="square"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Neural Baselines</a:t>
            </a:r>
            <a:endParaRPr lang="en-US" sz="1300" dirty="0"/>
          </a:p>
        </p:txBody>
      </p:sp>
      <p:sp>
        <p:nvSpPr>
          <p:cNvPr id="21" name="Text 19"/>
          <p:cNvSpPr/>
          <p:nvPr/>
        </p:nvSpPr>
        <p:spPr>
          <a:xfrm>
            <a:off x="5806440" y="1874520"/>
            <a:ext cx="2834640" cy="457200"/>
          </a:xfrm>
          <a:prstGeom prst="rect">
            <a:avLst/>
          </a:prstGeom>
          <a:noFill/>
          <a:ln/>
        </p:spPr>
        <p:txBody>
          <a:bodyPr wrap="square"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roberta-base-openai-detector</a:t>
            </a:r>
            <a:endParaRPr lang="en-US" sz="1200" dirty="0"/>
          </a:p>
        </p:txBody>
      </p:sp>
      <p:sp>
        <p:nvSpPr>
          <p:cNvPr id="22" name="Text 20"/>
          <p:cNvSpPr/>
          <p:nvPr/>
        </p:nvSpPr>
        <p:spPr>
          <a:xfrm>
            <a:off x="5806440" y="2350008"/>
            <a:ext cx="2834640" cy="5029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Fine-tuned on GPT-2 outputs</a:t>
            </a:r>
            <a:endParaRPr lang="en-US" sz="1100" dirty="0"/>
          </a:p>
          <a:p>
            <a:pPr marL="0" indent="0">
              <a:buNone/>
            </a:pPr>
            <a:r>
              <a:rPr lang="en-US" sz="1100" dirty="0">
                <a:solidFill>
                  <a:srgbClr val="94A3B8"/>
                </a:solidFill>
                <a:latin typeface="Calibri" pitchFamily="34" charset="0"/>
                <a:ea typeface="Calibri" pitchFamily="34" charset="-122"/>
                <a:cs typeface="Calibri" pitchFamily="34" charset="-120"/>
              </a:rPr>
              <a:t>by OpenAI</a:t>
            </a:r>
            <a:endParaRPr lang="en-US" sz="1100" dirty="0"/>
          </a:p>
        </p:txBody>
      </p:sp>
      <p:sp>
        <p:nvSpPr>
          <p:cNvPr id="23" name="Text 21"/>
          <p:cNvSpPr/>
          <p:nvPr/>
        </p:nvSpPr>
        <p:spPr>
          <a:xfrm>
            <a:off x="5806440" y="3337560"/>
            <a:ext cx="2834640" cy="457200"/>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Hello-SimpleAI</a:t>
            </a:r>
            <a:endParaRPr lang="en-US" sz="1200" dirty="0"/>
          </a:p>
          <a:p>
            <a:pPr marL="0" indent="0">
              <a:buNone/>
            </a:pPr>
            <a:r>
              <a:rPr lang="en-US" sz="1200" b="1" dirty="0">
                <a:solidFill>
                  <a:srgbClr val="F59E0B"/>
                </a:solidFill>
                <a:latin typeface="Calibri" pitchFamily="34" charset="0"/>
                <a:ea typeface="Calibri" pitchFamily="34" charset="-122"/>
                <a:cs typeface="Calibri" pitchFamily="34" charset="-120"/>
              </a:rPr>
              <a:t>chatgpt-detector-roberta</a:t>
            </a:r>
            <a:endParaRPr lang="en-US" sz="1200" dirty="0"/>
          </a:p>
        </p:txBody>
      </p:sp>
      <p:sp>
        <p:nvSpPr>
          <p:cNvPr id="24" name="Text 22"/>
          <p:cNvSpPr/>
          <p:nvPr/>
        </p:nvSpPr>
        <p:spPr>
          <a:xfrm>
            <a:off x="5806440" y="3813048"/>
            <a:ext cx="2834640" cy="5029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Fine-tuned specifically</a:t>
            </a:r>
            <a:endParaRPr lang="en-US" sz="1100" dirty="0"/>
          </a:p>
          <a:p>
            <a:pPr marL="0" indent="0">
              <a:buNone/>
            </a:pPr>
            <a:r>
              <a:rPr lang="en-US" sz="1100" dirty="0">
                <a:solidFill>
                  <a:srgbClr val="94A3B8"/>
                </a:solidFill>
                <a:latin typeface="Calibri" pitchFamily="34" charset="0"/>
                <a:ea typeface="Calibri" pitchFamily="34" charset="-122"/>
                <a:cs typeface="Calibri" pitchFamily="34" charset="-120"/>
              </a:rPr>
              <a:t>on ChatGPT text</a:t>
            </a:r>
            <a:endParaRPr lang="en-US" sz="1100" dirty="0"/>
          </a:p>
        </p:txBody>
      </p:sp>
      <p:sp>
        <p:nvSpPr>
          <p:cNvPr id="25" name="Text 23"/>
          <p:cNvSpPr/>
          <p:nvPr/>
        </p:nvSpPr>
        <p:spPr>
          <a:xfrm>
            <a:off x="365760" y="4773168"/>
            <a:ext cx="8412480" cy="320040"/>
          </a:xfrm>
          <a:prstGeom prst="rect">
            <a:avLst/>
          </a:prstGeom>
          <a:noFill/>
          <a:ln/>
        </p:spPr>
        <p:txBody>
          <a:bodyPr wrap="square"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Hybrid ensemble proposed but not implemented — classical models achieved 99%+ alone, making ensemble less scientifically meaningful.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Results Overview</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All 5 classifiers × 5 folds</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 / 24</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234440"/>
          <a:ext cx="6858000" cy="6164580"/>
        </p:xfrm>
        <a:graphic>
          <a:graphicData uri="http://schemas.openxmlformats.org/drawingml/2006/table">
            <a:tbl>
              <a:tblPr/>
              <a:tblGrid>
                <a:gridCol w="14630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144194">
                <a:tc>
                  <a:txBody>
                    <a:bodyPr/>
                    <a:lstStyle/>
                    <a:p>
                      <a:pPr marL="0" indent="0">
                        <a:buNone/>
                      </a:pPr>
                      <a:r>
                        <a:rPr lang="en-US" sz="1100" b="1" dirty="0">
                          <a:solidFill>
                            <a:srgbClr val="FFFFFF"/>
                          </a:solidFill>
                        </a:rPr>
                        <a:t>Classifier</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rPr>
                        <a:t>Test Model</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rPr>
                        <a:t>Accuracy</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rPr>
                        <a:t>F1</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rPr>
                        <a:t>AUC</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rPr>
                        <a:t>FPR</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144194">
                <a:tc>
                  <a:txBody>
                    <a:bodyPr/>
                    <a:lstStyle/>
                    <a:p>
                      <a:pPr marL="0" indent="0">
                        <a:buNone/>
                      </a:pPr>
                      <a:r>
                        <a:rPr lang="en-US" sz="950" dirty="0">
                          <a:solidFill>
                            <a:srgbClr val="FFFFFF"/>
                          </a:solidFill>
                        </a:rPr>
                        <a:t>Logistic Reg.</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GPT-4o</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01"/>
                  </a:ext>
                </a:extLst>
              </a:tr>
              <a:tr h="144194">
                <a:tc>
                  <a:txBody>
                    <a:bodyPr/>
                    <a:lstStyle/>
                    <a:p>
                      <a:pPr marL="0" indent="0">
                        <a:buNone/>
                      </a:pPr>
                      <a:r>
                        <a:rPr lang="en-US" sz="950" dirty="0">
                          <a:solidFill>
                            <a:srgbClr val="FFFFFF"/>
                          </a:solidFill>
                        </a:rPr>
                        <a:t>Logistic Reg.</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Claude</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02"/>
                  </a:ext>
                </a:extLst>
              </a:tr>
              <a:tr h="144194">
                <a:tc>
                  <a:txBody>
                    <a:bodyPr/>
                    <a:lstStyle/>
                    <a:p>
                      <a:pPr marL="0" indent="0">
                        <a:buNone/>
                      </a:pPr>
                      <a:r>
                        <a:rPr lang="en-US" sz="950" dirty="0">
                          <a:solidFill>
                            <a:srgbClr val="FFFFFF"/>
                          </a:solidFill>
                        </a:rPr>
                        <a:t>Logistic Reg.</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Gemini</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03"/>
                  </a:ext>
                </a:extLst>
              </a:tr>
              <a:tr h="144194">
                <a:tc>
                  <a:txBody>
                    <a:bodyPr/>
                    <a:lstStyle/>
                    <a:p>
                      <a:pPr marL="0" indent="0">
                        <a:buNone/>
                      </a:pPr>
                      <a:r>
                        <a:rPr lang="en-US" sz="950" dirty="0">
                          <a:solidFill>
                            <a:srgbClr val="FFFFFF"/>
                          </a:solidFill>
                        </a:rPr>
                        <a:t>Logistic Reg.</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LLaMA ⚠</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0.9950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0.9970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59E0B"/>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04"/>
                  </a:ext>
                </a:extLst>
              </a:tr>
              <a:tr h="144194">
                <a:tc>
                  <a:txBody>
                    <a:bodyPr/>
                    <a:lstStyle/>
                    <a:p>
                      <a:pPr marL="0" indent="0">
                        <a:buNone/>
                      </a:pPr>
                      <a:r>
                        <a:rPr lang="en-US" sz="950" dirty="0">
                          <a:solidFill>
                            <a:srgbClr val="FFFFFF"/>
                          </a:solidFill>
                        </a:rPr>
                        <a:t>Logistic Reg.</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Qwen</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05"/>
                  </a:ext>
                </a:extLst>
              </a:tr>
              <a:tr h="144194">
                <a:tc>
                  <a:txBody>
                    <a:bodyPr/>
                    <a:lstStyle/>
                    <a:p>
                      <a:pPr marL="0" indent="0">
                        <a:buNone/>
                      </a:pPr>
                      <a:r>
                        <a:rPr lang="en-US" sz="950" dirty="0">
                          <a:solidFill>
                            <a:srgbClr val="FFFFFF"/>
                          </a:solidFill>
                        </a:rPr>
                        <a:t>Random Forest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GPT-4o</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06"/>
                  </a:ext>
                </a:extLst>
              </a:tr>
              <a:tr h="144194">
                <a:tc>
                  <a:txBody>
                    <a:bodyPr/>
                    <a:lstStyle/>
                    <a:p>
                      <a:pPr marL="0" indent="0">
                        <a:buNone/>
                      </a:pPr>
                      <a:r>
                        <a:rPr lang="en-US" sz="950" dirty="0">
                          <a:solidFill>
                            <a:srgbClr val="FFFFFF"/>
                          </a:solidFill>
                        </a:rPr>
                        <a:t>Random Forest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Claude</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07"/>
                  </a:ext>
                </a:extLst>
              </a:tr>
              <a:tr h="144194">
                <a:tc>
                  <a:txBody>
                    <a:bodyPr/>
                    <a:lstStyle/>
                    <a:p>
                      <a:pPr marL="0" indent="0">
                        <a:buNone/>
                      </a:pPr>
                      <a:r>
                        <a:rPr lang="en-US" sz="950" dirty="0">
                          <a:solidFill>
                            <a:srgbClr val="FFFFFF"/>
                          </a:solidFill>
                        </a:rPr>
                        <a:t>Random Forest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Gemini</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08"/>
                  </a:ext>
                </a:extLst>
              </a:tr>
              <a:tr h="144194">
                <a:tc>
                  <a:txBody>
                    <a:bodyPr/>
                    <a:lstStyle/>
                    <a:p>
                      <a:pPr marL="0" indent="0">
                        <a:buNone/>
                      </a:pPr>
                      <a:r>
                        <a:rPr lang="en-US" sz="950" dirty="0">
                          <a:solidFill>
                            <a:srgbClr val="FFFFFF"/>
                          </a:solidFill>
                        </a:rPr>
                        <a:t>Random Forest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LLaMA ⚠</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0.9708</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0.9822</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59E0B"/>
                          </a:solidFill>
                        </a:rPr>
                        <a:t>0.9998</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09"/>
                  </a:ext>
                </a:extLst>
              </a:tr>
              <a:tr h="144194">
                <a:tc>
                  <a:txBody>
                    <a:bodyPr/>
                    <a:lstStyle/>
                    <a:p>
                      <a:pPr marL="0" indent="0">
                        <a:buNone/>
                      </a:pPr>
                      <a:r>
                        <a:rPr lang="en-US" sz="950" dirty="0">
                          <a:solidFill>
                            <a:srgbClr val="FFFFFF"/>
                          </a:solidFill>
                        </a:rPr>
                        <a:t>Random Forest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Qwen</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0.9975</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0.9985</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10"/>
                  </a:ext>
                </a:extLst>
              </a:tr>
              <a:tr h="144194">
                <a:tc>
                  <a:txBody>
                    <a:bodyPr/>
                    <a:lstStyle/>
                    <a:p>
                      <a:pPr marL="0" indent="0">
                        <a:buNone/>
                      </a:pPr>
                      <a:r>
                        <a:rPr lang="en-US" sz="950" dirty="0">
                          <a:solidFill>
                            <a:srgbClr val="FFFFFF"/>
                          </a:solidFill>
                        </a:rPr>
                        <a:t>XGBoost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GPT-4o</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11"/>
                  </a:ext>
                </a:extLst>
              </a:tr>
              <a:tr h="144194">
                <a:tc>
                  <a:txBody>
                    <a:bodyPr/>
                    <a:lstStyle/>
                    <a:p>
                      <a:pPr marL="0" indent="0">
                        <a:buNone/>
                      </a:pPr>
                      <a:r>
                        <a:rPr lang="en-US" sz="950" dirty="0">
                          <a:solidFill>
                            <a:srgbClr val="FFFFFF"/>
                          </a:solidFill>
                        </a:rPr>
                        <a:t>XGBoost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Claude</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12"/>
                  </a:ext>
                </a:extLst>
              </a:tr>
              <a:tr h="144194">
                <a:tc>
                  <a:txBody>
                    <a:bodyPr/>
                    <a:lstStyle/>
                    <a:p>
                      <a:pPr marL="0" indent="0">
                        <a:buNone/>
                      </a:pPr>
                      <a:r>
                        <a:rPr lang="en-US" sz="950" dirty="0">
                          <a:solidFill>
                            <a:srgbClr val="FFFFFF"/>
                          </a:solidFill>
                        </a:rPr>
                        <a:t>XGBoost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Gemini</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0.9983</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0.9990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59E0B"/>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0.010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13"/>
                  </a:ext>
                </a:extLst>
              </a:tr>
              <a:tr h="144194">
                <a:tc>
                  <a:txBody>
                    <a:bodyPr/>
                    <a:lstStyle/>
                    <a:p>
                      <a:pPr marL="0" indent="0">
                        <a:buNone/>
                      </a:pPr>
                      <a:r>
                        <a:rPr lang="en-US" sz="950" dirty="0">
                          <a:solidFill>
                            <a:srgbClr val="FFFFFF"/>
                          </a:solidFill>
                        </a:rPr>
                        <a:t>XGBoost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LLaMA ⚠</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0.9733</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0.9837</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59E0B"/>
                          </a:solidFill>
                        </a:rPr>
                        <a:t>0.9997</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14"/>
                  </a:ext>
                </a:extLst>
              </a:tr>
              <a:tr h="144194">
                <a:tc>
                  <a:txBody>
                    <a:bodyPr/>
                    <a:lstStyle/>
                    <a:p>
                      <a:pPr marL="0" indent="0">
                        <a:buNone/>
                      </a:pPr>
                      <a:r>
                        <a:rPr lang="en-US" sz="950" dirty="0">
                          <a:solidFill>
                            <a:srgbClr val="FFFFFF"/>
                          </a:solidFill>
                        </a:rPr>
                        <a:t>XGBoost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Qwen</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0.9983</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10B981"/>
                          </a:solidFill>
                        </a:rPr>
                        <a:t>0.9990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1.0000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10B981"/>
                          </a:solidFill>
                        </a:rPr>
                        <a:t>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15"/>
                  </a:ext>
                </a:extLst>
              </a:tr>
              <a:tr h="144194">
                <a:tc>
                  <a:txBody>
                    <a:bodyPr/>
                    <a:lstStyle/>
                    <a:p>
                      <a:pPr marL="0" indent="0">
                        <a:buNone/>
                      </a:pPr>
                      <a:r>
                        <a:rPr lang="en-US" sz="950" dirty="0">
                          <a:solidFill>
                            <a:srgbClr val="FFFFFF"/>
                          </a:solidFill>
                        </a:rPr>
                        <a:t>RoBERTa-OpenAI</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GPT-4o</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0.2179</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0.1256</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0.5933</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0.035</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16"/>
                  </a:ext>
                </a:extLst>
              </a:tr>
              <a:tr h="144194">
                <a:tc>
                  <a:txBody>
                    <a:bodyPr/>
                    <a:lstStyle/>
                    <a:p>
                      <a:pPr marL="0" indent="0">
                        <a:buNone/>
                      </a:pPr>
                      <a:r>
                        <a:rPr lang="en-US" sz="950" dirty="0">
                          <a:solidFill>
                            <a:srgbClr val="FFFFFF"/>
                          </a:solidFill>
                        </a:rPr>
                        <a:t>RoBERTa-OpenAI</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Claude</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0.1593</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0.4601</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0.045</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17"/>
                  </a:ext>
                </a:extLst>
              </a:tr>
              <a:tr h="144194">
                <a:tc>
                  <a:txBody>
                    <a:bodyPr/>
                    <a:lstStyle/>
                    <a:p>
                      <a:pPr marL="0" indent="0">
                        <a:buNone/>
                      </a:pPr>
                      <a:r>
                        <a:rPr lang="en-US" sz="950" dirty="0">
                          <a:solidFill>
                            <a:srgbClr val="FFFFFF"/>
                          </a:solidFill>
                        </a:rPr>
                        <a:t>RoBERTa-OpenAI</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Gemini</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0.1601</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0.4059</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0.045</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18"/>
                  </a:ext>
                </a:extLst>
              </a:tr>
              <a:tr h="144194">
                <a:tc>
                  <a:txBody>
                    <a:bodyPr/>
                    <a:lstStyle/>
                    <a:p>
                      <a:pPr marL="0" indent="0">
                        <a:buNone/>
                      </a:pPr>
                      <a:r>
                        <a:rPr lang="en-US" sz="950" dirty="0">
                          <a:solidFill>
                            <a:srgbClr val="FFFFFF"/>
                          </a:solidFill>
                        </a:rPr>
                        <a:t>RoBERTa-OpenAI</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LLaMA</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0.6842</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0.7693</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59E0B"/>
                          </a:solidFill>
                        </a:rPr>
                        <a:t>0.9336</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0.055</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19"/>
                  </a:ext>
                </a:extLst>
              </a:tr>
              <a:tr h="144194">
                <a:tc>
                  <a:txBody>
                    <a:bodyPr/>
                    <a:lstStyle/>
                    <a:p>
                      <a:pPr marL="0" indent="0">
                        <a:buNone/>
                      </a:pPr>
                      <a:r>
                        <a:rPr lang="en-US" sz="950" dirty="0">
                          <a:solidFill>
                            <a:srgbClr val="FFFFFF"/>
                          </a:solidFill>
                        </a:rPr>
                        <a:t>RoBERTa-OpenAI</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Qwen</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0.1706</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0.0236</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0.4609</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0.040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20"/>
                  </a:ext>
                </a:extLst>
              </a:tr>
              <a:tr h="144194">
                <a:tc>
                  <a:txBody>
                    <a:bodyPr/>
                    <a:lstStyle/>
                    <a:p>
                      <a:pPr marL="0" indent="0">
                        <a:buNone/>
                      </a:pPr>
                      <a:r>
                        <a:rPr lang="en-US" sz="950" dirty="0">
                          <a:solidFill>
                            <a:srgbClr val="FFFFFF"/>
                          </a:solidFill>
                        </a:rPr>
                        <a:t>ChatGPT Det.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GPT-4o</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0.1744</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0.0628</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0.4739</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0.125</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21"/>
                  </a:ext>
                </a:extLst>
              </a:tr>
              <a:tr h="144194">
                <a:tc>
                  <a:txBody>
                    <a:bodyPr/>
                    <a:lstStyle/>
                    <a:p>
                      <a:pPr marL="0" indent="0">
                        <a:buNone/>
                      </a:pPr>
                      <a:r>
                        <a:rPr lang="en-US" sz="950" dirty="0">
                          <a:solidFill>
                            <a:srgbClr val="FFFFFF"/>
                          </a:solidFill>
                        </a:rPr>
                        <a:t>ChatGPT Det.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Claude</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0.1501</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0.2722</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0.100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22"/>
                  </a:ext>
                </a:extLst>
              </a:tr>
              <a:tr h="144194">
                <a:tc>
                  <a:txBody>
                    <a:bodyPr/>
                    <a:lstStyle/>
                    <a:p>
                      <a:pPr marL="0" indent="0">
                        <a:buNone/>
                      </a:pPr>
                      <a:r>
                        <a:rPr lang="en-US" sz="950" dirty="0">
                          <a:solidFill>
                            <a:srgbClr val="FFFFFF"/>
                          </a:solidFill>
                        </a:rPr>
                        <a:t>ChatGPT Det.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Gemini</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0.1433</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0.0000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0.2358</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0.145</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23"/>
                  </a:ext>
                </a:extLst>
              </a:tr>
              <a:tr h="144194">
                <a:tc>
                  <a:txBody>
                    <a:bodyPr/>
                    <a:lstStyle/>
                    <a:p>
                      <a:pPr marL="0" indent="0">
                        <a:buNone/>
                      </a:pPr>
                      <a:r>
                        <a:rPr lang="en-US" sz="950" dirty="0">
                          <a:solidFill>
                            <a:srgbClr val="FFFFFF"/>
                          </a:solidFill>
                        </a:rPr>
                        <a:t>ChatGPT Det.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LLaMA</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0.7408</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F59E0B"/>
                          </a:solidFill>
                        </a:rPr>
                        <a:t>0.8216</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59E0B"/>
                          </a:solidFill>
                        </a:rPr>
                        <a:t>0.8609</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0.135</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24"/>
                  </a:ext>
                </a:extLst>
              </a:tr>
              <a:tr h="144194">
                <a:tc>
                  <a:txBody>
                    <a:bodyPr/>
                    <a:lstStyle/>
                    <a:p>
                      <a:pPr marL="0" indent="0">
                        <a:buNone/>
                      </a:pPr>
                      <a:r>
                        <a:rPr lang="en-US" sz="950" dirty="0">
                          <a:solidFill>
                            <a:srgbClr val="FFFFFF"/>
                          </a:solidFill>
                        </a:rPr>
                        <a:t>ChatGPT Det.</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FFFFFF"/>
                          </a:solidFill>
                        </a:rPr>
                        <a:t>Qwen</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0.1647</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b="1" dirty="0">
                          <a:solidFill>
                            <a:srgbClr val="EF4444"/>
                          </a:solidFill>
                        </a:rPr>
                        <a:t>0.0292</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0.2417</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tc>
                  <a:txBody>
                    <a:bodyPr/>
                    <a:lstStyle/>
                    <a:p>
                      <a:pPr marL="0" indent="0">
                        <a:buNone/>
                      </a:pPr>
                      <a:r>
                        <a:rPr lang="en-US" sz="950" dirty="0">
                          <a:solidFill>
                            <a:srgbClr val="EF4444"/>
                          </a:solidFill>
                        </a:rPr>
                        <a:t>0.090</a:t>
                      </a:r>
                      <a:endParaRPr lang="en-US" sz="95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827"/>
                    </a:solidFill>
                  </a:tcPr>
                </a:tc>
                <a:extLst>
                  <a:ext uri="{0D108BD9-81ED-4DB2-BD59-A6C34878D82A}">
                    <a16:rowId xmlns:a16="http://schemas.microsoft.com/office/drawing/2014/main" val="1002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Performance Comparison</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Mean F1 across all folds — the decisive result</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 / 24</a:t>
            </a:r>
            <a:endParaRPr lang="en-US" sz="900" dirty="0"/>
          </a:p>
        </p:txBody>
      </p:sp>
      <p:graphicFrame>
        <p:nvGraphicFramePr>
          <p:cNvPr id="6" name="Chart 0"/>
          <p:cNvGraphicFramePr/>
          <p:nvPr/>
        </p:nvGraphicFramePr>
        <p:xfrm>
          <a:off x="365760" y="1234440"/>
          <a:ext cx="84124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365760" y="4389120"/>
            <a:ext cx="1600200" cy="457200"/>
          </a:xfrm>
          <a:prstGeom prst="rect">
            <a:avLst/>
          </a:prstGeom>
          <a:noFill/>
          <a:ln/>
        </p:spPr>
        <p:txBody>
          <a:bodyPr wrap="square"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LR</a:t>
            </a:r>
            <a:endParaRPr lang="en-US" sz="1100" dirty="0"/>
          </a:p>
          <a:p>
            <a:pPr marL="0" indent="0" algn="ctr">
              <a:buNone/>
            </a:pPr>
            <a:r>
              <a:rPr lang="en-US" sz="1100" b="1" dirty="0">
                <a:solidFill>
                  <a:srgbClr val="10B981"/>
                </a:solidFill>
                <a:latin typeface="Calibri" pitchFamily="34" charset="0"/>
                <a:ea typeface="Calibri" pitchFamily="34" charset="-122"/>
                <a:cs typeface="Calibri" pitchFamily="34" charset="-120"/>
              </a:rPr>
              <a:t>99.94%</a:t>
            </a:r>
            <a:endParaRPr lang="en-US" sz="1100" dirty="0"/>
          </a:p>
        </p:txBody>
      </p:sp>
      <p:sp>
        <p:nvSpPr>
          <p:cNvPr id="8" name="Text 5"/>
          <p:cNvSpPr/>
          <p:nvPr/>
        </p:nvSpPr>
        <p:spPr>
          <a:xfrm>
            <a:off x="2084832" y="4389120"/>
            <a:ext cx="1600200" cy="457200"/>
          </a:xfrm>
          <a:prstGeom prst="rect">
            <a:avLst/>
          </a:prstGeom>
          <a:noFill/>
          <a:ln/>
        </p:spPr>
        <p:txBody>
          <a:bodyPr wrap="square" rtlCol="0" anchor="ctr"/>
          <a:lstStyle/>
          <a:p>
            <a:pPr marL="0" indent="0" algn="ctr">
              <a:buNone/>
            </a:pPr>
            <a:r>
              <a:rPr lang="en-US" sz="1100" b="1" dirty="0">
                <a:solidFill>
                  <a:srgbClr val="00D4FF"/>
                </a:solidFill>
                <a:latin typeface="Calibri" pitchFamily="34" charset="0"/>
                <a:ea typeface="Calibri" pitchFamily="34" charset="-122"/>
                <a:cs typeface="Calibri" pitchFamily="34" charset="-120"/>
              </a:rPr>
              <a:t>RF</a:t>
            </a:r>
            <a:endParaRPr lang="en-US" sz="1100" dirty="0"/>
          </a:p>
          <a:p>
            <a:pPr marL="0" indent="0" algn="ctr">
              <a:buNone/>
            </a:pPr>
            <a:r>
              <a:rPr lang="en-US" sz="1100" b="1" dirty="0">
                <a:solidFill>
                  <a:srgbClr val="00D4FF"/>
                </a:solidFill>
                <a:latin typeface="Calibri" pitchFamily="34" charset="0"/>
                <a:ea typeface="Calibri" pitchFamily="34" charset="-122"/>
                <a:cs typeface="Calibri" pitchFamily="34" charset="-120"/>
              </a:rPr>
              <a:t>99.61%</a:t>
            </a:r>
            <a:endParaRPr lang="en-US" sz="1100" dirty="0"/>
          </a:p>
        </p:txBody>
      </p:sp>
      <p:sp>
        <p:nvSpPr>
          <p:cNvPr id="9" name="Text 6"/>
          <p:cNvSpPr/>
          <p:nvPr/>
        </p:nvSpPr>
        <p:spPr>
          <a:xfrm>
            <a:off x="3803904" y="4389120"/>
            <a:ext cx="1600200" cy="457200"/>
          </a:xfrm>
          <a:prstGeom prst="rect">
            <a:avLst/>
          </a:prstGeom>
          <a:noFill/>
          <a:ln/>
        </p:spPr>
        <p:txBody>
          <a:bodyPr wrap="square"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XGB</a:t>
            </a:r>
            <a:endParaRPr lang="en-US" sz="1100" dirty="0"/>
          </a:p>
          <a:p>
            <a:pPr marL="0" indent="0" algn="ctr">
              <a:buNone/>
            </a:pPr>
            <a:r>
              <a:rPr lang="en-US" sz="1100" b="1" dirty="0">
                <a:solidFill>
                  <a:srgbClr val="7C3AED"/>
                </a:solidFill>
                <a:latin typeface="Calibri" pitchFamily="34" charset="0"/>
                <a:ea typeface="Calibri" pitchFamily="34" charset="-122"/>
                <a:cs typeface="Calibri" pitchFamily="34" charset="-120"/>
              </a:rPr>
              <a:t>99.63%</a:t>
            </a:r>
            <a:endParaRPr lang="en-US" sz="1100" dirty="0"/>
          </a:p>
        </p:txBody>
      </p:sp>
      <p:sp>
        <p:nvSpPr>
          <p:cNvPr id="10" name="Text 7"/>
          <p:cNvSpPr/>
          <p:nvPr/>
        </p:nvSpPr>
        <p:spPr>
          <a:xfrm>
            <a:off x="5522976" y="4389120"/>
            <a:ext cx="1600200" cy="457200"/>
          </a:xfrm>
          <a:prstGeom prst="rect">
            <a:avLst/>
          </a:prstGeom>
          <a:noFill/>
          <a:ln/>
        </p:spPr>
        <p:txBody>
          <a:bodyPr wrap="square"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RoBERTa</a:t>
            </a:r>
            <a:endParaRPr lang="en-US" sz="1100" dirty="0"/>
          </a:p>
          <a:p>
            <a:pPr marL="0" indent="0" algn="ctr">
              <a:buNone/>
            </a:pPr>
            <a:r>
              <a:rPr lang="en-US" sz="1100" b="1" dirty="0">
                <a:solidFill>
                  <a:srgbClr val="EF4444"/>
                </a:solidFill>
                <a:latin typeface="Calibri" pitchFamily="34" charset="0"/>
                <a:ea typeface="Calibri" pitchFamily="34" charset="-122"/>
                <a:cs typeface="Calibri" pitchFamily="34" charset="-120"/>
              </a:rPr>
              <a:t>18.37%</a:t>
            </a:r>
            <a:endParaRPr lang="en-US" sz="1100" dirty="0"/>
          </a:p>
        </p:txBody>
      </p:sp>
      <p:sp>
        <p:nvSpPr>
          <p:cNvPr id="11" name="Text 8"/>
          <p:cNvSpPr/>
          <p:nvPr/>
        </p:nvSpPr>
        <p:spPr>
          <a:xfrm>
            <a:off x="7242048" y="4389120"/>
            <a:ext cx="1600200" cy="457200"/>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ChatGPT Det.</a:t>
            </a:r>
            <a:endParaRPr lang="en-US" sz="1100" dirty="0"/>
          </a:p>
          <a:p>
            <a:pPr marL="0" indent="0" algn="ctr">
              <a:buNone/>
            </a:pPr>
            <a:r>
              <a:rPr lang="en-US" sz="1100" b="1" dirty="0">
                <a:solidFill>
                  <a:srgbClr val="F59E0B"/>
                </a:solidFill>
                <a:latin typeface="Calibri" pitchFamily="34" charset="0"/>
                <a:ea typeface="Calibri" pitchFamily="34" charset="-122"/>
                <a:cs typeface="Calibri" pitchFamily="34" charset="-120"/>
              </a:rPr>
              <a:t>18.27%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Neural Baselines: Why They Fail</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AUC &lt; 0.5 = worse than random guessing</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12 / 24</a:t>
            </a:r>
            <a:endParaRPr lang="en-US" sz="900" dirty="0"/>
          </a:p>
        </p:txBody>
      </p:sp>
      <p:sp>
        <p:nvSpPr>
          <p:cNvPr id="6" name="Shape 4"/>
          <p:cNvSpPr/>
          <p:nvPr/>
        </p:nvSpPr>
        <p:spPr>
          <a:xfrm>
            <a:off x="365760" y="1261872"/>
            <a:ext cx="4114800" cy="356616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65760" y="1261872"/>
            <a:ext cx="4114800" cy="54864"/>
          </a:xfrm>
          <a:prstGeom prst="rect">
            <a:avLst/>
          </a:prstGeom>
          <a:solidFill>
            <a:srgbClr val="EF4444"/>
          </a:solidFill>
          <a:ln w="12700">
            <a:solidFill>
              <a:srgbClr val="EF4444"/>
            </a:solidFill>
            <a:prstDash val="solid"/>
          </a:ln>
        </p:spPr>
        <p:txBody>
          <a:bodyPr/>
          <a:lstStyle/>
          <a:p>
            <a:endParaRPr lang="en-US"/>
          </a:p>
        </p:txBody>
      </p:sp>
      <p:sp>
        <p:nvSpPr>
          <p:cNvPr id="8" name="Text 6"/>
          <p:cNvSpPr/>
          <p:nvPr/>
        </p:nvSpPr>
        <p:spPr>
          <a:xfrm>
            <a:off x="502920" y="1353312"/>
            <a:ext cx="3840480" cy="384048"/>
          </a:xfrm>
          <a:prstGeom prst="rect">
            <a:avLst/>
          </a:prstGeom>
          <a:noFill/>
          <a:ln/>
        </p:spPr>
        <p:txBody>
          <a:bodyPr wrap="square" rtlCol="0" anchor="ctr"/>
          <a:lstStyle/>
          <a:p>
            <a:pPr marL="0" indent="0">
              <a:buNone/>
            </a:pPr>
            <a:r>
              <a:rPr lang="en-US" sz="1150" b="1" dirty="0">
                <a:solidFill>
                  <a:srgbClr val="EF4444"/>
                </a:solidFill>
                <a:latin typeface="Calibri" pitchFamily="34" charset="0"/>
                <a:ea typeface="Calibri" pitchFamily="34" charset="-122"/>
                <a:cs typeface="Calibri" pitchFamily="34" charset="-120"/>
              </a:rPr>
              <a:t>RoBERTa-OpenAI (GPT-2 Detector)</a:t>
            </a:r>
            <a:endParaRPr lang="en-US" sz="1150" dirty="0"/>
          </a:p>
        </p:txBody>
      </p:sp>
      <p:sp>
        <p:nvSpPr>
          <p:cNvPr id="9" name="Text 7"/>
          <p:cNvSpPr/>
          <p:nvPr/>
        </p:nvSpPr>
        <p:spPr>
          <a:xfrm>
            <a:off x="502920" y="1783080"/>
            <a:ext cx="3840480" cy="25603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Model     Acc      F1      AUC     FPR</a:t>
            </a:r>
            <a:endParaRPr lang="en-US" sz="1000" dirty="0"/>
          </a:p>
        </p:txBody>
      </p:sp>
      <p:sp>
        <p:nvSpPr>
          <p:cNvPr id="10" name="Text 8"/>
          <p:cNvSpPr/>
          <p:nvPr/>
        </p:nvSpPr>
        <p:spPr>
          <a:xfrm>
            <a:off x="502920" y="2084832"/>
            <a:ext cx="914400" cy="34747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GPT-4o</a:t>
            </a:r>
            <a:endParaRPr lang="en-US" sz="1050" dirty="0"/>
          </a:p>
        </p:txBody>
      </p:sp>
      <p:sp>
        <p:nvSpPr>
          <p:cNvPr id="11" name="Text 9"/>
          <p:cNvSpPr/>
          <p:nvPr/>
        </p:nvSpPr>
        <p:spPr>
          <a:xfrm>
            <a:off x="1463040" y="2084832"/>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0.2179</a:t>
            </a:r>
            <a:endParaRPr lang="en-US" sz="1050" dirty="0"/>
          </a:p>
        </p:txBody>
      </p:sp>
      <p:sp>
        <p:nvSpPr>
          <p:cNvPr id="12" name="Text 10"/>
          <p:cNvSpPr/>
          <p:nvPr/>
        </p:nvSpPr>
        <p:spPr>
          <a:xfrm>
            <a:off x="2194560" y="2084832"/>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0.1256</a:t>
            </a:r>
            <a:endParaRPr lang="en-US" sz="1050" dirty="0"/>
          </a:p>
        </p:txBody>
      </p:sp>
      <p:sp>
        <p:nvSpPr>
          <p:cNvPr id="13" name="Text 11"/>
          <p:cNvSpPr/>
          <p:nvPr/>
        </p:nvSpPr>
        <p:spPr>
          <a:xfrm>
            <a:off x="2926080" y="2084832"/>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0.5933</a:t>
            </a:r>
            <a:endParaRPr lang="en-US" sz="1050" dirty="0"/>
          </a:p>
        </p:txBody>
      </p:sp>
      <p:sp>
        <p:nvSpPr>
          <p:cNvPr id="14" name="Text 12"/>
          <p:cNvSpPr/>
          <p:nvPr/>
        </p:nvSpPr>
        <p:spPr>
          <a:xfrm>
            <a:off x="3657600" y="2084832"/>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0.035</a:t>
            </a:r>
            <a:endParaRPr lang="en-US" sz="1050" dirty="0"/>
          </a:p>
        </p:txBody>
      </p:sp>
      <p:sp>
        <p:nvSpPr>
          <p:cNvPr id="15" name="Text 13"/>
          <p:cNvSpPr/>
          <p:nvPr/>
        </p:nvSpPr>
        <p:spPr>
          <a:xfrm>
            <a:off x="502920" y="2523744"/>
            <a:ext cx="914400" cy="34747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Claude</a:t>
            </a:r>
            <a:endParaRPr lang="en-US" sz="1050" dirty="0"/>
          </a:p>
        </p:txBody>
      </p:sp>
      <p:sp>
        <p:nvSpPr>
          <p:cNvPr id="16" name="Text 14"/>
          <p:cNvSpPr/>
          <p:nvPr/>
        </p:nvSpPr>
        <p:spPr>
          <a:xfrm>
            <a:off x="1463040" y="2523744"/>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0.1593</a:t>
            </a:r>
            <a:endParaRPr lang="en-US" sz="1050" dirty="0"/>
          </a:p>
        </p:txBody>
      </p:sp>
      <p:sp>
        <p:nvSpPr>
          <p:cNvPr id="17" name="Text 15"/>
          <p:cNvSpPr/>
          <p:nvPr/>
        </p:nvSpPr>
        <p:spPr>
          <a:xfrm>
            <a:off x="2194560" y="2523744"/>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0.0000</a:t>
            </a:r>
            <a:endParaRPr lang="en-US" sz="1050" dirty="0"/>
          </a:p>
        </p:txBody>
      </p:sp>
      <p:sp>
        <p:nvSpPr>
          <p:cNvPr id="18" name="Text 16"/>
          <p:cNvSpPr/>
          <p:nvPr/>
        </p:nvSpPr>
        <p:spPr>
          <a:xfrm>
            <a:off x="2926080" y="2523744"/>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0.4601</a:t>
            </a:r>
            <a:endParaRPr lang="en-US" sz="1050" dirty="0"/>
          </a:p>
        </p:txBody>
      </p:sp>
      <p:sp>
        <p:nvSpPr>
          <p:cNvPr id="19" name="Text 17"/>
          <p:cNvSpPr/>
          <p:nvPr/>
        </p:nvSpPr>
        <p:spPr>
          <a:xfrm>
            <a:off x="3657600" y="2523744"/>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0.045</a:t>
            </a:r>
            <a:endParaRPr lang="en-US" sz="1050" dirty="0"/>
          </a:p>
        </p:txBody>
      </p:sp>
      <p:sp>
        <p:nvSpPr>
          <p:cNvPr id="20" name="Text 18"/>
          <p:cNvSpPr/>
          <p:nvPr/>
        </p:nvSpPr>
        <p:spPr>
          <a:xfrm>
            <a:off x="502920" y="2962656"/>
            <a:ext cx="914400" cy="34747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Gemini</a:t>
            </a:r>
            <a:endParaRPr lang="en-US" sz="1050" dirty="0"/>
          </a:p>
        </p:txBody>
      </p:sp>
      <p:sp>
        <p:nvSpPr>
          <p:cNvPr id="21" name="Text 19"/>
          <p:cNvSpPr/>
          <p:nvPr/>
        </p:nvSpPr>
        <p:spPr>
          <a:xfrm>
            <a:off x="1463040" y="2962656"/>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0.1601</a:t>
            </a:r>
            <a:endParaRPr lang="en-US" sz="1050" dirty="0"/>
          </a:p>
        </p:txBody>
      </p:sp>
      <p:sp>
        <p:nvSpPr>
          <p:cNvPr id="22" name="Text 20"/>
          <p:cNvSpPr/>
          <p:nvPr/>
        </p:nvSpPr>
        <p:spPr>
          <a:xfrm>
            <a:off x="2194560" y="2962656"/>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0.0000</a:t>
            </a:r>
            <a:endParaRPr lang="en-US" sz="1050" dirty="0"/>
          </a:p>
        </p:txBody>
      </p:sp>
      <p:sp>
        <p:nvSpPr>
          <p:cNvPr id="23" name="Text 21"/>
          <p:cNvSpPr/>
          <p:nvPr/>
        </p:nvSpPr>
        <p:spPr>
          <a:xfrm>
            <a:off x="2926080" y="2962656"/>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0.4059</a:t>
            </a:r>
            <a:endParaRPr lang="en-US" sz="1050" dirty="0"/>
          </a:p>
        </p:txBody>
      </p:sp>
      <p:sp>
        <p:nvSpPr>
          <p:cNvPr id="24" name="Text 22"/>
          <p:cNvSpPr/>
          <p:nvPr/>
        </p:nvSpPr>
        <p:spPr>
          <a:xfrm>
            <a:off x="3657600" y="2962656"/>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0.045</a:t>
            </a:r>
            <a:endParaRPr lang="en-US" sz="1050" dirty="0"/>
          </a:p>
        </p:txBody>
      </p:sp>
      <p:sp>
        <p:nvSpPr>
          <p:cNvPr id="25" name="Text 23"/>
          <p:cNvSpPr/>
          <p:nvPr/>
        </p:nvSpPr>
        <p:spPr>
          <a:xfrm>
            <a:off x="502920" y="3401568"/>
            <a:ext cx="914400" cy="347472"/>
          </a:xfrm>
          <a:prstGeom prst="rect">
            <a:avLst/>
          </a:prstGeom>
          <a:noFill/>
          <a:ln/>
        </p:spPr>
        <p:txBody>
          <a:bodyPr wrap="square" rtlCol="0" anchor="ctr"/>
          <a:lstStyle/>
          <a:p>
            <a:pPr marL="0" indent="0">
              <a:buNone/>
            </a:pPr>
            <a:r>
              <a:rPr lang="en-US" sz="1050" dirty="0">
                <a:solidFill>
                  <a:srgbClr val="F59E0B"/>
                </a:solidFill>
                <a:latin typeface="Calibri" pitchFamily="34" charset="0"/>
                <a:ea typeface="Calibri" pitchFamily="34" charset="-122"/>
                <a:cs typeface="Calibri" pitchFamily="34" charset="-120"/>
              </a:rPr>
              <a:t>LLaMA</a:t>
            </a:r>
            <a:endParaRPr lang="en-US" sz="1050" dirty="0"/>
          </a:p>
        </p:txBody>
      </p:sp>
      <p:sp>
        <p:nvSpPr>
          <p:cNvPr id="26" name="Text 24"/>
          <p:cNvSpPr/>
          <p:nvPr/>
        </p:nvSpPr>
        <p:spPr>
          <a:xfrm>
            <a:off x="1463040" y="3401568"/>
            <a:ext cx="685800" cy="347472"/>
          </a:xfrm>
          <a:prstGeom prst="rect">
            <a:avLst/>
          </a:prstGeom>
          <a:noFill/>
          <a:ln/>
        </p:spPr>
        <p:txBody>
          <a:bodyPr wrap="square" rtlCol="0" anchor="ctr"/>
          <a:lstStyle/>
          <a:p>
            <a:pPr marL="0" indent="0">
              <a:buNone/>
            </a:pPr>
            <a:r>
              <a:rPr lang="en-US" sz="1050" dirty="0">
                <a:solidFill>
                  <a:srgbClr val="F59E0B"/>
                </a:solidFill>
                <a:latin typeface="Calibri" pitchFamily="34" charset="0"/>
                <a:ea typeface="Calibri" pitchFamily="34" charset="-122"/>
                <a:cs typeface="Calibri" pitchFamily="34" charset="-120"/>
              </a:rPr>
              <a:t>0.6842</a:t>
            </a:r>
            <a:endParaRPr lang="en-US" sz="1050" dirty="0"/>
          </a:p>
        </p:txBody>
      </p:sp>
      <p:sp>
        <p:nvSpPr>
          <p:cNvPr id="27" name="Text 25"/>
          <p:cNvSpPr/>
          <p:nvPr/>
        </p:nvSpPr>
        <p:spPr>
          <a:xfrm>
            <a:off x="2194560" y="3401568"/>
            <a:ext cx="685800" cy="347472"/>
          </a:xfrm>
          <a:prstGeom prst="rect">
            <a:avLst/>
          </a:prstGeom>
          <a:noFill/>
          <a:ln/>
        </p:spPr>
        <p:txBody>
          <a:bodyPr wrap="square" rtlCol="0" anchor="ctr"/>
          <a:lstStyle/>
          <a:p>
            <a:pPr marL="0" indent="0">
              <a:buNone/>
            </a:pPr>
            <a:r>
              <a:rPr lang="en-US" sz="1050" dirty="0">
                <a:solidFill>
                  <a:srgbClr val="F59E0B"/>
                </a:solidFill>
                <a:latin typeface="Calibri" pitchFamily="34" charset="0"/>
                <a:ea typeface="Calibri" pitchFamily="34" charset="-122"/>
                <a:cs typeface="Calibri" pitchFamily="34" charset="-120"/>
              </a:rPr>
              <a:t>0.7693</a:t>
            </a:r>
            <a:endParaRPr lang="en-US" sz="1050" dirty="0"/>
          </a:p>
        </p:txBody>
      </p:sp>
      <p:sp>
        <p:nvSpPr>
          <p:cNvPr id="28" name="Text 26"/>
          <p:cNvSpPr/>
          <p:nvPr/>
        </p:nvSpPr>
        <p:spPr>
          <a:xfrm>
            <a:off x="2926080" y="3401568"/>
            <a:ext cx="685800" cy="347472"/>
          </a:xfrm>
          <a:prstGeom prst="rect">
            <a:avLst/>
          </a:prstGeom>
          <a:noFill/>
          <a:ln/>
        </p:spPr>
        <p:txBody>
          <a:bodyPr wrap="square" rtlCol="0" anchor="ctr"/>
          <a:lstStyle/>
          <a:p>
            <a:pPr marL="0" indent="0">
              <a:buNone/>
            </a:pPr>
            <a:r>
              <a:rPr lang="en-US" sz="1050" dirty="0">
                <a:solidFill>
                  <a:srgbClr val="F59E0B"/>
                </a:solidFill>
                <a:latin typeface="Calibri" pitchFamily="34" charset="0"/>
                <a:ea typeface="Calibri" pitchFamily="34" charset="-122"/>
                <a:cs typeface="Calibri" pitchFamily="34" charset="-120"/>
              </a:rPr>
              <a:t>0.9336</a:t>
            </a:r>
            <a:endParaRPr lang="en-US" sz="1050" dirty="0"/>
          </a:p>
        </p:txBody>
      </p:sp>
      <p:sp>
        <p:nvSpPr>
          <p:cNvPr id="29" name="Text 27"/>
          <p:cNvSpPr/>
          <p:nvPr/>
        </p:nvSpPr>
        <p:spPr>
          <a:xfrm>
            <a:off x="3657600" y="3401568"/>
            <a:ext cx="685800" cy="347472"/>
          </a:xfrm>
          <a:prstGeom prst="rect">
            <a:avLst/>
          </a:prstGeom>
          <a:noFill/>
          <a:ln/>
        </p:spPr>
        <p:txBody>
          <a:bodyPr wrap="square" rtlCol="0" anchor="ctr"/>
          <a:lstStyle/>
          <a:p>
            <a:pPr marL="0" indent="0">
              <a:buNone/>
            </a:pPr>
            <a:r>
              <a:rPr lang="en-US" sz="1050" dirty="0">
                <a:solidFill>
                  <a:srgbClr val="F59E0B"/>
                </a:solidFill>
                <a:latin typeface="Calibri" pitchFamily="34" charset="0"/>
                <a:ea typeface="Calibri" pitchFamily="34" charset="-122"/>
                <a:cs typeface="Calibri" pitchFamily="34" charset="-120"/>
              </a:rPr>
              <a:t>0.055</a:t>
            </a:r>
            <a:endParaRPr lang="en-US" sz="1050" dirty="0"/>
          </a:p>
        </p:txBody>
      </p:sp>
      <p:sp>
        <p:nvSpPr>
          <p:cNvPr id="30" name="Text 28"/>
          <p:cNvSpPr/>
          <p:nvPr/>
        </p:nvSpPr>
        <p:spPr>
          <a:xfrm>
            <a:off x="502920" y="3840480"/>
            <a:ext cx="914400" cy="34747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Qwen</a:t>
            </a:r>
            <a:endParaRPr lang="en-US" sz="1050" dirty="0"/>
          </a:p>
        </p:txBody>
      </p:sp>
      <p:sp>
        <p:nvSpPr>
          <p:cNvPr id="31" name="Text 29"/>
          <p:cNvSpPr/>
          <p:nvPr/>
        </p:nvSpPr>
        <p:spPr>
          <a:xfrm>
            <a:off x="1463040" y="3840480"/>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0.1706</a:t>
            </a:r>
            <a:endParaRPr lang="en-US" sz="1050" dirty="0"/>
          </a:p>
        </p:txBody>
      </p:sp>
      <p:sp>
        <p:nvSpPr>
          <p:cNvPr id="32" name="Text 30"/>
          <p:cNvSpPr/>
          <p:nvPr/>
        </p:nvSpPr>
        <p:spPr>
          <a:xfrm>
            <a:off x="2194560" y="3840480"/>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0.0236</a:t>
            </a:r>
            <a:endParaRPr lang="en-US" sz="1050" dirty="0"/>
          </a:p>
        </p:txBody>
      </p:sp>
      <p:sp>
        <p:nvSpPr>
          <p:cNvPr id="33" name="Text 31"/>
          <p:cNvSpPr/>
          <p:nvPr/>
        </p:nvSpPr>
        <p:spPr>
          <a:xfrm>
            <a:off x="2926080" y="3840480"/>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0.4609</a:t>
            </a:r>
            <a:endParaRPr lang="en-US" sz="1050" dirty="0"/>
          </a:p>
        </p:txBody>
      </p:sp>
      <p:sp>
        <p:nvSpPr>
          <p:cNvPr id="34" name="Text 32"/>
          <p:cNvSpPr/>
          <p:nvPr/>
        </p:nvSpPr>
        <p:spPr>
          <a:xfrm>
            <a:off x="3657600" y="3840480"/>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0.040</a:t>
            </a:r>
            <a:endParaRPr lang="en-US" sz="1050" dirty="0"/>
          </a:p>
        </p:txBody>
      </p:sp>
      <p:sp>
        <p:nvSpPr>
          <p:cNvPr id="35" name="Text 33"/>
          <p:cNvSpPr/>
          <p:nvPr/>
        </p:nvSpPr>
        <p:spPr>
          <a:xfrm>
            <a:off x="502920" y="4315968"/>
            <a:ext cx="3840480" cy="347472"/>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Mean: Acc 0.2784  F1 0.1837  AUC 0.5708  FPR 0.044</a:t>
            </a:r>
            <a:endParaRPr lang="en-US" sz="1100" dirty="0"/>
          </a:p>
        </p:txBody>
      </p:sp>
      <p:sp>
        <p:nvSpPr>
          <p:cNvPr id="36" name="Shape 34"/>
          <p:cNvSpPr/>
          <p:nvPr/>
        </p:nvSpPr>
        <p:spPr>
          <a:xfrm>
            <a:off x="4663440" y="1261872"/>
            <a:ext cx="4114800" cy="356616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7" name="Shape 35"/>
          <p:cNvSpPr/>
          <p:nvPr/>
        </p:nvSpPr>
        <p:spPr>
          <a:xfrm>
            <a:off x="4663440" y="1261872"/>
            <a:ext cx="4114800" cy="54864"/>
          </a:xfrm>
          <a:prstGeom prst="rect">
            <a:avLst/>
          </a:prstGeom>
          <a:solidFill>
            <a:srgbClr val="F59E0B"/>
          </a:solidFill>
          <a:ln w="12700">
            <a:solidFill>
              <a:srgbClr val="F59E0B"/>
            </a:solidFill>
            <a:prstDash val="solid"/>
          </a:ln>
        </p:spPr>
        <p:txBody>
          <a:bodyPr/>
          <a:lstStyle/>
          <a:p>
            <a:endParaRPr lang="en-US"/>
          </a:p>
        </p:txBody>
      </p:sp>
      <p:sp>
        <p:nvSpPr>
          <p:cNvPr id="38" name="Text 36"/>
          <p:cNvSpPr/>
          <p:nvPr/>
        </p:nvSpPr>
        <p:spPr>
          <a:xfrm>
            <a:off x="4800600" y="1353312"/>
            <a:ext cx="3840480" cy="384048"/>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ChatGPT Detector (ChatGPT text only)</a:t>
            </a:r>
            <a:endParaRPr lang="en-US" sz="1150" dirty="0"/>
          </a:p>
        </p:txBody>
      </p:sp>
      <p:sp>
        <p:nvSpPr>
          <p:cNvPr id="39" name="Text 37"/>
          <p:cNvSpPr/>
          <p:nvPr/>
        </p:nvSpPr>
        <p:spPr>
          <a:xfrm>
            <a:off x="4800600" y="1783080"/>
            <a:ext cx="3840480" cy="25603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Model     Acc      F1      AUC     FPR</a:t>
            </a:r>
            <a:endParaRPr lang="en-US" sz="1000" dirty="0"/>
          </a:p>
        </p:txBody>
      </p:sp>
      <p:sp>
        <p:nvSpPr>
          <p:cNvPr id="40" name="Text 38"/>
          <p:cNvSpPr/>
          <p:nvPr/>
        </p:nvSpPr>
        <p:spPr>
          <a:xfrm>
            <a:off x="4800600" y="2084832"/>
            <a:ext cx="914400" cy="34747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GPT-4o</a:t>
            </a:r>
            <a:endParaRPr lang="en-US" sz="1050" dirty="0"/>
          </a:p>
        </p:txBody>
      </p:sp>
      <p:sp>
        <p:nvSpPr>
          <p:cNvPr id="41" name="Text 39"/>
          <p:cNvSpPr/>
          <p:nvPr/>
        </p:nvSpPr>
        <p:spPr>
          <a:xfrm>
            <a:off x="5760720" y="2084832"/>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0.1744</a:t>
            </a:r>
            <a:endParaRPr lang="en-US" sz="1050" dirty="0"/>
          </a:p>
        </p:txBody>
      </p:sp>
      <p:sp>
        <p:nvSpPr>
          <p:cNvPr id="42" name="Text 40"/>
          <p:cNvSpPr/>
          <p:nvPr/>
        </p:nvSpPr>
        <p:spPr>
          <a:xfrm>
            <a:off x="6492240" y="2084832"/>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0.0628</a:t>
            </a:r>
            <a:endParaRPr lang="en-US" sz="1050" dirty="0"/>
          </a:p>
        </p:txBody>
      </p:sp>
      <p:sp>
        <p:nvSpPr>
          <p:cNvPr id="43" name="Text 41"/>
          <p:cNvSpPr/>
          <p:nvPr/>
        </p:nvSpPr>
        <p:spPr>
          <a:xfrm>
            <a:off x="7223760" y="2084832"/>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0.4739</a:t>
            </a:r>
            <a:endParaRPr lang="en-US" sz="1050" dirty="0"/>
          </a:p>
        </p:txBody>
      </p:sp>
      <p:sp>
        <p:nvSpPr>
          <p:cNvPr id="44" name="Text 42"/>
          <p:cNvSpPr/>
          <p:nvPr/>
        </p:nvSpPr>
        <p:spPr>
          <a:xfrm>
            <a:off x="7955280" y="2084832"/>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0.125</a:t>
            </a:r>
            <a:endParaRPr lang="en-US" sz="1050" dirty="0"/>
          </a:p>
        </p:txBody>
      </p:sp>
      <p:sp>
        <p:nvSpPr>
          <p:cNvPr id="45" name="Text 43"/>
          <p:cNvSpPr/>
          <p:nvPr/>
        </p:nvSpPr>
        <p:spPr>
          <a:xfrm>
            <a:off x="4800600" y="2523744"/>
            <a:ext cx="914400" cy="34747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Claude</a:t>
            </a:r>
            <a:endParaRPr lang="en-US" sz="1050" dirty="0"/>
          </a:p>
        </p:txBody>
      </p:sp>
      <p:sp>
        <p:nvSpPr>
          <p:cNvPr id="46" name="Text 44"/>
          <p:cNvSpPr/>
          <p:nvPr/>
        </p:nvSpPr>
        <p:spPr>
          <a:xfrm>
            <a:off x="5760720" y="2523744"/>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0.1501</a:t>
            </a:r>
            <a:endParaRPr lang="en-US" sz="1050" dirty="0"/>
          </a:p>
        </p:txBody>
      </p:sp>
      <p:sp>
        <p:nvSpPr>
          <p:cNvPr id="47" name="Text 45"/>
          <p:cNvSpPr/>
          <p:nvPr/>
        </p:nvSpPr>
        <p:spPr>
          <a:xfrm>
            <a:off x="6492240" y="2523744"/>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0.0000</a:t>
            </a:r>
            <a:endParaRPr lang="en-US" sz="1050" dirty="0"/>
          </a:p>
        </p:txBody>
      </p:sp>
      <p:sp>
        <p:nvSpPr>
          <p:cNvPr id="48" name="Text 46"/>
          <p:cNvSpPr/>
          <p:nvPr/>
        </p:nvSpPr>
        <p:spPr>
          <a:xfrm>
            <a:off x="7223760" y="2523744"/>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0.2722</a:t>
            </a:r>
            <a:endParaRPr lang="en-US" sz="1050" dirty="0"/>
          </a:p>
        </p:txBody>
      </p:sp>
      <p:sp>
        <p:nvSpPr>
          <p:cNvPr id="49" name="Text 47"/>
          <p:cNvSpPr/>
          <p:nvPr/>
        </p:nvSpPr>
        <p:spPr>
          <a:xfrm>
            <a:off x="7955280" y="2523744"/>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0.100</a:t>
            </a:r>
            <a:endParaRPr lang="en-US" sz="1050" dirty="0"/>
          </a:p>
        </p:txBody>
      </p:sp>
      <p:sp>
        <p:nvSpPr>
          <p:cNvPr id="50" name="Text 48"/>
          <p:cNvSpPr/>
          <p:nvPr/>
        </p:nvSpPr>
        <p:spPr>
          <a:xfrm>
            <a:off x="4800600" y="2962656"/>
            <a:ext cx="914400" cy="34747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Gemini</a:t>
            </a:r>
            <a:endParaRPr lang="en-US" sz="1050" dirty="0"/>
          </a:p>
        </p:txBody>
      </p:sp>
      <p:sp>
        <p:nvSpPr>
          <p:cNvPr id="51" name="Text 49"/>
          <p:cNvSpPr/>
          <p:nvPr/>
        </p:nvSpPr>
        <p:spPr>
          <a:xfrm>
            <a:off x="5760720" y="2962656"/>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0.1433</a:t>
            </a:r>
            <a:endParaRPr lang="en-US" sz="1050" dirty="0"/>
          </a:p>
        </p:txBody>
      </p:sp>
      <p:sp>
        <p:nvSpPr>
          <p:cNvPr id="52" name="Text 50"/>
          <p:cNvSpPr/>
          <p:nvPr/>
        </p:nvSpPr>
        <p:spPr>
          <a:xfrm>
            <a:off x="6492240" y="2962656"/>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0.0000</a:t>
            </a:r>
            <a:endParaRPr lang="en-US" sz="1050" dirty="0"/>
          </a:p>
        </p:txBody>
      </p:sp>
      <p:sp>
        <p:nvSpPr>
          <p:cNvPr id="53" name="Text 51"/>
          <p:cNvSpPr/>
          <p:nvPr/>
        </p:nvSpPr>
        <p:spPr>
          <a:xfrm>
            <a:off x="7223760" y="2962656"/>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0.2358</a:t>
            </a:r>
            <a:endParaRPr lang="en-US" sz="1050" dirty="0"/>
          </a:p>
        </p:txBody>
      </p:sp>
      <p:sp>
        <p:nvSpPr>
          <p:cNvPr id="54" name="Text 52"/>
          <p:cNvSpPr/>
          <p:nvPr/>
        </p:nvSpPr>
        <p:spPr>
          <a:xfrm>
            <a:off x="7955280" y="2962656"/>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0.145</a:t>
            </a:r>
            <a:endParaRPr lang="en-US" sz="1050" dirty="0"/>
          </a:p>
        </p:txBody>
      </p:sp>
      <p:sp>
        <p:nvSpPr>
          <p:cNvPr id="55" name="Text 53"/>
          <p:cNvSpPr/>
          <p:nvPr/>
        </p:nvSpPr>
        <p:spPr>
          <a:xfrm>
            <a:off x="4800600" y="3401568"/>
            <a:ext cx="914400" cy="347472"/>
          </a:xfrm>
          <a:prstGeom prst="rect">
            <a:avLst/>
          </a:prstGeom>
          <a:noFill/>
          <a:ln/>
        </p:spPr>
        <p:txBody>
          <a:bodyPr wrap="square" rtlCol="0" anchor="ctr"/>
          <a:lstStyle/>
          <a:p>
            <a:pPr marL="0" indent="0">
              <a:buNone/>
            </a:pPr>
            <a:r>
              <a:rPr lang="en-US" sz="1050" dirty="0">
                <a:solidFill>
                  <a:srgbClr val="F59E0B"/>
                </a:solidFill>
                <a:latin typeface="Calibri" pitchFamily="34" charset="0"/>
                <a:ea typeface="Calibri" pitchFamily="34" charset="-122"/>
                <a:cs typeface="Calibri" pitchFamily="34" charset="-120"/>
              </a:rPr>
              <a:t>LLaMA</a:t>
            </a:r>
            <a:endParaRPr lang="en-US" sz="1050" dirty="0"/>
          </a:p>
        </p:txBody>
      </p:sp>
      <p:sp>
        <p:nvSpPr>
          <p:cNvPr id="56" name="Text 54"/>
          <p:cNvSpPr/>
          <p:nvPr/>
        </p:nvSpPr>
        <p:spPr>
          <a:xfrm>
            <a:off x="5760720" y="3401568"/>
            <a:ext cx="685800" cy="347472"/>
          </a:xfrm>
          <a:prstGeom prst="rect">
            <a:avLst/>
          </a:prstGeom>
          <a:noFill/>
          <a:ln/>
        </p:spPr>
        <p:txBody>
          <a:bodyPr wrap="square" rtlCol="0" anchor="ctr"/>
          <a:lstStyle/>
          <a:p>
            <a:pPr marL="0" indent="0">
              <a:buNone/>
            </a:pPr>
            <a:r>
              <a:rPr lang="en-US" sz="1050" dirty="0">
                <a:solidFill>
                  <a:srgbClr val="F59E0B"/>
                </a:solidFill>
                <a:latin typeface="Calibri" pitchFamily="34" charset="0"/>
                <a:ea typeface="Calibri" pitchFamily="34" charset="-122"/>
                <a:cs typeface="Calibri" pitchFamily="34" charset="-120"/>
              </a:rPr>
              <a:t>0.7408</a:t>
            </a:r>
            <a:endParaRPr lang="en-US" sz="1050" dirty="0"/>
          </a:p>
        </p:txBody>
      </p:sp>
      <p:sp>
        <p:nvSpPr>
          <p:cNvPr id="57" name="Text 55"/>
          <p:cNvSpPr/>
          <p:nvPr/>
        </p:nvSpPr>
        <p:spPr>
          <a:xfrm>
            <a:off x="6492240" y="3401568"/>
            <a:ext cx="685800" cy="347472"/>
          </a:xfrm>
          <a:prstGeom prst="rect">
            <a:avLst/>
          </a:prstGeom>
          <a:noFill/>
          <a:ln/>
        </p:spPr>
        <p:txBody>
          <a:bodyPr wrap="square" rtlCol="0" anchor="ctr"/>
          <a:lstStyle/>
          <a:p>
            <a:pPr marL="0" indent="0">
              <a:buNone/>
            </a:pPr>
            <a:r>
              <a:rPr lang="en-US" sz="1050" dirty="0">
                <a:solidFill>
                  <a:srgbClr val="F59E0B"/>
                </a:solidFill>
                <a:latin typeface="Calibri" pitchFamily="34" charset="0"/>
                <a:ea typeface="Calibri" pitchFamily="34" charset="-122"/>
                <a:cs typeface="Calibri" pitchFamily="34" charset="-120"/>
              </a:rPr>
              <a:t>0.8216</a:t>
            </a:r>
            <a:endParaRPr lang="en-US" sz="1050" dirty="0"/>
          </a:p>
        </p:txBody>
      </p:sp>
      <p:sp>
        <p:nvSpPr>
          <p:cNvPr id="58" name="Text 56"/>
          <p:cNvSpPr/>
          <p:nvPr/>
        </p:nvSpPr>
        <p:spPr>
          <a:xfrm>
            <a:off x="7223760" y="3401568"/>
            <a:ext cx="685800" cy="347472"/>
          </a:xfrm>
          <a:prstGeom prst="rect">
            <a:avLst/>
          </a:prstGeom>
          <a:noFill/>
          <a:ln/>
        </p:spPr>
        <p:txBody>
          <a:bodyPr wrap="square" rtlCol="0" anchor="ctr"/>
          <a:lstStyle/>
          <a:p>
            <a:pPr marL="0" indent="0">
              <a:buNone/>
            </a:pPr>
            <a:r>
              <a:rPr lang="en-US" sz="1050" dirty="0">
                <a:solidFill>
                  <a:srgbClr val="F59E0B"/>
                </a:solidFill>
                <a:latin typeface="Calibri" pitchFamily="34" charset="0"/>
                <a:ea typeface="Calibri" pitchFamily="34" charset="-122"/>
                <a:cs typeface="Calibri" pitchFamily="34" charset="-120"/>
              </a:rPr>
              <a:t>0.8609</a:t>
            </a:r>
            <a:endParaRPr lang="en-US" sz="1050" dirty="0"/>
          </a:p>
        </p:txBody>
      </p:sp>
      <p:sp>
        <p:nvSpPr>
          <p:cNvPr id="59" name="Text 57"/>
          <p:cNvSpPr/>
          <p:nvPr/>
        </p:nvSpPr>
        <p:spPr>
          <a:xfrm>
            <a:off x="7955280" y="3401568"/>
            <a:ext cx="685800" cy="347472"/>
          </a:xfrm>
          <a:prstGeom prst="rect">
            <a:avLst/>
          </a:prstGeom>
          <a:noFill/>
          <a:ln/>
        </p:spPr>
        <p:txBody>
          <a:bodyPr wrap="square" rtlCol="0" anchor="ctr"/>
          <a:lstStyle/>
          <a:p>
            <a:pPr marL="0" indent="0">
              <a:buNone/>
            </a:pPr>
            <a:r>
              <a:rPr lang="en-US" sz="1050" dirty="0">
                <a:solidFill>
                  <a:srgbClr val="F59E0B"/>
                </a:solidFill>
                <a:latin typeface="Calibri" pitchFamily="34" charset="0"/>
                <a:ea typeface="Calibri" pitchFamily="34" charset="-122"/>
                <a:cs typeface="Calibri" pitchFamily="34" charset="-120"/>
              </a:rPr>
              <a:t>0.135</a:t>
            </a:r>
            <a:endParaRPr lang="en-US" sz="1050" dirty="0"/>
          </a:p>
        </p:txBody>
      </p:sp>
      <p:sp>
        <p:nvSpPr>
          <p:cNvPr id="60" name="Text 58"/>
          <p:cNvSpPr/>
          <p:nvPr/>
        </p:nvSpPr>
        <p:spPr>
          <a:xfrm>
            <a:off x="4800600" y="3840480"/>
            <a:ext cx="914400" cy="34747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Qwen</a:t>
            </a:r>
            <a:endParaRPr lang="en-US" sz="1050" dirty="0"/>
          </a:p>
        </p:txBody>
      </p:sp>
      <p:sp>
        <p:nvSpPr>
          <p:cNvPr id="61" name="Text 59"/>
          <p:cNvSpPr/>
          <p:nvPr/>
        </p:nvSpPr>
        <p:spPr>
          <a:xfrm>
            <a:off x="5760720" y="3840480"/>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0.1647</a:t>
            </a:r>
            <a:endParaRPr lang="en-US" sz="1050" dirty="0"/>
          </a:p>
        </p:txBody>
      </p:sp>
      <p:sp>
        <p:nvSpPr>
          <p:cNvPr id="62" name="Text 60"/>
          <p:cNvSpPr/>
          <p:nvPr/>
        </p:nvSpPr>
        <p:spPr>
          <a:xfrm>
            <a:off x="6492240" y="3840480"/>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0.0292</a:t>
            </a:r>
            <a:endParaRPr lang="en-US" sz="1050" dirty="0"/>
          </a:p>
        </p:txBody>
      </p:sp>
      <p:sp>
        <p:nvSpPr>
          <p:cNvPr id="63" name="Text 61"/>
          <p:cNvSpPr/>
          <p:nvPr/>
        </p:nvSpPr>
        <p:spPr>
          <a:xfrm>
            <a:off x="7223760" y="3840480"/>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0.2417</a:t>
            </a:r>
            <a:endParaRPr lang="en-US" sz="1050" dirty="0"/>
          </a:p>
        </p:txBody>
      </p:sp>
      <p:sp>
        <p:nvSpPr>
          <p:cNvPr id="64" name="Text 62"/>
          <p:cNvSpPr/>
          <p:nvPr/>
        </p:nvSpPr>
        <p:spPr>
          <a:xfrm>
            <a:off x="7955280" y="3840480"/>
            <a:ext cx="685800" cy="34747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0.090</a:t>
            </a:r>
            <a:endParaRPr lang="en-US" sz="1050" dirty="0"/>
          </a:p>
        </p:txBody>
      </p:sp>
      <p:sp>
        <p:nvSpPr>
          <p:cNvPr id="65" name="Text 63"/>
          <p:cNvSpPr/>
          <p:nvPr/>
        </p:nvSpPr>
        <p:spPr>
          <a:xfrm>
            <a:off x="4800600" y="4315968"/>
            <a:ext cx="3840480" cy="347472"/>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Mean: Acc 0.2747  F1 0.1827  AUC 0.4169  FPR 0.119</a:t>
            </a:r>
            <a:endParaRPr lang="en-US" sz="1100" dirty="0"/>
          </a:p>
        </p:txBody>
      </p:sp>
      <p:sp>
        <p:nvSpPr>
          <p:cNvPr id="66" name="Text 64"/>
          <p:cNvSpPr/>
          <p:nvPr/>
        </p:nvSpPr>
        <p:spPr>
          <a:xfrm>
            <a:off x="365760" y="4956048"/>
            <a:ext cx="8412480" cy="182880"/>
          </a:xfrm>
          <a:prstGeom prst="rect">
            <a:avLst/>
          </a:prstGeom>
          <a:noFill/>
          <a:ln/>
        </p:spPr>
        <p:txBody>
          <a:bodyPr wrap="square" rtlCol="0" anchor="ctr"/>
          <a:lstStyle/>
          <a:p>
            <a:pPr marL="0" indent="0">
              <a:buNone/>
            </a:pPr>
            <a:r>
              <a:rPr lang="en-US" sz="1100" i="1" dirty="0">
                <a:solidFill>
                  <a:srgbClr val="EF4444"/>
                </a:solidFill>
                <a:latin typeface="Calibri" pitchFamily="34" charset="0"/>
                <a:ea typeface="Calibri" pitchFamily="34" charset="-122"/>
                <a:cs typeface="Calibri" pitchFamily="34" charset="-120"/>
              </a:rPr>
              <a:t>AUC &lt; 0.5 on Claude, Gemini, Qwen — both detectors perform WORSE than a random coin flip on these models. Fine-tuning on one model's text does not generalize.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Feature Importance</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Top 10 — vocabulary complexity dominates</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13 / 24</a:t>
            </a:r>
            <a:endParaRPr lang="en-US" sz="900" dirty="0"/>
          </a:p>
        </p:txBody>
      </p:sp>
      <p:sp>
        <p:nvSpPr>
          <p:cNvPr id="6" name="Shape 4"/>
          <p:cNvSpPr/>
          <p:nvPr/>
        </p:nvSpPr>
        <p:spPr>
          <a:xfrm>
            <a:off x="365760" y="1261872"/>
            <a:ext cx="2331720" cy="2926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Text 5"/>
          <p:cNvSpPr/>
          <p:nvPr/>
        </p:nvSpPr>
        <p:spPr>
          <a:xfrm>
            <a:off x="457200" y="1307592"/>
            <a:ext cx="224028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syllables_per_word</a:t>
            </a:r>
            <a:endParaRPr lang="en-US" sz="1050" dirty="0"/>
          </a:p>
        </p:txBody>
      </p:sp>
      <p:sp>
        <p:nvSpPr>
          <p:cNvPr id="8" name="Shape 6"/>
          <p:cNvSpPr/>
          <p:nvPr/>
        </p:nvSpPr>
        <p:spPr>
          <a:xfrm>
            <a:off x="2834640" y="1298448"/>
            <a:ext cx="5091562" cy="219456"/>
          </a:xfrm>
          <a:prstGeom prst="rect">
            <a:avLst/>
          </a:prstGeom>
          <a:solidFill>
            <a:srgbClr val="00D4FF"/>
          </a:solidFill>
          <a:ln w="12700">
            <a:solidFill>
              <a:srgbClr val="00D4FF"/>
            </a:solidFill>
            <a:prstDash val="solid"/>
          </a:ln>
        </p:spPr>
        <p:txBody>
          <a:bodyPr/>
          <a:lstStyle/>
          <a:p>
            <a:endParaRPr lang="en-US"/>
          </a:p>
        </p:txBody>
      </p:sp>
      <p:sp>
        <p:nvSpPr>
          <p:cNvPr id="9" name="Text 7"/>
          <p:cNvSpPr/>
          <p:nvPr/>
        </p:nvSpPr>
        <p:spPr>
          <a:xfrm>
            <a:off x="7971922" y="1307592"/>
            <a:ext cx="914400" cy="228600"/>
          </a:xfrm>
          <a:prstGeom prst="rect">
            <a:avLst/>
          </a:prstGeom>
          <a:noFill/>
          <a:ln/>
        </p:spPr>
        <p:txBody>
          <a:bodyPr wrap="square" rtlCol="0" anchor="ctr"/>
          <a:lstStyle/>
          <a:p>
            <a:pPr marL="0" indent="0">
              <a:buNone/>
            </a:pPr>
            <a:r>
              <a:rPr lang="en-US" sz="1050" b="1" dirty="0">
                <a:solidFill>
                  <a:srgbClr val="00D4FF"/>
                </a:solidFill>
                <a:latin typeface="Calibri" pitchFamily="34" charset="0"/>
                <a:ea typeface="Calibri" pitchFamily="34" charset="-122"/>
                <a:cs typeface="Calibri" pitchFamily="34" charset="-120"/>
              </a:rPr>
              <a:t>50.6%</a:t>
            </a:r>
            <a:endParaRPr lang="en-US" sz="1050" dirty="0"/>
          </a:p>
        </p:txBody>
      </p:sp>
      <p:sp>
        <p:nvSpPr>
          <p:cNvPr id="10" name="Text 8"/>
          <p:cNvSpPr/>
          <p:nvPr/>
        </p:nvSpPr>
        <p:spPr>
          <a:xfrm>
            <a:off x="5303520" y="1307592"/>
            <a:ext cx="347472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AI uses more complex, polysyllabic words</a:t>
            </a:r>
            <a:endParaRPr lang="en-US" sz="1000" dirty="0"/>
          </a:p>
        </p:txBody>
      </p:sp>
      <p:sp>
        <p:nvSpPr>
          <p:cNvPr id="11" name="Shape 9"/>
          <p:cNvSpPr/>
          <p:nvPr/>
        </p:nvSpPr>
        <p:spPr>
          <a:xfrm>
            <a:off x="365760" y="1627632"/>
            <a:ext cx="2331720" cy="2926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2" name="Text 10"/>
          <p:cNvSpPr/>
          <p:nvPr/>
        </p:nvSpPr>
        <p:spPr>
          <a:xfrm>
            <a:off x="457200" y="1673352"/>
            <a:ext cx="224028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avg_word_len</a:t>
            </a:r>
            <a:endParaRPr lang="en-US" sz="1050" dirty="0"/>
          </a:p>
        </p:txBody>
      </p:sp>
      <p:sp>
        <p:nvSpPr>
          <p:cNvPr id="13" name="Shape 11"/>
          <p:cNvSpPr/>
          <p:nvPr/>
        </p:nvSpPr>
        <p:spPr>
          <a:xfrm>
            <a:off x="2834640" y="1664208"/>
            <a:ext cx="1082284" cy="219456"/>
          </a:xfrm>
          <a:prstGeom prst="rect">
            <a:avLst/>
          </a:prstGeom>
          <a:solidFill>
            <a:srgbClr val="10B981"/>
          </a:solidFill>
          <a:ln w="12700">
            <a:solidFill>
              <a:srgbClr val="10B981"/>
            </a:solidFill>
            <a:prstDash val="solid"/>
          </a:ln>
        </p:spPr>
        <p:txBody>
          <a:bodyPr/>
          <a:lstStyle/>
          <a:p>
            <a:endParaRPr lang="en-US"/>
          </a:p>
        </p:txBody>
      </p:sp>
      <p:sp>
        <p:nvSpPr>
          <p:cNvPr id="14" name="Text 12"/>
          <p:cNvSpPr/>
          <p:nvPr/>
        </p:nvSpPr>
        <p:spPr>
          <a:xfrm>
            <a:off x="3962644" y="1673352"/>
            <a:ext cx="914400" cy="228600"/>
          </a:xfrm>
          <a:prstGeom prst="rect">
            <a:avLst/>
          </a:prstGeom>
          <a:noFill/>
          <a:ln/>
        </p:spPr>
        <p:txBody>
          <a:bodyPr wrap="square"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10.8%</a:t>
            </a:r>
            <a:endParaRPr lang="en-US" sz="1050" dirty="0"/>
          </a:p>
        </p:txBody>
      </p:sp>
      <p:sp>
        <p:nvSpPr>
          <p:cNvPr id="15" name="Text 13"/>
          <p:cNvSpPr/>
          <p:nvPr/>
        </p:nvSpPr>
        <p:spPr>
          <a:xfrm>
            <a:off x="5303520" y="1673352"/>
            <a:ext cx="347472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AI uses longer words on average</a:t>
            </a:r>
            <a:endParaRPr lang="en-US" sz="1000" dirty="0"/>
          </a:p>
        </p:txBody>
      </p:sp>
      <p:sp>
        <p:nvSpPr>
          <p:cNvPr id="16" name="Shape 14"/>
          <p:cNvSpPr/>
          <p:nvPr/>
        </p:nvSpPr>
        <p:spPr>
          <a:xfrm>
            <a:off x="365760" y="1993392"/>
            <a:ext cx="2331720" cy="2926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7" name="Text 15"/>
          <p:cNvSpPr/>
          <p:nvPr/>
        </p:nvSpPr>
        <p:spPr>
          <a:xfrm>
            <a:off x="457200" y="2039112"/>
            <a:ext cx="224028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long_word_ratio</a:t>
            </a:r>
            <a:endParaRPr lang="en-US" sz="1050" dirty="0"/>
          </a:p>
        </p:txBody>
      </p:sp>
      <p:sp>
        <p:nvSpPr>
          <p:cNvPr id="18" name="Shape 16"/>
          <p:cNvSpPr/>
          <p:nvPr/>
        </p:nvSpPr>
        <p:spPr>
          <a:xfrm>
            <a:off x="2834640" y="2029968"/>
            <a:ext cx="780532" cy="219456"/>
          </a:xfrm>
          <a:prstGeom prst="rect">
            <a:avLst/>
          </a:prstGeom>
          <a:solidFill>
            <a:srgbClr val="10B981"/>
          </a:solidFill>
          <a:ln w="12700">
            <a:solidFill>
              <a:srgbClr val="10B981"/>
            </a:solidFill>
            <a:prstDash val="solid"/>
          </a:ln>
        </p:spPr>
        <p:txBody>
          <a:bodyPr/>
          <a:lstStyle/>
          <a:p>
            <a:endParaRPr lang="en-US"/>
          </a:p>
        </p:txBody>
      </p:sp>
      <p:sp>
        <p:nvSpPr>
          <p:cNvPr id="19" name="Text 17"/>
          <p:cNvSpPr/>
          <p:nvPr/>
        </p:nvSpPr>
        <p:spPr>
          <a:xfrm>
            <a:off x="3660892" y="2039112"/>
            <a:ext cx="914400" cy="228600"/>
          </a:xfrm>
          <a:prstGeom prst="rect">
            <a:avLst/>
          </a:prstGeom>
          <a:noFill/>
          <a:ln/>
        </p:spPr>
        <p:txBody>
          <a:bodyPr wrap="square"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7.8%</a:t>
            </a:r>
            <a:endParaRPr lang="en-US" sz="1050" dirty="0"/>
          </a:p>
        </p:txBody>
      </p:sp>
      <p:sp>
        <p:nvSpPr>
          <p:cNvPr id="20" name="Text 18"/>
          <p:cNvSpPr/>
          <p:nvPr/>
        </p:nvSpPr>
        <p:spPr>
          <a:xfrm>
            <a:off x="5303520" y="2039112"/>
            <a:ext cx="347472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AI uses more words &gt;7 characters</a:t>
            </a:r>
            <a:endParaRPr lang="en-US" sz="1000" dirty="0"/>
          </a:p>
        </p:txBody>
      </p:sp>
      <p:sp>
        <p:nvSpPr>
          <p:cNvPr id="21" name="Shape 19"/>
          <p:cNvSpPr/>
          <p:nvPr/>
        </p:nvSpPr>
        <p:spPr>
          <a:xfrm>
            <a:off x="365760" y="2359152"/>
            <a:ext cx="2331720" cy="2926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2" name="Text 20"/>
          <p:cNvSpPr/>
          <p:nvPr/>
        </p:nvSpPr>
        <p:spPr>
          <a:xfrm>
            <a:off x="457200" y="2404872"/>
            <a:ext cx="224028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hapax_ratio</a:t>
            </a:r>
            <a:endParaRPr lang="en-US" sz="1050" dirty="0"/>
          </a:p>
        </p:txBody>
      </p:sp>
      <p:sp>
        <p:nvSpPr>
          <p:cNvPr id="23" name="Shape 21"/>
          <p:cNvSpPr/>
          <p:nvPr/>
        </p:nvSpPr>
        <p:spPr>
          <a:xfrm>
            <a:off x="2834640" y="2395728"/>
            <a:ext cx="682965" cy="219456"/>
          </a:xfrm>
          <a:prstGeom prst="rect">
            <a:avLst/>
          </a:prstGeom>
          <a:solidFill>
            <a:srgbClr val="10B981"/>
          </a:solidFill>
          <a:ln w="12700">
            <a:solidFill>
              <a:srgbClr val="10B981"/>
            </a:solidFill>
            <a:prstDash val="solid"/>
          </a:ln>
        </p:spPr>
        <p:txBody>
          <a:bodyPr/>
          <a:lstStyle/>
          <a:p>
            <a:endParaRPr lang="en-US"/>
          </a:p>
        </p:txBody>
      </p:sp>
      <p:sp>
        <p:nvSpPr>
          <p:cNvPr id="24" name="Text 22"/>
          <p:cNvSpPr/>
          <p:nvPr/>
        </p:nvSpPr>
        <p:spPr>
          <a:xfrm>
            <a:off x="3563325" y="2404872"/>
            <a:ext cx="914400" cy="228600"/>
          </a:xfrm>
          <a:prstGeom prst="rect">
            <a:avLst/>
          </a:prstGeom>
          <a:noFill/>
          <a:ln/>
        </p:spPr>
        <p:txBody>
          <a:bodyPr wrap="square"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6.8%</a:t>
            </a:r>
            <a:endParaRPr lang="en-US" sz="1050" dirty="0"/>
          </a:p>
        </p:txBody>
      </p:sp>
      <p:sp>
        <p:nvSpPr>
          <p:cNvPr id="25" name="Text 23"/>
          <p:cNvSpPr/>
          <p:nvPr/>
        </p:nvSpPr>
        <p:spPr>
          <a:xfrm>
            <a:off x="5303520" y="2404872"/>
            <a:ext cx="347472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Words used exactly once / vocabulary size</a:t>
            </a:r>
            <a:endParaRPr lang="en-US" sz="1000" dirty="0"/>
          </a:p>
        </p:txBody>
      </p:sp>
      <p:sp>
        <p:nvSpPr>
          <p:cNvPr id="26" name="Shape 24"/>
          <p:cNvSpPr/>
          <p:nvPr/>
        </p:nvSpPr>
        <p:spPr>
          <a:xfrm>
            <a:off x="365760" y="2724912"/>
            <a:ext cx="2331720" cy="2926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7" name="Text 25"/>
          <p:cNvSpPr/>
          <p:nvPr/>
        </p:nvSpPr>
        <p:spPr>
          <a:xfrm>
            <a:off x="457200" y="2770632"/>
            <a:ext cx="224028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lexical_density</a:t>
            </a:r>
            <a:endParaRPr lang="en-US" sz="1050" dirty="0"/>
          </a:p>
        </p:txBody>
      </p:sp>
      <p:sp>
        <p:nvSpPr>
          <p:cNvPr id="28" name="Shape 26"/>
          <p:cNvSpPr/>
          <p:nvPr/>
        </p:nvSpPr>
        <p:spPr>
          <a:xfrm>
            <a:off x="2834640" y="2761488"/>
            <a:ext cx="595457" cy="219456"/>
          </a:xfrm>
          <a:prstGeom prst="rect">
            <a:avLst/>
          </a:prstGeom>
          <a:solidFill>
            <a:srgbClr val="10B981"/>
          </a:solidFill>
          <a:ln w="12700">
            <a:solidFill>
              <a:srgbClr val="10B981"/>
            </a:solidFill>
            <a:prstDash val="solid"/>
          </a:ln>
        </p:spPr>
        <p:txBody>
          <a:bodyPr/>
          <a:lstStyle/>
          <a:p>
            <a:endParaRPr lang="en-US"/>
          </a:p>
        </p:txBody>
      </p:sp>
      <p:sp>
        <p:nvSpPr>
          <p:cNvPr id="29" name="Text 27"/>
          <p:cNvSpPr/>
          <p:nvPr/>
        </p:nvSpPr>
        <p:spPr>
          <a:xfrm>
            <a:off x="3475817" y="2770632"/>
            <a:ext cx="914400" cy="228600"/>
          </a:xfrm>
          <a:prstGeom prst="rect">
            <a:avLst/>
          </a:prstGeom>
          <a:noFill/>
          <a:ln/>
        </p:spPr>
        <p:txBody>
          <a:bodyPr wrap="square"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5.9%</a:t>
            </a:r>
            <a:endParaRPr lang="en-US" sz="1050" dirty="0"/>
          </a:p>
        </p:txBody>
      </p:sp>
      <p:sp>
        <p:nvSpPr>
          <p:cNvPr id="30" name="Text 28"/>
          <p:cNvSpPr/>
          <p:nvPr/>
        </p:nvSpPr>
        <p:spPr>
          <a:xfrm>
            <a:off x="5303520" y="2770632"/>
            <a:ext cx="347472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Content words as proportion of total</a:t>
            </a:r>
            <a:endParaRPr lang="en-US" sz="1000" dirty="0"/>
          </a:p>
        </p:txBody>
      </p:sp>
      <p:sp>
        <p:nvSpPr>
          <p:cNvPr id="31" name="Shape 29"/>
          <p:cNvSpPr/>
          <p:nvPr/>
        </p:nvSpPr>
        <p:spPr>
          <a:xfrm>
            <a:off x="365760" y="3090672"/>
            <a:ext cx="2331720" cy="2926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2" name="Text 30"/>
          <p:cNvSpPr/>
          <p:nvPr/>
        </p:nvSpPr>
        <p:spPr>
          <a:xfrm>
            <a:off x="457200" y="3136392"/>
            <a:ext cx="224028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word_length_variance</a:t>
            </a:r>
            <a:endParaRPr lang="en-US" sz="1050" dirty="0"/>
          </a:p>
        </p:txBody>
      </p:sp>
      <p:sp>
        <p:nvSpPr>
          <p:cNvPr id="33" name="Shape 31"/>
          <p:cNvSpPr/>
          <p:nvPr/>
        </p:nvSpPr>
        <p:spPr>
          <a:xfrm>
            <a:off x="2834640" y="3127248"/>
            <a:ext cx="392278" cy="219456"/>
          </a:xfrm>
          <a:prstGeom prst="rect">
            <a:avLst/>
          </a:prstGeom>
          <a:solidFill>
            <a:srgbClr val="94A3B8"/>
          </a:solidFill>
          <a:ln w="12700">
            <a:solidFill>
              <a:srgbClr val="94A3B8"/>
            </a:solidFill>
            <a:prstDash val="solid"/>
          </a:ln>
        </p:spPr>
        <p:txBody>
          <a:bodyPr/>
          <a:lstStyle/>
          <a:p>
            <a:endParaRPr lang="en-US"/>
          </a:p>
        </p:txBody>
      </p:sp>
      <p:sp>
        <p:nvSpPr>
          <p:cNvPr id="34" name="Text 32"/>
          <p:cNvSpPr/>
          <p:nvPr/>
        </p:nvSpPr>
        <p:spPr>
          <a:xfrm>
            <a:off x="3272638" y="3136392"/>
            <a:ext cx="914400" cy="228600"/>
          </a:xfrm>
          <a:prstGeom prst="rect">
            <a:avLst/>
          </a:prstGeom>
          <a:noFill/>
          <a:ln/>
        </p:spPr>
        <p:txBody>
          <a:bodyPr wrap="square"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3.9%</a:t>
            </a:r>
            <a:endParaRPr lang="en-US" sz="1050" dirty="0"/>
          </a:p>
        </p:txBody>
      </p:sp>
      <p:sp>
        <p:nvSpPr>
          <p:cNvPr id="35" name="Text 33"/>
          <p:cNvSpPr/>
          <p:nvPr/>
        </p:nvSpPr>
        <p:spPr>
          <a:xfrm>
            <a:off x="5303520" y="3136392"/>
            <a:ext cx="347472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How varied word lengths are</a:t>
            </a:r>
            <a:endParaRPr lang="en-US" sz="1000" dirty="0"/>
          </a:p>
        </p:txBody>
      </p:sp>
      <p:sp>
        <p:nvSpPr>
          <p:cNvPr id="36" name="Shape 34"/>
          <p:cNvSpPr/>
          <p:nvPr/>
        </p:nvSpPr>
        <p:spPr>
          <a:xfrm>
            <a:off x="365760" y="3456432"/>
            <a:ext cx="2331720" cy="2926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7" name="Text 35"/>
          <p:cNvSpPr/>
          <p:nvPr/>
        </p:nvSpPr>
        <p:spPr>
          <a:xfrm>
            <a:off x="457200" y="3502152"/>
            <a:ext cx="224028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type_token_ratio</a:t>
            </a:r>
            <a:endParaRPr lang="en-US" sz="1050" dirty="0"/>
          </a:p>
        </p:txBody>
      </p:sp>
      <p:sp>
        <p:nvSpPr>
          <p:cNvPr id="38" name="Shape 36"/>
          <p:cNvSpPr/>
          <p:nvPr/>
        </p:nvSpPr>
        <p:spPr>
          <a:xfrm>
            <a:off x="2834640" y="3493008"/>
            <a:ext cx="296723" cy="219456"/>
          </a:xfrm>
          <a:prstGeom prst="rect">
            <a:avLst/>
          </a:prstGeom>
          <a:solidFill>
            <a:srgbClr val="94A3B8"/>
          </a:solidFill>
          <a:ln w="12700">
            <a:solidFill>
              <a:srgbClr val="94A3B8"/>
            </a:solidFill>
            <a:prstDash val="solid"/>
          </a:ln>
        </p:spPr>
        <p:txBody>
          <a:bodyPr/>
          <a:lstStyle/>
          <a:p>
            <a:endParaRPr lang="en-US"/>
          </a:p>
        </p:txBody>
      </p:sp>
      <p:sp>
        <p:nvSpPr>
          <p:cNvPr id="39" name="Text 37"/>
          <p:cNvSpPr/>
          <p:nvPr/>
        </p:nvSpPr>
        <p:spPr>
          <a:xfrm>
            <a:off x="3177083" y="3502152"/>
            <a:ext cx="914400" cy="228600"/>
          </a:xfrm>
          <a:prstGeom prst="rect">
            <a:avLst/>
          </a:prstGeom>
          <a:noFill/>
          <a:ln/>
        </p:spPr>
        <p:txBody>
          <a:bodyPr wrap="square"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2.9%</a:t>
            </a:r>
            <a:endParaRPr lang="en-US" sz="1050" dirty="0"/>
          </a:p>
        </p:txBody>
      </p:sp>
      <p:sp>
        <p:nvSpPr>
          <p:cNvPr id="40" name="Text 38"/>
          <p:cNvSpPr/>
          <p:nvPr/>
        </p:nvSpPr>
        <p:spPr>
          <a:xfrm>
            <a:off x="5303520" y="3502152"/>
            <a:ext cx="347472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Vocabulary diversity measure</a:t>
            </a:r>
            <a:endParaRPr lang="en-US" sz="1000" dirty="0"/>
          </a:p>
        </p:txBody>
      </p:sp>
      <p:sp>
        <p:nvSpPr>
          <p:cNvPr id="41" name="Shape 39"/>
          <p:cNvSpPr/>
          <p:nvPr/>
        </p:nvSpPr>
        <p:spPr>
          <a:xfrm>
            <a:off x="365760" y="3822192"/>
            <a:ext cx="2331720" cy="2926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42" name="Text 40"/>
          <p:cNvSpPr/>
          <p:nvPr/>
        </p:nvSpPr>
        <p:spPr>
          <a:xfrm>
            <a:off x="457200" y="3867912"/>
            <a:ext cx="224028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repetition_rate</a:t>
            </a:r>
            <a:endParaRPr lang="en-US" sz="1050" dirty="0"/>
          </a:p>
        </p:txBody>
      </p:sp>
      <p:sp>
        <p:nvSpPr>
          <p:cNvPr id="43" name="Shape 41"/>
          <p:cNvSpPr/>
          <p:nvPr/>
        </p:nvSpPr>
        <p:spPr>
          <a:xfrm>
            <a:off x="2834640" y="3858768"/>
            <a:ext cx="223296" cy="219456"/>
          </a:xfrm>
          <a:prstGeom prst="rect">
            <a:avLst/>
          </a:prstGeom>
          <a:solidFill>
            <a:srgbClr val="94A3B8"/>
          </a:solidFill>
          <a:ln w="12700">
            <a:solidFill>
              <a:srgbClr val="94A3B8"/>
            </a:solidFill>
            <a:prstDash val="solid"/>
          </a:ln>
        </p:spPr>
        <p:txBody>
          <a:bodyPr/>
          <a:lstStyle/>
          <a:p>
            <a:endParaRPr lang="en-US"/>
          </a:p>
        </p:txBody>
      </p:sp>
      <p:sp>
        <p:nvSpPr>
          <p:cNvPr id="44" name="Text 42"/>
          <p:cNvSpPr/>
          <p:nvPr/>
        </p:nvSpPr>
        <p:spPr>
          <a:xfrm>
            <a:off x="3103656" y="3867912"/>
            <a:ext cx="914400" cy="228600"/>
          </a:xfrm>
          <a:prstGeom prst="rect">
            <a:avLst/>
          </a:prstGeom>
          <a:noFill/>
          <a:ln/>
        </p:spPr>
        <p:txBody>
          <a:bodyPr wrap="square"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2.2%</a:t>
            </a:r>
            <a:endParaRPr lang="en-US" sz="1050" dirty="0"/>
          </a:p>
        </p:txBody>
      </p:sp>
      <p:sp>
        <p:nvSpPr>
          <p:cNvPr id="45" name="Text 43"/>
          <p:cNvSpPr/>
          <p:nvPr/>
        </p:nvSpPr>
        <p:spPr>
          <a:xfrm>
            <a:off x="5303520" y="3867912"/>
            <a:ext cx="347472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How often word pairs repeat</a:t>
            </a:r>
            <a:endParaRPr lang="en-US" sz="1000" dirty="0"/>
          </a:p>
        </p:txBody>
      </p:sp>
      <p:sp>
        <p:nvSpPr>
          <p:cNvPr id="46" name="Shape 44"/>
          <p:cNvSpPr/>
          <p:nvPr/>
        </p:nvSpPr>
        <p:spPr>
          <a:xfrm>
            <a:off x="365760" y="4187952"/>
            <a:ext cx="2331720" cy="2926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47" name="Text 45"/>
          <p:cNvSpPr/>
          <p:nvPr/>
        </p:nvSpPr>
        <p:spPr>
          <a:xfrm>
            <a:off x="457200" y="4233672"/>
            <a:ext cx="224028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pos_pronoun_ratio</a:t>
            </a:r>
            <a:endParaRPr lang="en-US" sz="1050" dirty="0"/>
          </a:p>
        </p:txBody>
      </p:sp>
      <p:sp>
        <p:nvSpPr>
          <p:cNvPr id="48" name="Shape 46"/>
          <p:cNvSpPr/>
          <p:nvPr/>
        </p:nvSpPr>
        <p:spPr>
          <a:xfrm>
            <a:off x="2834640" y="4224528"/>
            <a:ext cx="192115" cy="219456"/>
          </a:xfrm>
          <a:prstGeom prst="rect">
            <a:avLst/>
          </a:prstGeom>
          <a:solidFill>
            <a:srgbClr val="94A3B8"/>
          </a:solidFill>
          <a:ln w="12700">
            <a:solidFill>
              <a:srgbClr val="94A3B8"/>
            </a:solidFill>
            <a:prstDash val="solid"/>
          </a:ln>
        </p:spPr>
        <p:txBody>
          <a:bodyPr/>
          <a:lstStyle/>
          <a:p>
            <a:endParaRPr lang="en-US"/>
          </a:p>
        </p:txBody>
      </p:sp>
      <p:sp>
        <p:nvSpPr>
          <p:cNvPr id="49" name="Text 47"/>
          <p:cNvSpPr/>
          <p:nvPr/>
        </p:nvSpPr>
        <p:spPr>
          <a:xfrm>
            <a:off x="3072475" y="4233672"/>
            <a:ext cx="914400" cy="228600"/>
          </a:xfrm>
          <a:prstGeom prst="rect">
            <a:avLst/>
          </a:prstGeom>
          <a:noFill/>
          <a:ln/>
        </p:spPr>
        <p:txBody>
          <a:bodyPr wrap="square"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1.9%</a:t>
            </a:r>
            <a:endParaRPr lang="en-US" sz="1050" dirty="0"/>
          </a:p>
        </p:txBody>
      </p:sp>
      <p:sp>
        <p:nvSpPr>
          <p:cNvPr id="50" name="Text 48"/>
          <p:cNvSpPr/>
          <p:nvPr/>
        </p:nvSpPr>
        <p:spPr>
          <a:xfrm>
            <a:off x="5303520" y="4233672"/>
            <a:ext cx="347472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Pronoun frequency — humans use more</a:t>
            </a:r>
            <a:endParaRPr lang="en-US" sz="1000" dirty="0"/>
          </a:p>
        </p:txBody>
      </p:sp>
      <p:sp>
        <p:nvSpPr>
          <p:cNvPr id="51" name="Shape 49"/>
          <p:cNvSpPr/>
          <p:nvPr/>
        </p:nvSpPr>
        <p:spPr>
          <a:xfrm>
            <a:off x="365760" y="4553712"/>
            <a:ext cx="2331720" cy="292608"/>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52" name="Text 50"/>
          <p:cNvSpPr/>
          <p:nvPr/>
        </p:nvSpPr>
        <p:spPr>
          <a:xfrm>
            <a:off x="457200" y="4599432"/>
            <a:ext cx="224028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short_word_ratio</a:t>
            </a:r>
            <a:endParaRPr lang="en-US" sz="1050" dirty="0"/>
          </a:p>
        </p:txBody>
      </p:sp>
      <p:sp>
        <p:nvSpPr>
          <p:cNvPr id="53" name="Shape 51"/>
          <p:cNvSpPr/>
          <p:nvPr/>
        </p:nvSpPr>
        <p:spPr>
          <a:xfrm>
            <a:off x="2834640" y="4590288"/>
            <a:ext cx="171999" cy="219456"/>
          </a:xfrm>
          <a:prstGeom prst="rect">
            <a:avLst/>
          </a:prstGeom>
          <a:solidFill>
            <a:srgbClr val="94A3B8"/>
          </a:solidFill>
          <a:ln w="12700">
            <a:solidFill>
              <a:srgbClr val="94A3B8"/>
            </a:solidFill>
            <a:prstDash val="solid"/>
          </a:ln>
        </p:spPr>
        <p:txBody>
          <a:bodyPr/>
          <a:lstStyle/>
          <a:p>
            <a:endParaRPr lang="en-US"/>
          </a:p>
        </p:txBody>
      </p:sp>
      <p:sp>
        <p:nvSpPr>
          <p:cNvPr id="54" name="Text 52"/>
          <p:cNvSpPr/>
          <p:nvPr/>
        </p:nvSpPr>
        <p:spPr>
          <a:xfrm>
            <a:off x="3052359" y="4599432"/>
            <a:ext cx="914400" cy="228600"/>
          </a:xfrm>
          <a:prstGeom prst="rect">
            <a:avLst/>
          </a:prstGeom>
          <a:noFill/>
          <a:ln/>
        </p:spPr>
        <p:txBody>
          <a:bodyPr wrap="square"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1.7%</a:t>
            </a:r>
            <a:endParaRPr lang="en-US" sz="1050" dirty="0"/>
          </a:p>
        </p:txBody>
      </p:sp>
      <p:sp>
        <p:nvSpPr>
          <p:cNvPr id="55" name="Text 53"/>
          <p:cNvSpPr/>
          <p:nvPr/>
        </p:nvSpPr>
        <p:spPr>
          <a:xfrm>
            <a:off x="5303520" y="4599432"/>
            <a:ext cx="347472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Humans use more short words</a:t>
            </a:r>
            <a:endParaRPr lang="en-US" sz="1000" dirty="0"/>
          </a:p>
        </p:txBody>
      </p:sp>
      <p:sp>
        <p:nvSpPr>
          <p:cNvPr id="56" name="Text 54"/>
          <p:cNvSpPr/>
          <p:nvPr/>
        </p:nvSpPr>
        <p:spPr>
          <a:xfrm>
            <a:off x="365760" y="4956048"/>
            <a:ext cx="8412480" cy="182880"/>
          </a:xfrm>
          <a:prstGeom prst="rect">
            <a:avLst/>
          </a:prstGeom>
          <a:noFill/>
          <a:ln/>
        </p:spPr>
        <p:txBody>
          <a:bodyPr wrap="square"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Combined RF + XGBoost average importance  |  Top 5 are all vocabulary complexity features  |  Xia et al. features rank #14–#40</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Feature Transferability</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Which features are universal vs model-specific?</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14 / 24</a:t>
            </a:r>
            <a:endParaRPr lang="en-US" sz="900" dirty="0"/>
          </a:p>
        </p:txBody>
      </p:sp>
      <p:sp>
        <p:nvSpPr>
          <p:cNvPr id="6" name="Shape 4"/>
          <p:cNvSpPr/>
          <p:nvPr/>
        </p:nvSpPr>
        <p:spPr>
          <a:xfrm>
            <a:off x="365760" y="1261872"/>
            <a:ext cx="4023360" cy="36118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65760" y="1261872"/>
            <a:ext cx="4023360" cy="54864"/>
          </a:xfrm>
          <a:prstGeom prst="rect">
            <a:avLst/>
          </a:prstGeom>
          <a:solidFill>
            <a:srgbClr val="10B981"/>
          </a:solidFill>
          <a:ln w="12700">
            <a:solidFill>
              <a:srgbClr val="10B981"/>
            </a:solidFill>
            <a:prstDash val="solid"/>
          </a:ln>
        </p:spPr>
        <p:txBody>
          <a:bodyPr/>
          <a:lstStyle/>
          <a:p>
            <a:endParaRPr lang="en-US"/>
          </a:p>
        </p:txBody>
      </p:sp>
      <p:sp>
        <p:nvSpPr>
          <p:cNvPr id="8" name="Text 6"/>
          <p:cNvSpPr/>
          <p:nvPr/>
        </p:nvSpPr>
        <p:spPr>
          <a:xfrm>
            <a:off x="502920" y="1353312"/>
            <a:ext cx="3749040" cy="457200"/>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Transferable Features</a:t>
            </a:r>
            <a:endParaRPr lang="en-US" sz="1300" dirty="0"/>
          </a:p>
          <a:p>
            <a:pPr marL="0" indent="0">
              <a:buNone/>
            </a:pPr>
            <a:r>
              <a:rPr lang="en-US" sz="1300" b="1" dirty="0">
                <a:solidFill>
                  <a:srgbClr val="10B981"/>
                </a:solidFill>
                <a:latin typeface="Calibri" pitchFamily="34" charset="0"/>
                <a:ea typeface="Calibri" pitchFamily="34" charset="-122"/>
                <a:cs typeface="Calibri" pitchFamily="34" charset="-120"/>
              </a:rPr>
              <a:t>(CV &lt; 0.3 across all 5 folds)</a:t>
            </a:r>
            <a:endParaRPr lang="en-US" sz="1300" dirty="0"/>
          </a:p>
        </p:txBody>
      </p:sp>
      <p:sp>
        <p:nvSpPr>
          <p:cNvPr id="9" name="Text 7"/>
          <p:cNvSpPr/>
          <p:nvPr/>
        </p:nvSpPr>
        <p:spPr>
          <a:xfrm>
            <a:off x="502920" y="1801368"/>
            <a:ext cx="3749040" cy="256032"/>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CV = coefficient of variation (std/mean). Low = consistent across all models.</a:t>
            </a:r>
            <a:endParaRPr lang="en-US" sz="1000" dirty="0"/>
          </a:p>
        </p:txBody>
      </p:sp>
      <p:sp>
        <p:nvSpPr>
          <p:cNvPr id="10" name="Text 8"/>
          <p:cNvSpPr/>
          <p:nvPr/>
        </p:nvSpPr>
        <p:spPr>
          <a:xfrm>
            <a:off x="502920" y="2121408"/>
            <a:ext cx="28346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syllables_per_word</a:t>
            </a:r>
            <a:endParaRPr lang="en-US" sz="1100" dirty="0"/>
          </a:p>
        </p:txBody>
      </p:sp>
      <p:sp>
        <p:nvSpPr>
          <p:cNvPr id="11" name="Text 9"/>
          <p:cNvSpPr/>
          <p:nvPr/>
        </p:nvSpPr>
        <p:spPr>
          <a:xfrm>
            <a:off x="3383280" y="2121408"/>
            <a:ext cx="822960" cy="237744"/>
          </a:xfrm>
          <a:prstGeom prst="rect">
            <a:avLst/>
          </a:prstGeom>
          <a:noFill/>
          <a:ln/>
        </p:spPr>
        <p:txBody>
          <a:bodyPr wrap="square" rtlCol="0" anchor="ctr"/>
          <a:lstStyle/>
          <a:p>
            <a:pPr marL="0" indent="0">
              <a:buNone/>
            </a:pPr>
            <a:r>
              <a:rPr lang="en-US" sz="1050" dirty="0">
                <a:solidFill>
                  <a:srgbClr val="10B981"/>
                </a:solidFill>
                <a:latin typeface="Calibri" pitchFamily="34" charset="0"/>
                <a:ea typeface="Calibri" pitchFamily="34" charset="-122"/>
                <a:cs typeface="Calibri" pitchFamily="34" charset="-120"/>
              </a:rPr>
              <a:t>CV: 0.017</a:t>
            </a:r>
            <a:endParaRPr lang="en-US" sz="1050" dirty="0"/>
          </a:p>
        </p:txBody>
      </p:sp>
      <p:sp>
        <p:nvSpPr>
          <p:cNvPr id="12" name="Text 10"/>
          <p:cNvSpPr/>
          <p:nvPr/>
        </p:nvSpPr>
        <p:spPr>
          <a:xfrm>
            <a:off x="502920" y="2377440"/>
            <a:ext cx="28346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avg_word_len</a:t>
            </a:r>
            <a:endParaRPr lang="en-US" sz="1100" dirty="0"/>
          </a:p>
        </p:txBody>
      </p:sp>
      <p:sp>
        <p:nvSpPr>
          <p:cNvPr id="13" name="Text 11"/>
          <p:cNvSpPr/>
          <p:nvPr/>
        </p:nvSpPr>
        <p:spPr>
          <a:xfrm>
            <a:off x="3383280" y="2377440"/>
            <a:ext cx="822960" cy="237744"/>
          </a:xfrm>
          <a:prstGeom prst="rect">
            <a:avLst/>
          </a:prstGeom>
          <a:noFill/>
          <a:ln/>
        </p:spPr>
        <p:txBody>
          <a:bodyPr wrap="square" rtlCol="0" anchor="ctr"/>
          <a:lstStyle/>
          <a:p>
            <a:pPr marL="0" indent="0">
              <a:buNone/>
            </a:pPr>
            <a:r>
              <a:rPr lang="en-US" sz="1050" dirty="0">
                <a:solidFill>
                  <a:srgbClr val="10B981"/>
                </a:solidFill>
                <a:latin typeface="Calibri" pitchFamily="34" charset="0"/>
                <a:ea typeface="Calibri" pitchFamily="34" charset="-122"/>
                <a:cs typeface="Calibri" pitchFamily="34" charset="-120"/>
              </a:rPr>
              <a:t>CV: 0.116</a:t>
            </a:r>
            <a:endParaRPr lang="en-US" sz="1050" dirty="0"/>
          </a:p>
        </p:txBody>
      </p:sp>
      <p:sp>
        <p:nvSpPr>
          <p:cNvPr id="14" name="Text 12"/>
          <p:cNvSpPr/>
          <p:nvPr/>
        </p:nvSpPr>
        <p:spPr>
          <a:xfrm>
            <a:off x="502920" y="2633472"/>
            <a:ext cx="28346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long_word_ratio</a:t>
            </a:r>
            <a:endParaRPr lang="en-US" sz="1100" dirty="0"/>
          </a:p>
        </p:txBody>
      </p:sp>
      <p:sp>
        <p:nvSpPr>
          <p:cNvPr id="15" name="Text 13"/>
          <p:cNvSpPr/>
          <p:nvPr/>
        </p:nvSpPr>
        <p:spPr>
          <a:xfrm>
            <a:off x="3383280" y="2633472"/>
            <a:ext cx="822960" cy="237744"/>
          </a:xfrm>
          <a:prstGeom prst="rect">
            <a:avLst/>
          </a:prstGeom>
          <a:noFill/>
          <a:ln/>
        </p:spPr>
        <p:txBody>
          <a:bodyPr wrap="square" rtlCol="0" anchor="ctr"/>
          <a:lstStyle/>
          <a:p>
            <a:pPr marL="0" indent="0">
              <a:buNone/>
            </a:pPr>
            <a:r>
              <a:rPr lang="en-US" sz="1050" dirty="0">
                <a:solidFill>
                  <a:srgbClr val="10B981"/>
                </a:solidFill>
                <a:latin typeface="Calibri" pitchFamily="34" charset="0"/>
                <a:ea typeface="Calibri" pitchFamily="34" charset="-122"/>
                <a:cs typeface="Calibri" pitchFamily="34" charset="-120"/>
              </a:rPr>
              <a:t>CV: 0.086</a:t>
            </a:r>
            <a:endParaRPr lang="en-US" sz="1050" dirty="0"/>
          </a:p>
        </p:txBody>
      </p:sp>
      <p:sp>
        <p:nvSpPr>
          <p:cNvPr id="16" name="Text 14"/>
          <p:cNvSpPr/>
          <p:nvPr/>
        </p:nvSpPr>
        <p:spPr>
          <a:xfrm>
            <a:off x="502920" y="2889504"/>
            <a:ext cx="28346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hapax_ratio</a:t>
            </a:r>
            <a:endParaRPr lang="en-US" sz="1100" dirty="0"/>
          </a:p>
        </p:txBody>
      </p:sp>
      <p:sp>
        <p:nvSpPr>
          <p:cNvPr id="17" name="Text 15"/>
          <p:cNvSpPr/>
          <p:nvPr/>
        </p:nvSpPr>
        <p:spPr>
          <a:xfrm>
            <a:off x="3383280" y="2889504"/>
            <a:ext cx="822960" cy="237744"/>
          </a:xfrm>
          <a:prstGeom prst="rect">
            <a:avLst/>
          </a:prstGeom>
          <a:noFill/>
          <a:ln/>
        </p:spPr>
        <p:txBody>
          <a:bodyPr wrap="square" rtlCol="0" anchor="ctr"/>
          <a:lstStyle/>
          <a:p>
            <a:pPr marL="0" indent="0">
              <a:buNone/>
            </a:pPr>
            <a:r>
              <a:rPr lang="en-US" sz="1050" dirty="0">
                <a:solidFill>
                  <a:srgbClr val="10B981"/>
                </a:solidFill>
                <a:latin typeface="Calibri" pitchFamily="34" charset="0"/>
                <a:ea typeface="Calibri" pitchFamily="34" charset="-122"/>
                <a:cs typeface="Calibri" pitchFamily="34" charset="-120"/>
              </a:rPr>
              <a:t>CV: 0.009</a:t>
            </a:r>
            <a:endParaRPr lang="en-US" sz="1050" dirty="0"/>
          </a:p>
        </p:txBody>
      </p:sp>
      <p:sp>
        <p:nvSpPr>
          <p:cNvPr id="18" name="Text 16"/>
          <p:cNvSpPr/>
          <p:nvPr/>
        </p:nvSpPr>
        <p:spPr>
          <a:xfrm>
            <a:off x="502920" y="3145536"/>
            <a:ext cx="28346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lexical_density</a:t>
            </a:r>
            <a:endParaRPr lang="en-US" sz="1100" dirty="0"/>
          </a:p>
        </p:txBody>
      </p:sp>
      <p:sp>
        <p:nvSpPr>
          <p:cNvPr id="19" name="Text 17"/>
          <p:cNvSpPr/>
          <p:nvPr/>
        </p:nvSpPr>
        <p:spPr>
          <a:xfrm>
            <a:off x="3383280" y="3145536"/>
            <a:ext cx="822960" cy="237744"/>
          </a:xfrm>
          <a:prstGeom prst="rect">
            <a:avLst/>
          </a:prstGeom>
          <a:noFill/>
          <a:ln/>
        </p:spPr>
        <p:txBody>
          <a:bodyPr wrap="square" rtlCol="0" anchor="ctr"/>
          <a:lstStyle/>
          <a:p>
            <a:pPr marL="0" indent="0">
              <a:buNone/>
            </a:pPr>
            <a:r>
              <a:rPr lang="en-US" sz="1050" dirty="0">
                <a:solidFill>
                  <a:srgbClr val="10B981"/>
                </a:solidFill>
                <a:latin typeface="Calibri" pitchFamily="34" charset="0"/>
                <a:ea typeface="Calibri" pitchFamily="34" charset="-122"/>
                <a:cs typeface="Calibri" pitchFamily="34" charset="-120"/>
              </a:rPr>
              <a:t>CV: 0.106</a:t>
            </a:r>
            <a:endParaRPr lang="en-US" sz="1050" dirty="0"/>
          </a:p>
        </p:txBody>
      </p:sp>
      <p:sp>
        <p:nvSpPr>
          <p:cNvPr id="20" name="Text 18"/>
          <p:cNvSpPr/>
          <p:nvPr/>
        </p:nvSpPr>
        <p:spPr>
          <a:xfrm>
            <a:off x="502920" y="3401568"/>
            <a:ext cx="28346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word_length_variance</a:t>
            </a:r>
            <a:endParaRPr lang="en-US" sz="1100" dirty="0"/>
          </a:p>
        </p:txBody>
      </p:sp>
      <p:sp>
        <p:nvSpPr>
          <p:cNvPr id="21" name="Text 19"/>
          <p:cNvSpPr/>
          <p:nvPr/>
        </p:nvSpPr>
        <p:spPr>
          <a:xfrm>
            <a:off x="3383280" y="3401568"/>
            <a:ext cx="822960" cy="237744"/>
          </a:xfrm>
          <a:prstGeom prst="rect">
            <a:avLst/>
          </a:prstGeom>
          <a:noFill/>
          <a:ln/>
        </p:spPr>
        <p:txBody>
          <a:bodyPr wrap="square" rtlCol="0" anchor="ctr"/>
          <a:lstStyle/>
          <a:p>
            <a:pPr marL="0" indent="0">
              <a:buNone/>
            </a:pPr>
            <a:r>
              <a:rPr lang="en-US" sz="1050" dirty="0">
                <a:solidFill>
                  <a:srgbClr val="10B981"/>
                </a:solidFill>
                <a:latin typeface="Calibri" pitchFamily="34" charset="0"/>
                <a:ea typeface="Calibri" pitchFamily="34" charset="-122"/>
                <a:cs typeface="Calibri" pitchFamily="34" charset="-120"/>
              </a:rPr>
              <a:t>CV: 0.206</a:t>
            </a:r>
            <a:endParaRPr lang="en-US" sz="1050" dirty="0"/>
          </a:p>
        </p:txBody>
      </p:sp>
      <p:sp>
        <p:nvSpPr>
          <p:cNvPr id="22" name="Text 20"/>
          <p:cNvSpPr/>
          <p:nvPr/>
        </p:nvSpPr>
        <p:spPr>
          <a:xfrm>
            <a:off x="502920" y="3657600"/>
            <a:ext cx="28346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repetition_rate</a:t>
            </a:r>
            <a:endParaRPr lang="en-US" sz="1100" dirty="0"/>
          </a:p>
        </p:txBody>
      </p:sp>
      <p:sp>
        <p:nvSpPr>
          <p:cNvPr id="23" name="Text 21"/>
          <p:cNvSpPr/>
          <p:nvPr/>
        </p:nvSpPr>
        <p:spPr>
          <a:xfrm>
            <a:off x="3383280" y="3657600"/>
            <a:ext cx="822960" cy="237744"/>
          </a:xfrm>
          <a:prstGeom prst="rect">
            <a:avLst/>
          </a:prstGeom>
          <a:noFill/>
          <a:ln/>
        </p:spPr>
        <p:txBody>
          <a:bodyPr wrap="square" rtlCol="0" anchor="ctr"/>
          <a:lstStyle/>
          <a:p>
            <a:pPr marL="0" indent="0">
              <a:buNone/>
            </a:pPr>
            <a:r>
              <a:rPr lang="en-US" sz="1050" dirty="0">
                <a:solidFill>
                  <a:srgbClr val="10B981"/>
                </a:solidFill>
                <a:latin typeface="Calibri" pitchFamily="34" charset="0"/>
                <a:ea typeface="Calibri" pitchFamily="34" charset="-122"/>
                <a:cs typeface="Calibri" pitchFamily="34" charset="-120"/>
              </a:rPr>
              <a:t>CV: 0.036</a:t>
            </a:r>
            <a:endParaRPr lang="en-US" sz="1050" dirty="0"/>
          </a:p>
        </p:txBody>
      </p:sp>
      <p:sp>
        <p:nvSpPr>
          <p:cNvPr id="24" name="Text 22"/>
          <p:cNvSpPr/>
          <p:nvPr/>
        </p:nvSpPr>
        <p:spPr>
          <a:xfrm>
            <a:off x="502920" y="3913632"/>
            <a:ext cx="28346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pos_pronoun_ratio</a:t>
            </a:r>
            <a:endParaRPr lang="en-US" sz="1100" dirty="0"/>
          </a:p>
        </p:txBody>
      </p:sp>
      <p:sp>
        <p:nvSpPr>
          <p:cNvPr id="25" name="Text 23"/>
          <p:cNvSpPr/>
          <p:nvPr/>
        </p:nvSpPr>
        <p:spPr>
          <a:xfrm>
            <a:off x="3383280" y="3913632"/>
            <a:ext cx="822960" cy="237744"/>
          </a:xfrm>
          <a:prstGeom prst="rect">
            <a:avLst/>
          </a:prstGeom>
          <a:noFill/>
          <a:ln/>
        </p:spPr>
        <p:txBody>
          <a:bodyPr wrap="square" rtlCol="0" anchor="ctr"/>
          <a:lstStyle/>
          <a:p>
            <a:pPr marL="0" indent="0">
              <a:buNone/>
            </a:pPr>
            <a:r>
              <a:rPr lang="en-US" sz="1050" dirty="0">
                <a:solidFill>
                  <a:srgbClr val="10B981"/>
                </a:solidFill>
                <a:latin typeface="Calibri" pitchFamily="34" charset="0"/>
                <a:ea typeface="Calibri" pitchFamily="34" charset="-122"/>
                <a:cs typeface="Calibri" pitchFamily="34" charset="-120"/>
              </a:rPr>
              <a:t>CV: 0.040</a:t>
            </a:r>
            <a:endParaRPr lang="en-US" sz="1050" dirty="0"/>
          </a:p>
        </p:txBody>
      </p:sp>
      <p:sp>
        <p:nvSpPr>
          <p:cNvPr id="26" name="Text 24"/>
          <p:cNvSpPr/>
          <p:nvPr/>
        </p:nvSpPr>
        <p:spPr>
          <a:xfrm>
            <a:off x="502920" y="4169664"/>
            <a:ext cx="28346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bigram_repetition</a:t>
            </a:r>
            <a:endParaRPr lang="en-US" sz="1100" dirty="0"/>
          </a:p>
        </p:txBody>
      </p:sp>
      <p:sp>
        <p:nvSpPr>
          <p:cNvPr id="27" name="Text 25"/>
          <p:cNvSpPr/>
          <p:nvPr/>
        </p:nvSpPr>
        <p:spPr>
          <a:xfrm>
            <a:off x="3383280" y="4169664"/>
            <a:ext cx="822960" cy="237744"/>
          </a:xfrm>
          <a:prstGeom prst="rect">
            <a:avLst/>
          </a:prstGeom>
          <a:noFill/>
          <a:ln/>
        </p:spPr>
        <p:txBody>
          <a:bodyPr wrap="square" rtlCol="0" anchor="ctr"/>
          <a:lstStyle/>
          <a:p>
            <a:pPr marL="0" indent="0">
              <a:buNone/>
            </a:pPr>
            <a:r>
              <a:rPr lang="en-US" sz="1050" dirty="0">
                <a:solidFill>
                  <a:srgbClr val="10B981"/>
                </a:solidFill>
                <a:latin typeface="Calibri" pitchFamily="34" charset="0"/>
                <a:ea typeface="Calibri" pitchFamily="34" charset="-122"/>
                <a:cs typeface="Calibri" pitchFamily="34" charset="-120"/>
              </a:rPr>
              <a:t>CV: 0.208</a:t>
            </a:r>
            <a:endParaRPr lang="en-US" sz="1050" dirty="0"/>
          </a:p>
        </p:txBody>
      </p:sp>
      <p:sp>
        <p:nvSpPr>
          <p:cNvPr id="28" name="Text 26"/>
          <p:cNvSpPr/>
          <p:nvPr/>
        </p:nvSpPr>
        <p:spPr>
          <a:xfrm>
            <a:off x="502920" y="4425696"/>
            <a:ext cx="28346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yules_k</a:t>
            </a:r>
            <a:endParaRPr lang="en-US" sz="1100" dirty="0"/>
          </a:p>
        </p:txBody>
      </p:sp>
      <p:sp>
        <p:nvSpPr>
          <p:cNvPr id="29" name="Text 27"/>
          <p:cNvSpPr/>
          <p:nvPr/>
        </p:nvSpPr>
        <p:spPr>
          <a:xfrm>
            <a:off x="3383280" y="4425696"/>
            <a:ext cx="822960" cy="237744"/>
          </a:xfrm>
          <a:prstGeom prst="rect">
            <a:avLst/>
          </a:prstGeom>
          <a:noFill/>
          <a:ln/>
        </p:spPr>
        <p:txBody>
          <a:bodyPr wrap="square" rtlCol="0" anchor="ctr"/>
          <a:lstStyle/>
          <a:p>
            <a:pPr marL="0" indent="0">
              <a:buNone/>
            </a:pPr>
            <a:r>
              <a:rPr lang="en-US" sz="1050" dirty="0">
                <a:solidFill>
                  <a:srgbClr val="10B981"/>
                </a:solidFill>
                <a:latin typeface="Calibri" pitchFamily="34" charset="0"/>
                <a:ea typeface="Calibri" pitchFamily="34" charset="-122"/>
                <a:cs typeface="Calibri" pitchFamily="34" charset="-120"/>
              </a:rPr>
              <a:t>CV: 0.154</a:t>
            </a:r>
            <a:endParaRPr lang="en-US" sz="1050" dirty="0"/>
          </a:p>
        </p:txBody>
      </p:sp>
      <p:sp>
        <p:nvSpPr>
          <p:cNvPr id="30" name="Shape 28"/>
          <p:cNvSpPr/>
          <p:nvPr/>
        </p:nvSpPr>
        <p:spPr>
          <a:xfrm>
            <a:off x="4617720" y="1261872"/>
            <a:ext cx="4160520" cy="36118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1" name="Shape 29"/>
          <p:cNvSpPr/>
          <p:nvPr/>
        </p:nvSpPr>
        <p:spPr>
          <a:xfrm>
            <a:off x="4617720" y="1261872"/>
            <a:ext cx="4160520" cy="54864"/>
          </a:xfrm>
          <a:prstGeom prst="rect">
            <a:avLst/>
          </a:prstGeom>
          <a:solidFill>
            <a:srgbClr val="EF4444"/>
          </a:solidFill>
          <a:ln w="12700">
            <a:solidFill>
              <a:srgbClr val="EF4444"/>
            </a:solidFill>
            <a:prstDash val="solid"/>
          </a:ln>
        </p:spPr>
        <p:txBody>
          <a:bodyPr/>
          <a:lstStyle/>
          <a:p>
            <a:endParaRPr lang="en-US"/>
          </a:p>
        </p:txBody>
      </p:sp>
      <p:sp>
        <p:nvSpPr>
          <p:cNvPr id="32" name="Text 30"/>
          <p:cNvSpPr/>
          <p:nvPr/>
        </p:nvSpPr>
        <p:spPr>
          <a:xfrm>
            <a:off x="4754880" y="1353312"/>
            <a:ext cx="3840480" cy="457200"/>
          </a:xfrm>
          <a:prstGeom prst="rect">
            <a:avLst/>
          </a:prstGeom>
          <a:noFill/>
          <a:ln/>
        </p:spPr>
        <p:txBody>
          <a:bodyPr wrap="square"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Model-Specific Features</a:t>
            </a:r>
            <a:endParaRPr lang="en-US" sz="1300" dirty="0"/>
          </a:p>
          <a:p>
            <a:pPr marL="0" indent="0">
              <a:buNone/>
            </a:pPr>
            <a:r>
              <a:rPr lang="en-US" sz="1300" b="1" dirty="0">
                <a:solidFill>
                  <a:srgbClr val="EF4444"/>
                </a:solidFill>
                <a:latin typeface="Calibri" pitchFamily="34" charset="0"/>
                <a:ea typeface="Calibri" pitchFamily="34" charset="-122"/>
                <a:cs typeface="Calibri" pitchFamily="34" charset="-120"/>
              </a:rPr>
              <a:t>(CV &gt; 0.7 — unreliable across models)</a:t>
            </a:r>
            <a:endParaRPr lang="en-US" sz="1300" dirty="0"/>
          </a:p>
        </p:txBody>
      </p:sp>
      <p:sp>
        <p:nvSpPr>
          <p:cNvPr id="33" name="Text 31"/>
          <p:cNvSpPr/>
          <p:nvPr/>
        </p:nvSpPr>
        <p:spPr>
          <a:xfrm>
            <a:off x="4754880" y="1801368"/>
            <a:ext cx="3840480" cy="256032"/>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High variance = only works for some models, not all.</a:t>
            </a:r>
            <a:endParaRPr lang="en-US" sz="1000" dirty="0"/>
          </a:p>
        </p:txBody>
      </p:sp>
      <p:sp>
        <p:nvSpPr>
          <p:cNvPr id="34" name="Text 32"/>
          <p:cNvSpPr/>
          <p:nvPr/>
        </p:nvSpPr>
        <p:spPr>
          <a:xfrm>
            <a:off x="4754880" y="2121408"/>
            <a:ext cx="2286000" cy="256032"/>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entropy</a:t>
            </a:r>
            <a:endParaRPr lang="en-US" sz="1100" dirty="0"/>
          </a:p>
        </p:txBody>
      </p:sp>
      <p:sp>
        <p:nvSpPr>
          <p:cNvPr id="35" name="Text 33"/>
          <p:cNvSpPr/>
          <p:nvPr/>
        </p:nvSpPr>
        <p:spPr>
          <a:xfrm>
            <a:off x="7086600" y="2121408"/>
            <a:ext cx="822960" cy="25603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CV: 1.458</a:t>
            </a:r>
            <a:endParaRPr lang="en-US" sz="1050" dirty="0"/>
          </a:p>
        </p:txBody>
      </p:sp>
      <p:sp>
        <p:nvSpPr>
          <p:cNvPr id="36" name="Text 34"/>
          <p:cNvSpPr/>
          <p:nvPr/>
        </p:nvSpPr>
        <p:spPr>
          <a:xfrm>
            <a:off x="4754880" y="2359152"/>
            <a:ext cx="3840480" cy="201168"/>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Very model-specific</a:t>
            </a:r>
            <a:endParaRPr lang="en-US" sz="950" dirty="0"/>
          </a:p>
        </p:txBody>
      </p:sp>
      <p:sp>
        <p:nvSpPr>
          <p:cNvPr id="37" name="Text 35"/>
          <p:cNvSpPr/>
          <p:nvPr/>
        </p:nvSpPr>
        <p:spPr>
          <a:xfrm>
            <a:off x="4754880" y="2606040"/>
            <a:ext cx="2286000" cy="256032"/>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past_tense_freq</a:t>
            </a:r>
            <a:endParaRPr lang="en-US" sz="1100" dirty="0"/>
          </a:p>
        </p:txBody>
      </p:sp>
      <p:sp>
        <p:nvSpPr>
          <p:cNvPr id="38" name="Text 36"/>
          <p:cNvSpPr/>
          <p:nvPr/>
        </p:nvSpPr>
        <p:spPr>
          <a:xfrm>
            <a:off x="7086600" y="2606040"/>
            <a:ext cx="822960" cy="25603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CV: 1.048</a:t>
            </a:r>
            <a:endParaRPr lang="en-US" sz="1050" dirty="0"/>
          </a:p>
        </p:txBody>
      </p:sp>
      <p:sp>
        <p:nvSpPr>
          <p:cNvPr id="39" name="Text 37"/>
          <p:cNvSpPr/>
          <p:nvPr/>
        </p:nvSpPr>
        <p:spPr>
          <a:xfrm>
            <a:off x="4754880" y="2843784"/>
            <a:ext cx="3840480" cy="201168"/>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Xia et al. key feature — model-specific in practice</a:t>
            </a:r>
            <a:endParaRPr lang="en-US" sz="950" dirty="0"/>
          </a:p>
        </p:txBody>
      </p:sp>
      <p:sp>
        <p:nvSpPr>
          <p:cNvPr id="40" name="Text 38"/>
          <p:cNvSpPr/>
          <p:nvPr/>
        </p:nvSpPr>
        <p:spPr>
          <a:xfrm>
            <a:off x="4754880" y="3090672"/>
            <a:ext cx="2286000" cy="256032"/>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adv_freq</a:t>
            </a:r>
            <a:endParaRPr lang="en-US" sz="1100" dirty="0"/>
          </a:p>
        </p:txBody>
      </p:sp>
      <p:sp>
        <p:nvSpPr>
          <p:cNvPr id="41" name="Text 39"/>
          <p:cNvSpPr/>
          <p:nvPr/>
        </p:nvSpPr>
        <p:spPr>
          <a:xfrm>
            <a:off x="7086600" y="3090672"/>
            <a:ext cx="822960" cy="25603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CV: 0.785</a:t>
            </a:r>
            <a:endParaRPr lang="en-US" sz="1050" dirty="0"/>
          </a:p>
        </p:txBody>
      </p:sp>
      <p:sp>
        <p:nvSpPr>
          <p:cNvPr id="42" name="Text 40"/>
          <p:cNvSpPr/>
          <p:nvPr/>
        </p:nvSpPr>
        <p:spPr>
          <a:xfrm>
            <a:off x="4754880" y="3328416"/>
            <a:ext cx="3840480" cy="201168"/>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Adverb usage varies by model</a:t>
            </a:r>
            <a:endParaRPr lang="en-US" sz="950" dirty="0"/>
          </a:p>
        </p:txBody>
      </p:sp>
      <p:sp>
        <p:nvSpPr>
          <p:cNvPr id="43" name="Text 41"/>
          <p:cNvSpPr/>
          <p:nvPr/>
        </p:nvSpPr>
        <p:spPr>
          <a:xfrm>
            <a:off x="4754880" y="3575304"/>
            <a:ext cx="2286000" cy="256032"/>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named_entity_ratio</a:t>
            </a:r>
            <a:endParaRPr lang="en-US" sz="1100" dirty="0"/>
          </a:p>
        </p:txBody>
      </p:sp>
      <p:sp>
        <p:nvSpPr>
          <p:cNvPr id="44" name="Text 42"/>
          <p:cNvSpPr/>
          <p:nvPr/>
        </p:nvSpPr>
        <p:spPr>
          <a:xfrm>
            <a:off x="7086600" y="3575304"/>
            <a:ext cx="822960" cy="25603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CV: 0.714</a:t>
            </a:r>
            <a:endParaRPr lang="en-US" sz="1050" dirty="0"/>
          </a:p>
        </p:txBody>
      </p:sp>
      <p:sp>
        <p:nvSpPr>
          <p:cNvPr id="45" name="Text 43"/>
          <p:cNvSpPr/>
          <p:nvPr/>
        </p:nvSpPr>
        <p:spPr>
          <a:xfrm>
            <a:off x="4754880" y="3813048"/>
            <a:ext cx="3840480" cy="201168"/>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Named entities vary by topic/model</a:t>
            </a:r>
            <a:endParaRPr lang="en-US" sz="950" dirty="0"/>
          </a:p>
        </p:txBody>
      </p:sp>
      <p:sp>
        <p:nvSpPr>
          <p:cNvPr id="46" name="Text 44"/>
          <p:cNvSpPr/>
          <p:nvPr/>
        </p:nvSpPr>
        <p:spPr>
          <a:xfrm>
            <a:off x="4754880" y="4059936"/>
            <a:ext cx="2286000" cy="256032"/>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sent_len_min</a:t>
            </a:r>
            <a:endParaRPr lang="en-US" sz="1100" dirty="0"/>
          </a:p>
        </p:txBody>
      </p:sp>
      <p:sp>
        <p:nvSpPr>
          <p:cNvPr id="47" name="Text 45"/>
          <p:cNvSpPr/>
          <p:nvPr/>
        </p:nvSpPr>
        <p:spPr>
          <a:xfrm>
            <a:off x="7086600" y="4059936"/>
            <a:ext cx="822960" cy="25603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CV: 0.786</a:t>
            </a:r>
            <a:endParaRPr lang="en-US" sz="1050" dirty="0"/>
          </a:p>
        </p:txBody>
      </p:sp>
      <p:sp>
        <p:nvSpPr>
          <p:cNvPr id="48" name="Text 46"/>
          <p:cNvSpPr/>
          <p:nvPr/>
        </p:nvSpPr>
        <p:spPr>
          <a:xfrm>
            <a:off x="4754880" y="4297680"/>
            <a:ext cx="3840480" cy="201168"/>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Min sentence length — noisy</a:t>
            </a:r>
            <a:endParaRPr lang="en-US" sz="950" dirty="0"/>
          </a:p>
        </p:txBody>
      </p:sp>
      <p:sp>
        <p:nvSpPr>
          <p:cNvPr id="49" name="Text 47"/>
          <p:cNvSpPr/>
          <p:nvPr/>
        </p:nvSpPr>
        <p:spPr>
          <a:xfrm>
            <a:off x="4754880" y="4544568"/>
            <a:ext cx="2286000" cy="256032"/>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question_freq</a:t>
            </a:r>
            <a:endParaRPr lang="en-US" sz="1100" dirty="0"/>
          </a:p>
        </p:txBody>
      </p:sp>
      <p:sp>
        <p:nvSpPr>
          <p:cNvPr id="50" name="Text 48"/>
          <p:cNvSpPr/>
          <p:nvPr/>
        </p:nvSpPr>
        <p:spPr>
          <a:xfrm>
            <a:off x="7086600" y="4544568"/>
            <a:ext cx="822960" cy="256032"/>
          </a:xfrm>
          <a:prstGeom prst="rect">
            <a:avLst/>
          </a:prstGeom>
          <a:noFill/>
          <a:ln/>
        </p:spPr>
        <p:txBody>
          <a:bodyPr wrap="square" rtlCol="0" anchor="ctr"/>
          <a:lstStyle/>
          <a:p>
            <a:pPr marL="0" indent="0">
              <a:buNone/>
            </a:pPr>
            <a:r>
              <a:rPr lang="en-US" sz="1050" dirty="0">
                <a:solidFill>
                  <a:srgbClr val="EF4444"/>
                </a:solidFill>
                <a:latin typeface="Calibri" pitchFamily="34" charset="0"/>
                <a:ea typeface="Calibri" pitchFamily="34" charset="-122"/>
                <a:cs typeface="Calibri" pitchFamily="34" charset="-120"/>
              </a:rPr>
              <a:t>CV: 0.710</a:t>
            </a:r>
            <a:endParaRPr lang="en-US" sz="1050" dirty="0"/>
          </a:p>
        </p:txBody>
      </p:sp>
      <p:sp>
        <p:nvSpPr>
          <p:cNvPr id="51" name="Text 49"/>
          <p:cNvSpPr/>
          <p:nvPr/>
        </p:nvSpPr>
        <p:spPr>
          <a:xfrm>
            <a:off x="4754880" y="4782312"/>
            <a:ext cx="3840480" cy="201168"/>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Question usage highly variable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Generalization Gap</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In-domain F1 minus out-of-domain F1</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15 / 24</a:t>
            </a:r>
            <a:endParaRPr lang="en-US" sz="900" dirty="0"/>
          </a:p>
        </p:txBody>
      </p:sp>
      <p:graphicFrame>
        <p:nvGraphicFramePr>
          <p:cNvPr id="6" name="Chart 0"/>
          <p:cNvGraphicFramePr/>
          <p:nvPr/>
        </p:nvGraphicFramePr>
        <p:xfrm>
          <a:off x="365760" y="1234440"/>
          <a:ext cx="84124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365760" y="4370832"/>
            <a:ext cx="8412480" cy="256032"/>
          </a:xfrm>
          <a:prstGeom prst="rect">
            <a:avLst/>
          </a:prstGeom>
          <a:noFill/>
          <a:ln/>
        </p:spPr>
        <p:txBody>
          <a:bodyPr wrap="square"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Negative gap = outperforms on unseen models. Positive gap = drops on unseen models.</a:t>
            </a:r>
            <a:endParaRPr lang="en-US" sz="1200" dirty="0"/>
          </a:p>
        </p:txBody>
      </p:sp>
      <p:sp>
        <p:nvSpPr>
          <p:cNvPr id="8" name="Text 5"/>
          <p:cNvSpPr/>
          <p:nvPr/>
        </p:nvSpPr>
        <p:spPr>
          <a:xfrm>
            <a:off x="365760" y="4663440"/>
            <a:ext cx="8412480" cy="256032"/>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Classical ML: near-zero (-0.001 to -0.003)  |  Neural baselines: large positive gap (+0.089 to +0.093)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Error Analysis</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What the models get wrong</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16 / 24</a:t>
            </a:r>
            <a:endParaRPr lang="en-US" sz="900" dirty="0"/>
          </a:p>
        </p:txBody>
      </p:sp>
      <p:sp>
        <p:nvSpPr>
          <p:cNvPr id="6" name="Shape 4"/>
          <p:cNvSpPr/>
          <p:nvPr/>
        </p:nvSpPr>
        <p:spPr>
          <a:xfrm>
            <a:off x="365760" y="1234440"/>
            <a:ext cx="2743200" cy="192024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Text 5"/>
          <p:cNvSpPr/>
          <p:nvPr/>
        </p:nvSpPr>
        <p:spPr>
          <a:xfrm>
            <a:off x="365760" y="1280160"/>
            <a:ext cx="2743200" cy="1051560"/>
          </a:xfrm>
          <a:prstGeom prst="rect">
            <a:avLst/>
          </a:prstGeom>
          <a:noFill/>
          <a:ln/>
        </p:spPr>
        <p:txBody>
          <a:bodyPr wrap="square" rtlCol="0" anchor="ctr"/>
          <a:lstStyle/>
          <a:p>
            <a:pPr marL="0" indent="0" algn="ctr">
              <a:buNone/>
            </a:pPr>
            <a:r>
              <a:rPr lang="en-US" sz="8000" b="1" dirty="0">
                <a:solidFill>
                  <a:srgbClr val="00D4FF"/>
                </a:solidFill>
                <a:latin typeface="Calibri" pitchFamily="34" charset="0"/>
                <a:ea typeface="Calibri" pitchFamily="34" charset="-122"/>
                <a:cs typeface="Calibri" pitchFamily="34" charset="-120"/>
              </a:rPr>
              <a:t>4</a:t>
            </a:r>
            <a:endParaRPr lang="en-US" sz="8000" dirty="0"/>
          </a:p>
        </p:txBody>
      </p:sp>
      <p:sp>
        <p:nvSpPr>
          <p:cNvPr id="8" name="Text 6"/>
          <p:cNvSpPr/>
          <p:nvPr/>
        </p:nvSpPr>
        <p:spPr>
          <a:xfrm>
            <a:off x="365760" y="2377440"/>
            <a:ext cx="2743200" cy="6400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samples fooled</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all 3 classical models</a:t>
            </a:r>
            <a:endParaRPr lang="en-US" sz="1300" dirty="0"/>
          </a:p>
        </p:txBody>
      </p:sp>
      <p:sp>
        <p:nvSpPr>
          <p:cNvPr id="9" name="Shape 7"/>
          <p:cNvSpPr/>
          <p:nvPr/>
        </p:nvSpPr>
        <p:spPr>
          <a:xfrm>
            <a:off x="3291840" y="1234440"/>
            <a:ext cx="5486400" cy="192024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0" name="Text 8"/>
          <p:cNvSpPr/>
          <p:nvPr/>
        </p:nvSpPr>
        <p:spPr>
          <a:xfrm>
            <a:off x="3474720" y="1325880"/>
            <a:ext cx="5120640" cy="384048"/>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All 4 were LLaMA AI samples misclassified as human</a:t>
            </a:r>
            <a:endParaRPr lang="en-US" sz="1400" dirty="0"/>
          </a:p>
        </p:txBody>
      </p:sp>
      <p:sp>
        <p:nvSpPr>
          <p:cNvPr id="11" name="Text 9"/>
          <p:cNvSpPr/>
          <p:nvPr/>
        </p:nvSpPr>
        <p:spPr>
          <a:xfrm>
            <a:off x="3474720" y="1755648"/>
            <a:ext cx="5120640" cy="4114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Out of 5,981 total test samples, only 4 were simultaneously wrong across all three classical models. Error rate: 0.07%.</a:t>
            </a:r>
            <a:endParaRPr lang="en-US" sz="1200" dirty="0"/>
          </a:p>
        </p:txBody>
      </p:sp>
      <p:sp>
        <p:nvSpPr>
          <p:cNvPr id="12" name="Text 10"/>
          <p:cNvSpPr/>
          <p:nvPr/>
        </p:nvSpPr>
        <p:spPr>
          <a:xfrm>
            <a:off x="3474720" y="2221992"/>
            <a:ext cx="5120640" cy="502920"/>
          </a:xfrm>
          <a:prstGeom prst="rect">
            <a:avLst/>
          </a:prstGeom>
          <a:noFill/>
          <a:ln/>
        </p:spPr>
        <p:txBody>
          <a:bodyPr wrap="square" rtlCol="0" anchor="ctr"/>
          <a:lstStyle/>
          <a:p>
            <a:pPr marL="0" indent="0">
              <a:buNone/>
            </a:pPr>
            <a:r>
              <a:rPr lang="en-US" sz="1150" dirty="0">
                <a:solidFill>
                  <a:srgbClr val="94A3B8"/>
                </a:solidFill>
                <a:latin typeface="Calibri" pitchFamily="34" charset="0"/>
                <a:ea typeface="Calibri" pitchFamily="34" charset="-122"/>
                <a:cs typeface="Calibri" pitchFamily="34" charset="-120"/>
              </a:rPr>
              <a:t>LLaMA generates text with shorter words, more varied sentence lengths, and higher first-person pronoun usage — all human-like patterns that fool vocabulary complexity features.</a:t>
            </a:r>
            <a:endParaRPr lang="en-US" sz="1150" dirty="0"/>
          </a:p>
        </p:txBody>
      </p:sp>
      <p:sp>
        <p:nvSpPr>
          <p:cNvPr id="13" name="Shape 11"/>
          <p:cNvSpPr/>
          <p:nvPr/>
        </p:nvSpPr>
        <p:spPr>
          <a:xfrm>
            <a:off x="365760" y="3291840"/>
            <a:ext cx="8412480" cy="15544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4" name="Shape 12"/>
          <p:cNvSpPr/>
          <p:nvPr/>
        </p:nvSpPr>
        <p:spPr>
          <a:xfrm>
            <a:off x="365760" y="3291840"/>
            <a:ext cx="8412480" cy="54864"/>
          </a:xfrm>
          <a:prstGeom prst="rect">
            <a:avLst/>
          </a:prstGeom>
          <a:solidFill>
            <a:srgbClr val="00D4FF"/>
          </a:solidFill>
          <a:ln w="12700">
            <a:solidFill>
              <a:srgbClr val="00D4FF"/>
            </a:solidFill>
            <a:prstDash val="solid"/>
          </a:ln>
        </p:spPr>
        <p:txBody>
          <a:bodyPr/>
          <a:lstStyle/>
          <a:p>
            <a:endParaRPr lang="en-US"/>
          </a:p>
        </p:txBody>
      </p:sp>
      <p:sp>
        <p:nvSpPr>
          <p:cNvPr id="15" name="Text 13"/>
          <p:cNvSpPr/>
          <p:nvPr/>
        </p:nvSpPr>
        <p:spPr>
          <a:xfrm>
            <a:off x="548640" y="3401568"/>
            <a:ext cx="8046720" cy="30175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False Positive Rate — Human text wrongly flagged as AI:</a:t>
            </a:r>
            <a:endParaRPr lang="en-US" sz="1300" dirty="0"/>
          </a:p>
        </p:txBody>
      </p:sp>
      <p:sp>
        <p:nvSpPr>
          <p:cNvPr id="16" name="Text 14"/>
          <p:cNvSpPr/>
          <p:nvPr/>
        </p:nvSpPr>
        <p:spPr>
          <a:xfrm>
            <a:off x="548640" y="3767328"/>
            <a:ext cx="1554480" cy="256032"/>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Logistic Regression</a:t>
            </a:r>
            <a:endParaRPr lang="en-US" sz="1100" dirty="0"/>
          </a:p>
        </p:txBody>
      </p:sp>
      <p:sp>
        <p:nvSpPr>
          <p:cNvPr id="17" name="Text 15"/>
          <p:cNvSpPr/>
          <p:nvPr/>
        </p:nvSpPr>
        <p:spPr>
          <a:xfrm>
            <a:off x="548640" y="4023360"/>
            <a:ext cx="1554480" cy="502920"/>
          </a:xfrm>
          <a:prstGeom prst="rect">
            <a:avLst/>
          </a:prstGeom>
          <a:noFill/>
          <a:ln/>
        </p:spPr>
        <p:txBody>
          <a:bodyPr wrap="square" rtlCol="0" anchor="ctr"/>
          <a:lstStyle/>
          <a:p>
            <a:pPr marL="0" indent="0" algn="ctr">
              <a:buNone/>
            </a:pPr>
            <a:r>
              <a:rPr lang="en-US" sz="2200" b="1" dirty="0">
                <a:solidFill>
                  <a:srgbClr val="10B981"/>
                </a:solidFill>
                <a:latin typeface="Calibri" pitchFamily="34" charset="0"/>
                <a:ea typeface="Calibri" pitchFamily="34" charset="-122"/>
                <a:cs typeface="Calibri" pitchFamily="34" charset="-120"/>
              </a:rPr>
              <a:t>0.00%</a:t>
            </a:r>
            <a:endParaRPr lang="en-US" sz="2200" dirty="0"/>
          </a:p>
        </p:txBody>
      </p:sp>
      <p:sp>
        <p:nvSpPr>
          <p:cNvPr id="18" name="Text 16"/>
          <p:cNvSpPr/>
          <p:nvPr/>
        </p:nvSpPr>
        <p:spPr>
          <a:xfrm>
            <a:off x="2212848" y="3767328"/>
            <a:ext cx="1554480" cy="256032"/>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Random Forest</a:t>
            </a:r>
            <a:endParaRPr lang="en-US" sz="1100" dirty="0"/>
          </a:p>
        </p:txBody>
      </p:sp>
      <p:sp>
        <p:nvSpPr>
          <p:cNvPr id="19" name="Text 17"/>
          <p:cNvSpPr/>
          <p:nvPr/>
        </p:nvSpPr>
        <p:spPr>
          <a:xfrm>
            <a:off x="2212848" y="4023360"/>
            <a:ext cx="1554480" cy="502920"/>
          </a:xfrm>
          <a:prstGeom prst="rect">
            <a:avLst/>
          </a:prstGeom>
          <a:noFill/>
          <a:ln/>
        </p:spPr>
        <p:txBody>
          <a:bodyPr wrap="square" rtlCol="0" anchor="ctr"/>
          <a:lstStyle/>
          <a:p>
            <a:pPr marL="0" indent="0" algn="ctr">
              <a:buNone/>
            </a:pPr>
            <a:r>
              <a:rPr lang="en-US" sz="2200" b="1" dirty="0">
                <a:solidFill>
                  <a:srgbClr val="10B981"/>
                </a:solidFill>
                <a:latin typeface="Calibri" pitchFamily="34" charset="0"/>
                <a:ea typeface="Calibri" pitchFamily="34" charset="-122"/>
                <a:cs typeface="Calibri" pitchFamily="34" charset="-120"/>
              </a:rPr>
              <a:t>0.00%</a:t>
            </a:r>
            <a:endParaRPr lang="en-US" sz="2200" dirty="0"/>
          </a:p>
        </p:txBody>
      </p:sp>
      <p:sp>
        <p:nvSpPr>
          <p:cNvPr id="20" name="Text 18"/>
          <p:cNvSpPr/>
          <p:nvPr/>
        </p:nvSpPr>
        <p:spPr>
          <a:xfrm>
            <a:off x="3877056" y="3767328"/>
            <a:ext cx="1554480" cy="256032"/>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XGBoost</a:t>
            </a:r>
            <a:endParaRPr lang="en-US" sz="1100" dirty="0"/>
          </a:p>
        </p:txBody>
      </p:sp>
      <p:sp>
        <p:nvSpPr>
          <p:cNvPr id="21" name="Text 19"/>
          <p:cNvSpPr/>
          <p:nvPr/>
        </p:nvSpPr>
        <p:spPr>
          <a:xfrm>
            <a:off x="3877056" y="4023360"/>
            <a:ext cx="1554480" cy="502920"/>
          </a:xfrm>
          <a:prstGeom prst="rect">
            <a:avLst/>
          </a:prstGeom>
          <a:noFill/>
          <a:ln/>
        </p:spPr>
        <p:txBody>
          <a:bodyPr wrap="square" rtlCol="0" anchor="ctr"/>
          <a:lstStyle/>
          <a:p>
            <a:pPr marL="0" indent="0" algn="ctr">
              <a:buNone/>
            </a:pPr>
            <a:r>
              <a:rPr lang="en-US" sz="2200" b="1" dirty="0">
                <a:solidFill>
                  <a:srgbClr val="10B981"/>
                </a:solidFill>
                <a:latin typeface="Calibri" pitchFamily="34" charset="0"/>
                <a:ea typeface="Calibri" pitchFamily="34" charset="-122"/>
                <a:cs typeface="Calibri" pitchFamily="34" charset="-120"/>
              </a:rPr>
              <a:t>0.04%</a:t>
            </a:r>
            <a:endParaRPr lang="en-US" sz="2200" dirty="0"/>
          </a:p>
        </p:txBody>
      </p:sp>
      <p:sp>
        <p:nvSpPr>
          <p:cNvPr id="22" name="Text 20"/>
          <p:cNvSpPr/>
          <p:nvPr/>
        </p:nvSpPr>
        <p:spPr>
          <a:xfrm>
            <a:off x="5541264" y="3767328"/>
            <a:ext cx="1554480" cy="256032"/>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RoBERTa-OpenAI</a:t>
            </a:r>
            <a:endParaRPr lang="en-US" sz="1100" dirty="0"/>
          </a:p>
        </p:txBody>
      </p:sp>
      <p:sp>
        <p:nvSpPr>
          <p:cNvPr id="23" name="Text 21"/>
          <p:cNvSpPr/>
          <p:nvPr/>
        </p:nvSpPr>
        <p:spPr>
          <a:xfrm>
            <a:off x="5541264" y="4023360"/>
            <a:ext cx="1554480" cy="502920"/>
          </a:xfrm>
          <a:prstGeom prst="rect">
            <a:avLst/>
          </a:prstGeom>
          <a:noFill/>
          <a:ln/>
        </p:spPr>
        <p:txBody>
          <a:bodyPr wrap="square" rtlCol="0" anchor="ctr"/>
          <a:lstStyle/>
          <a:p>
            <a:pPr marL="0" indent="0" algn="ctr">
              <a:buNone/>
            </a:pPr>
            <a:r>
              <a:rPr lang="en-US" sz="2200" b="1" dirty="0">
                <a:solidFill>
                  <a:srgbClr val="EF4444"/>
                </a:solidFill>
                <a:latin typeface="Calibri" pitchFamily="34" charset="0"/>
                <a:ea typeface="Calibri" pitchFamily="34" charset="-122"/>
                <a:cs typeface="Calibri" pitchFamily="34" charset="-120"/>
              </a:rPr>
              <a:t>4.40%</a:t>
            </a:r>
            <a:endParaRPr lang="en-US" sz="2200" dirty="0"/>
          </a:p>
        </p:txBody>
      </p:sp>
      <p:sp>
        <p:nvSpPr>
          <p:cNvPr id="24" name="Text 22"/>
          <p:cNvSpPr/>
          <p:nvPr/>
        </p:nvSpPr>
        <p:spPr>
          <a:xfrm>
            <a:off x="7205472" y="3767328"/>
            <a:ext cx="1554480" cy="256032"/>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ChatGPT Detector</a:t>
            </a:r>
            <a:endParaRPr lang="en-US" sz="1100" dirty="0"/>
          </a:p>
        </p:txBody>
      </p:sp>
      <p:sp>
        <p:nvSpPr>
          <p:cNvPr id="25" name="Text 23"/>
          <p:cNvSpPr/>
          <p:nvPr/>
        </p:nvSpPr>
        <p:spPr>
          <a:xfrm>
            <a:off x="7205472" y="4023360"/>
            <a:ext cx="1554480" cy="502920"/>
          </a:xfrm>
          <a:prstGeom prst="rect">
            <a:avLst/>
          </a:prstGeom>
          <a:noFill/>
          <a:ln/>
        </p:spPr>
        <p:txBody>
          <a:bodyPr wrap="square" rtlCol="0" anchor="ctr"/>
          <a:lstStyle/>
          <a:p>
            <a:pPr marL="0" indent="0" algn="ctr">
              <a:buNone/>
            </a:pPr>
            <a:r>
              <a:rPr lang="en-US" sz="2200" b="1" dirty="0">
                <a:solidFill>
                  <a:srgbClr val="EF4444"/>
                </a:solidFill>
                <a:latin typeface="Calibri" pitchFamily="34" charset="0"/>
                <a:ea typeface="Calibri" pitchFamily="34" charset="-122"/>
                <a:cs typeface="Calibri" pitchFamily="34" charset="-120"/>
              </a:rPr>
              <a:t>11.90%</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LLaMA Pattern</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Why LLaMA is consistently the hardest to detect</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17 / 24</a:t>
            </a:r>
            <a:endParaRPr lang="en-US" sz="900" dirty="0"/>
          </a:p>
        </p:txBody>
      </p:sp>
      <p:sp>
        <p:nvSpPr>
          <p:cNvPr id="6" name="Shape 4"/>
          <p:cNvSpPr/>
          <p:nvPr/>
        </p:nvSpPr>
        <p:spPr>
          <a:xfrm>
            <a:off x="365760" y="1234440"/>
            <a:ext cx="8412480" cy="100584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Text 5"/>
          <p:cNvSpPr/>
          <p:nvPr/>
        </p:nvSpPr>
        <p:spPr>
          <a:xfrm>
            <a:off x="548640" y="1298448"/>
            <a:ext cx="8046720" cy="29260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LLaMA F1 across all 5 classifiers:</a:t>
            </a:r>
            <a:endParaRPr lang="en-US" sz="1300" dirty="0"/>
          </a:p>
        </p:txBody>
      </p:sp>
      <p:sp>
        <p:nvSpPr>
          <p:cNvPr id="8" name="Text 6"/>
          <p:cNvSpPr/>
          <p:nvPr/>
        </p:nvSpPr>
        <p:spPr>
          <a:xfrm>
            <a:off x="548640" y="1591056"/>
            <a:ext cx="1554480" cy="502920"/>
          </a:xfrm>
          <a:prstGeom prst="rect">
            <a:avLst/>
          </a:prstGeom>
          <a:noFill/>
          <a:ln/>
        </p:spPr>
        <p:txBody>
          <a:bodyPr wrap="square" rtlCol="0" anchor="ctr"/>
          <a:lstStyle/>
          <a:p>
            <a:pPr marL="0" indent="0" algn="ctr">
              <a:buNone/>
            </a:pPr>
            <a:r>
              <a:rPr lang="en-US" sz="1200" b="1" dirty="0">
                <a:solidFill>
                  <a:srgbClr val="10B981"/>
                </a:solidFill>
                <a:latin typeface="Calibri" pitchFamily="34" charset="0"/>
                <a:ea typeface="Calibri" pitchFamily="34" charset="-122"/>
                <a:cs typeface="Calibri" pitchFamily="34" charset="-120"/>
              </a:rPr>
              <a:t>LR</a:t>
            </a:r>
            <a:endParaRPr lang="en-US" sz="1200" dirty="0"/>
          </a:p>
          <a:p>
            <a:pPr marL="0" indent="0" algn="ctr">
              <a:buNone/>
            </a:pPr>
            <a:r>
              <a:rPr lang="en-US" sz="1200" b="1" dirty="0">
                <a:solidFill>
                  <a:srgbClr val="10B981"/>
                </a:solidFill>
                <a:latin typeface="Calibri" pitchFamily="34" charset="0"/>
                <a:ea typeface="Calibri" pitchFamily="34" charset="-122"/>
                <a:cs typeface="Calibri" pitchFamily="34" charset="-120"/>
              </a:rPr>
              <a:t>99.70%</a:t>
            </a:r>
            <a:endParaRPr lang="en-US" sz="1200" dirty="0"/>
          </a:p>
        </p:txBody>
      </p:sp>
      <p:sp>
        <p:nvSpPr>
          <p:cNvPr id="9" name="Text 7"/>
          <p:cNvSpPr/>
          <p:nvPr/>
        </p:nvSpPr>
        <p:spPr>
          <a:xfrm>
            <a:off x="2212848" y="1591056"/>
            <a:ext cx="1554480" cy="502920"/>
          </a:xfrm>
          <a:prstGeom prst="rect">
            <a:avLst/>
          </a:prstGeom>
          <a:noFill/>
          <a:ln/>
        </p:spPr>
        <p:txBody>
          <a:bodyPr wrap="square"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RF</a:t>
            </a:r>
            <a:endParaRPr lang="en-US" sz="1200" dirty="0"/>
          </a:p>
          <a:p>
            <a:pPr marL="0" indent="0" algn="ctr">
              <a:buNone/>
            </a:pPr>
            <a:r>
              <a:rPr lang="en-US" sz="1200" b="1" dirty="0">
                <a:solidFill>
                  <a:srgbClr val="F59E0B"/>
                </a:solidFill>
                <a:latin typeface="Calibri" pitchFamily="34" charset="0"/>
                <a:ea typeface="Calibri" pitchFamily="34" charset="-122"/>
                <a:cs typeface="Calibri" pitchFamily="34" charset="-120"/>
              </a:rPr>
              <a:t>98.22%</a:t>
            </a:r>
            <a:endParaRPr lang="en-US" sz="1200" dirty="0"/>
          </a:p>
        </p:txBody>
      </p:sp>
      <p:sp>
        <p:nvSpPr>
          <p:cNvPr id="10" name="Text 8"/>
          <p:cNvSpPr/>
          <p:nvPr/>
        </p:nvSpPr>
        <p:spPr>
          <a:xfrm>
            <a:off x="3877056" y="1591056"/>
            <a:ext cx="1554480" cy="502920"/>
          </a:xfrm>
          <a:prstGeom prst="rect">
            <a:avLst/>
          </a:prstGeom>
          <a:noFill/>
          <a:ln/>
        </p:spPr>
        <p:txBody>
          <a:bodyPr wrap="square"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XGB</a:t>
            </a:r>
            <a:endParaRPr lang="en-US" sz="1200" dirty="0"/>
          </a:p>
          <a:p>
            <a:pPr marL="0" indent="0" algn="ctr">
              <a:buNone/>
            </a:pPr>
            <a:r>
              <a:rPr lang="en-US" sz="1200" b="1" dirty="0">
                <a:solidFill>
                  <a:srgbClr val="F59E0B"/>
                </a:solidFill>
                <a:latin typeface="Calibri" pitchFamily="34" charset="0"/>
                <a:ea typeface="Calibri" pitchFamily="34" charset="-122"/>
                <a:cs typeface="Calibri" pitchFamily="34" charset="-120"/>
              </a:rPr>
              <a:t>98.37%</a:t>
            </a:r>
            <a:endParaRPr lang="en-US" sz="1200" dirty="0"/>
          </a:p>
        </p:txBody>
      </p:sp>
      <p:sp>
        <p:nvSpPr>
          <p:cNvPr id="11" name="Text 9"/>
          <p:cNvSpPr/>
          <p:nvPr/>
        </p:nvSpPr>
        <p:spPr>
          <a:xfrm>
            <a:off x="5541264" y="1591056"/>
            <a:ext cx="1554480" cy="502920"/>
          </a:xfrm>
          <a:prstGeom prst="rect">
            <a:avLst/>
          </a:prstGeom>
          <a:noFill/>
          <a:ln/>
        </p:spPr>
        <p:txBody>
          <a:bodyPr wrap="square"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RoBERTa</a:t>
            </a:r>
            <a:endParaRPr lang="en-US" sz="1200" dirty="0"/>
          </a:p>
          <a:p>
            <a:pPr marL="0" indent="0" algn="ctr">
              <a:buNone/>
            </a:pPr>
            <a:r>
              <a:rPr lang="en-US" sz="1200" b="1" dirty="0">
                <a:solidFill>
                  <a:srgbClr val="F59E0B"/>
                </a:solidFill>
                <a:latin typeface="Calibri" pitchFamily="34" charset="0"/>
                <a:ea typeface="Calibri" pitchFamily="34" charset="-122"/>
                <a:cs typeface="Calibri" pitchFamily="34" charset="-120"/>
              </a:rPr>
              <a:t>76.93%</a:t>
            </a:r>
            <a:endParaRPr lang="en-US" sz="1200" dirty="0"/>
          </a:p>
        </p:txBody>
      </p:sp>
      <p:sp>
        <p:nvSpPr>
          <p:cNvPr id="12" name="Text 10"/>
          <p:cNvSpPr/>
          <p:nvPr/>
        </p:nvSpPr>
        <p:spPr>
          <a:xfrm>
            <a:off x="7205472" y="1591056"/>
            <a:ext cx="1554480" cy="502920"/>
          </a:xfrm>
          <a:prstGeom prst="rect">
            <a:avLst/>
          </a:prstGeom>
          <a:noFill/>
          <a:ln/>
        </p:spPr>
        <p:txBody>
          <a:bodyPr wrap="square"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ChatGPT Det.</a:t>
            </a:r>
            <a:endParaRPr lang="en-US" sz="1200" dirty="0"/>
          </a:p>
          <a:p>
            <a:pPr marL="0" indent="0" algn="ctr">
              <a:buNone/>
            </a:pPr>
            <a:r>
              <a:rPr lang="en-US" sz="1200" b="1" dirty="0">
                <a:solidFill>
                  <a:srgbClr val="F59E0B"/>
                </a:solidFill>
                <a:latin typeface="Calibri" pitchFamily="34" charset="0"/>
                <a:ea typeface="Calibri" pitchFamily="34" charset="-122"/>
                <a:cs typeface="Calibri" pitchFamily="34" charset="-120"/>
              </a:rPr>
              <a:t>82.16%</a:t>
            </a:r>
            <a:endParaRPr lang="en-US" sz="1200" dirty="0"/>
          </a:p>
        </p:txBody>
      </p:sp>
      <p:sp>
        <p:nvSpPr>
          <p:cNvPr id="13" name="Shape 11"/>
          <p:cNvSpPr/>
          <p:nvPr/>
        </p:nvSpPr>
        <p:spPr>
          <a:xfrm>
            <a:off x="365760" y="2423160"/>
            <a:ext cx="8412480" cy="71323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4" name="Shape 12"/>
          <p:cNvSpPr/>
          <p:nvPr/>
        </p:nvSpPr>
        <p:spPr>
          <a:xfrm>
            <a:off x="365760" y="2423160"/>
            <a:ext cx="54864" cy="713232"/>
          </a:xfrm>
          <a:prstGeom prst="rect">
            <a:avLst/>
          </a:prstGeom>
          <a:solidFill>
            <a:srgbClr val="00D4FF"/>
          </a:solidFill>
          <a:ln w="12700">
            <a:solidFill>
              <a:srgbClr val="00D4FF"/>
            </a:solidFill>
            <a:prstDash val="solid"/>
          </a:ln>
        </p:spPr>
        <p:txBody>
          <a:bodyPr/>
          <a:lstStyle/>
          <a:p>
            <a:endParaRPr lang="en-US"/>
          </a:p>
        </p:txBody>
      </p:sp>
      <p:sp>
        <p:nvSpPr>
          <p:cNvPr id="15" name="Text 13"/>
          <p:cNvSpPr/>
          <p:nvPr/>
        </p:nvSpPr>
        <p:spPr>
          <a:xfrm>
            <a:off x="548640" y="2487168"/>
            <a:ext cx="2286000" cy="256032"/>
          </a:xfrm>
          <a:prstGeom prst="rect">
            <a:avLst/>
          </a:prstGeom>
          <a:noFill/>
          <a:ln/>
        </p:spPr>
        <p:txBody>
          <a:bodyPr wrap="square" rtlCol="0" anchor="ctr"/>
          <a:lstStyle/>
          <a:p>
            <a:pPr marL="0" indent="0">
              <a:buNone/>
            </a:pPr>
            <a:r>
              <a:rPr lang="en-US" sz="1200" b="1" dirty="0">
                <a:solidFill>
                  <a:srgbClr val="00D4FF"/>
                </a:solidFill>
                <a:latin typeface="Calibri" pitchFamily="34" charset="0"/>
                <a:ea typeface="Calibri" pitchFamily="34" charset="-122"/>
                <a:cs typeface="Calibri" pitchFamily="34" charset="-120"/>
              </a:rPr>
              <a:t>Shorter, simpler vocabulary</a:t>
            </a:r>
            <a:endParaRPr lang="en-US" sz="1200" dirty="0"/>
          </a:p>
        </p:txBody>
      </p:sp>
      <p:sp>
        <p:nvSpPr>
          <p:cNvPr id="16" name="Text 14"/>
          <p:cNvSpPr/>
          <p:nvPr/>
        </p:nvSpPr>
        <p:spPr>
          <a:xfrm>
            <a:off x="2926080" y="2487168"/>
            <a:ext cx="5669280" cy="4572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LLaMA uses fewer polysyllabic words than GPT-4o or Claude,  directly reducing the #1 discriminating feature (syllables_per_word)</a:t>
            </a:r>
            <a:endParaRPr lang="en-US" sz="1150" dirty="0"/>
          </a:p>
        </p:txBody>
      </p:sp>
      <p:sp>
        <p:nvSpPr>
          <p:cNvPr id="17" name="Shape 15"/>
          <p:cNvSpPr/>
          <p:nvPr/>
        </p:nvSpPr>
        <p:spPr>
          <a:xfrm>
            <a:off x="365760" y="3264408"/>
            <a:ext cx="8412480" cy="71323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8" name="Shape 16"/>
          <p:cNvSpPr/>
          <p:nvPr/>
        </p:nvSpPr>
        <p:spPr>
          <a:xfrm>
            <a:off x="365760" y="3264408"/>
            <a:ext cx="54864" cy="713232"/>
          </a:xfrm>
          <a:prstGeom prst="rect">
            <a:avLst/>
          </a:prstGeom>
          <a:solidFill>
            <a:srgbClr val="10B981"/>
          </a:solidFill>
          <a:ln w="12700">
            <a:solidFill>
              <a:srgbClr val="10B981"/>
            </a:solidFill>
            <a:prstDash val="solid"/>
          </a:ln>
        </p:spPr>
        <p:txBody>
          <a:bodyPr/>
          <a:lstStyle/>
          <a:p>
            <a:endParaRPr lang="en-US"/>
          </a:p>
        </p:txBody>
      </p:sp>
      <p:sp>
        <p:nvSpPr>
          <p:cNvPr id="19" name="Text 17"/>
          <p:cNvSpPr/>
          <p:nvPr/>
        </p:nvSpPr>
        <p:spPr>
          <a:xfrm>
            <a:off x="548640" y="3328416"/>
            <a:ext cx="2286000" cy="256032"/>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Open-source, diverse training</a:t>
            </a:r>
            <a:endParaRPr lang="en-US" sz="1200" dirty="0"/>
          </a:p>
        </p:txBody>
      </p:sp>
      <p:sp>
        <p:nvSpPr>
          <p:cNvPr id="20" name="Text 18"/>
          <p:cNvSpPr/>
          <p:nvPr/>
        </p:nvSpPr>
        <p:spPr>
          <a:xfrm>
            <a:off x="2926080" y="3328416"/>
            <a:ext cx="5669280" cy="4572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LLaMA was trained on diverse community text , its writing style is more varied and less uniform than commercial models</a:t>
            </a:r>
            <a:endParaRPr lang="en-US" sz="1150" dirty="0"/>
          </a:p>
        </p:txBody>
      </p:sp>
      <p:sp>
        <p:nvSpPr>
          <p:cNvPr id="21" name="Shape 19"/>
          <p:cNvSpPr/>
          <p:nvPr/>
        </p:nvSpPr>
        <p:spPr>
          <a:xfrm>
            <a:off x="365760" y="4105656"/>
            <a:ext cx="8412480" cy="71323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2" name="Shape 20"/>
          <p:cNvSpPr/>
          <p:nvPr/>
        </p:nvSpPr>
        <p:spPr>
          <a:xfrm>
            <a:off x="365760" y="4105656"/>
            <a:ext cx="54864" cy="713232"/>
          </a:xfrm>
          <a:prstGeom prst="rect">
            <a:avLst/>
          </a:prstGeom>
          <a:solidFill>
            <a:srgbClr val="F59E0B"/>
          </a:solidFill>
          <a:ln w="12700">
            <a:solidFill>
              <a:srgbClr val="F59E0B"/>
            </a:solidFill>
            <a:prstDash val="solid"/>
          </a:ln>
        </p:spPr>
        <p:txBody>
          <a:bodyPr/>
          <a:lstStyle/>
          <a:p>
            <a:endParaRPr lang="en-US"/>
          </a:p>
        </p:txBody>
      </p:sp>
      <p:sp>
        <p:nvSpPr>
          <p:cNvPr id="23" name="Text 21"/>
          <p:cNvSpPr/>
          <p:nvPr/>
        </p:nvSpPr>
        <p:spPr>
          <a:xfrm>
            <a:off x="548640" y="4169664"/>
            <a:ext cx="2286000" cy="256032"/>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Neural detectors score HIGHER on LLaMA</a:t>
            </a:r>
            <a:endParaRPr lang="en-US" sz="1200" dirty="0"/>
          </a:p>
        </p:txBody>
      </p:sp>
      <p:sp>
        <p:nvSpPr>
          <p:cNvPr id="24" name="Text 22"/>
          <p:cNvSpPr/>
          <p:nvPr/>
        </p:nvSpPr>
        <p:spPr>
          <a:xfrm>
            <a:off x="2926080" y="4169664"/>
            <a:ext cx="5669280" cy="4572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RoBERTa and ChatGPT Detector both perform better on LLaMA than other models — its patterns overlap more with older GPT-era training data</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Live Web Application</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huggingface.co/spaces/amenuvevemelissa/ai-detector</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18 / 24</a:t>
            </a:r>
            <a:endParaRPr lang="en-US" sz="900" dirty="0"/>
          </a:p>
        </p:txBody>
      </p:sp>
      <p:sp>
        <p:nvSpPr>
          <p:cNvPr id="6" name="Shape 4"/>
          <p:cNvSpPr/>
          <p:nvPr/>
        </p:nvSpPr>
        <p:spPr>
          <a:xfrm>
            <a:off x="365760" y="1261872"/>
            <a:ext cx="8412480" cy="45720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Text 5"/>
          <p:cNvSpPr/>
          <p:nvPr/>
        </p:nvSpPr>
        <p:spPr>
          <a:xfrm>
            <a:off x="548640" y="1371600"/>
            <a:ext cx="8046720" cy="256032"/>
          </a:xfrm>
          <a:prstGeom prst="rect">
            <a:avLst/>
          </a:prstGeom>
          <a:noFill/>
          <a:ln/>
        </p:spPr>
        <p:txBody>
          <a:bodyPr wrap="square" rtlCol="0" anchor="ctr"/>
          <a:lstStyle/>
          <a:p>
            <a:pPr marL="0" indent="0">
              <a:buNone/>
            </a:pPr>
            <a:r>
              <a:rPr lang="en-US" sz="1200" dirty="0">
                <a:solidFill>
                  <a:srgbClr val="00D4FF"/>
                </a:solidFill>
                <a:latin typeface="Calibri" pitchFamily="34" charset="0"/>
                <a:ea typeface="Calibri" pitchFamily="34" charset="-122"/>
                <a:cs typeface="Calibri" pitchFamily="34" charset="-120"/>
              </a:rPr>
              <a:t>🌐  Built with Streamlit + scikit-learn + XGBoost  |  Deployed on Hugging Face Spaces  |  Free, public, shareable</a:t>
            </a:r>
            <a:endParaRPr lang="en-US" sz="1200" dirty="0"/>
          </a:p>
        </p:txBody>
      </p:sp>
      <p:sp>
        <p:nvSpPr>
          <p:cNvPr id="8" name="Shape 6"/>
          <p:cNvSpPr/>
          <p:nvPr/>
        </p:nvSpPr>
        <p:spPr>
          <a:xfrm>
            <a:off x="365760" y="1874520"/>
            <a:ext cx="2651760" cy="301752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9" name="Shape 7"/>
          <p:cNvSpPr/>
          <p:nvPr/>
        </p:nvSpPr>
        <p:spPr>
          <a:xfrm>
            <a:off x="365760" y="1874520"/>
            <a:ext cx="2651760" cy="54864"/>
          </a:xfrm>
          <a:prstGeom prst="rect">
            <a:avLst/>
          </a:prstGeom>
          <a:solidFill>
            <a:srgbClr val="10B981"/>
          </a:solidFill>
          <a:ln w="12700">
            <a:solidFill>
              <a:srgbClr val="10B981"/>
            </a:solidFill>
            <a:prstDash val="solid"/>
          </a:ln>
        </p:spPr>
        <p:txBody>
          <a:bodyPr/>
          <a:lstStyle/>
          <a:p>
            <a:endParaRPr lang="en-US"/>
          </a:p>
        </p:txBody>
      </p:sp>
      <p:sp>
        <p:nvSpPr>
          <p:cNvPr id="10" name="Text 8"/>
          <p:cNvSpPr/>
          <p:nvPr/>
        </p:nvSpPr>
        <p:spPr>
          <a:xfrm>
            <a:off x="457200" y="1965960"/>
            <a:ext cx="2468880" cy="502920"/>
          </a:xfrm>
          <a:prstGeom prst="rect">
            <a:avLst/>
          </a:prstGeom>
          <a:noFill/>
          <a:ln/>
        </p:spPr>
        <p:txBody>
          <a:bodyPr wrap="square"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Human Text</a:t>
            </a:r>
            <a:endParaRPr lang="en-US" sz="1200" dirty="0"/>
          </a:p>
          <a:p>
            <a:pPr marL="0" indent="0" algn="ctr">
              <a:buNone/>
            </a:pPr>
            <a:r>
              <a:rPr lang="en-US" sz="1200" dirty="0">
                <a:solidFill>
                  <a:srgbClr val="94A3B8"/>
                </a:solidFill>
                <a:latin typeface="Calibri" pitchFamily="34" charset="0"/>
                <a:ea typeface="Calibri" pitchFamily="34" charset="-122"/>
                <a:cs typeface="Calibri" pitchFamily="34" charset="-120"/>
              </a:rPr>
              <a:t>(Melissa's writing)</a:t>
            </a:r>
            <a:endParaRPr lang="en-US" sz="1200" dirty="0"/>
          </a:p>
        </p:txBody>
      </p:sp>
      <p:sp>
        <p:nvSpPr>
          <p:cNvPr id="11" name="Text 9"/>
          <p:cNvSpPr/>
          <p:nvPr/>
        </p:nvSpPr>
        <p:spPr>
          <a:xfrm>
            <a:off x="457200" y="2514600"/>
            <a:ext cx="2468880" cy="731520"/>
          </a:xfrm>
          <a:prstGeom prst="rect">
            <a:avLst/>
          </a:prstGeom>
          <a:noFill/>
          <a:ln/>
        </p:spPr>
        <p:txBody>
          <a:bodyPr wrap="square" rtlCol="0" anchor="ctr"/>
          <a:lstStyle/>
          <a:p>
            <a:pPr marL="0" indent="0" algn="ctr">
              <a:buNone/>
            </a:pPr>
            <a:r>
              <a:rPr lang="en-US" sz="1300" b="1" dirty="0">
                <a:solidFill>
                  <a:srgbClr val="10B981"/>
                </a:solidFill>
                <a:latin typeface="Calibri" pitchFamily="34" charset="0"/>
                <a:ea typeface="Calibri" pitchFamily="34" charset="-122"/>
                <a:cs typeface="Calibri" pitchFamily="34" charset="-120"/>
              </a:rPr>
              <a:t>✅ HUMAN</a:t>
            </a:r>
            <a:endParaRPr lang="en-US" sz="1300" dirty="0"/>
          </a:p>
          <a:p>
            <a:pPr marL="0" indent="0" algn="ctr">
              <a:buNone/>
            </a:pPr>
            <a:r>
              <a:rPr lang="en-US" sz="1300" b="1" dirty="0">
                <a:solidFill>
                  <a:srgbClr val="10B981"/>
                </a:solidFill>
                <a:latin typeface="Calibri" pitchFamily="34" charset="0"/>
                <a:ea typeface="Calibri" pitchFamily="34" charset="-122"/>
                <a:cs typeface="Calibri" pitchFamily="34" charset="-120"/>
              </a:rPr>
              <a:t>80.3% confidence</a:t>
            </a:r>
            <a:endParaRPr lang="en-US" sz="1300" dirty="0"/>
          </a:p>
        </p:txBody>
      </p:sp>
      <p:sp>
        <p:nvSpPr>
          <p:cNvPr id="12" name="Text 10"/>
          <p:cNvSpPr/>
          <p:nvPr/>
        </p:nvSpPr>
        <p:spPr>
          <a:xfrm>
            <a:off x="457200" y="3291840"/>
            <a:ext cx="2468880" cy="8229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LR: 2.0%</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RF: 30.0%</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XGB: 27.1%</a:t>
            </a:r>
            <a:endParaRPr lang="en-US" sz="1200" dirty="0"/>
          </a:p>
        </p:txBody>
      </p:sp>
      <p:sp>
        <p:nvSpPr>
          <p:cNvPr id="13" name="Text 11"/>
          <p:cNvSpPr/>
          <p:nvPr/>
        </p:nvSpPr>
        <p:spPr>
          <a:xfrm>
            <a:off x="457200" y="4187952"/>
            <a:ext cx="2468880" cy="502920"/>
          </a:xfrm>
          <a:prstGeom prst="rect">
            <a:avLst/>
          </a:prstGeom>
          <a:noFill/>
          <a:ln/>
        </p:spPr>
        <p:txBody>
          <a:bodyPr wrap="square"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 Correct ✓</a:t>
            </a:r>
            <a:endParaRPr lang="en-US" sz="1100" dirty="0"/>
          </a:p>
        </p:txBody>
      </p:sp>
      <p:sp>
        <p:nvSpPr>
          <p:cNvPr id="14" name="Shape 12"/>
          <p:cNvSpPr/>
          <p:nvPr/>
        </p:nvSpPr>
        <p:spPr>
          <a:xfrm>
            <a:off x="3200400" y="1874520"/>
            <a:ext cx="2651760" cy="301752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5" name="Shape 13"/>
          <p:cNvSpPr/>
          <p:nvPr/>
        </p:nvSpPr>
        <p:spPr>
          <a:xfrm>
            <a:off x="3200400" y="1874520"/>
            <a:ext cx="2651760" cy="54864"/>
          </a:xfrm>
          <a:prstGeom prst="rect">
            <a:avLst/>
          </a:prstGeom>
          <a:solidFill>
            <a:srgbClr val="EF4444"/>
          </a:solidFill>
          <a:ln w="12700">
            <a:solidFill>
              <a:srgbClr val="EF4444"/>
            </a:solidFill>
            <a:prstDash val="solid"/>
          </a:ln>
        </p:spPr>
        <p:txBody>
          <a:bodyPr/>
          <a:lstStyle/>
          <a:p>
            <a:endParaRPr lang="en-US"/>
          </a:p>
        </p:txBody>
      </p:sp>
      <p:sp>
        <p:nvSpPr>
          <p:cNvPr id="16" name="Text 14"/>
          <p:cNvSpPr/>
          <p:nvPr/>
        </p:nvSpPr>
        <p:spPr>
          <a:xfrm>
            <a:off x="3291840" y="1965960"/>
            <a:ext cx="2468880" cy="502920"/>
          </a:xfrm>
          <a:prstGeom prst="rect">
            <a:avLst/>
          </a:prstGeom>
          <a:noFill/>
          <a:ln/>
        </p:spPr>
        <p:txBody>
          <a:bodyPr wrap="square"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AI Text</a:t>
            </a:r>
            <a:endParaRPr lang="en-US" sz="1200" dirty="0"/>
          </a:p>
          <a:p>
            <a:pPr marL="0" indent="0" algn="ctr">
              <a:buNone/>
            </a:pPr>
            <a:r>
              <a:rPr lang="en-US" sz="1200" dirty="0">
                <a:solidFill>
                  <a:srgbClr val="94A3B8"/>
                </a:solidFill>
                <a:latin typeface="Calibri" pitchFamily="34" charset="0"/>
                <a:ea typeface="Calibri" pitchFamily="34" charset="-122"/>
                <a:cs typeface="Calibri" pitchFamily="34" charset="-120"/>
              </a:rPr>
              <a:t>(ChatGPT paragraph)</a:t>
            </a:r>
            <a:endParaRPr lang="en-US" sz="1200" dirty="0"/>
          </a:p>
        </p:txBody>
      </p:sp>
      <p:sp>
        <p:nvSpPr>
          <p:cNvPr id="17" name="Text 15"/>
          <p:cNvSpPr/>
          <p:nvPr/>
        </p:nvSpPr>
        <p:spPr>
          <a:xfrm>
            <a:off x="3291840" y="2514600"/>
            <a:ext cx="2468880" cy="731520"/>
          </a:xfrm>
          <a:prstGeom prst="rect">
            <a:avLst/>
          </a:prstGeom>
          <a:noFill/>
          <a:ln/>
        </p:spPr>
        <p:txBody>
          <a:bodyPr wrap="square" rtlCol="0" anchor="ctr"/>
          <a:lstStyle/>
          <a:p>
            <a:pPr marL="0" indent="0" algn="ctr">
              <a:buNone/>
            </a:pPr>
            <a:r>
              <a:rPr lang="en-US" sz="1300" b="1" dirty="0">
                <a:solidFill>
                  <a:srgbClr val="EF4444"/>
                </a:solidFill>
                <a:latin typeface="Calibri" pitchFamily="34" charset="0"/>
                <a:ea typeface="Calibri" pitchFamily="34" charset="-122"/>
                <a:cs typeface="Calibri" pitchFamily="34" charset="-120"/>
              </a:rPr>
              <a:t>🤖 AI-GENERATED</a:t>
            </a:r>
            <a:endParaRPr lang="en-US" sz="1300" dirty="0"/>
          </a:p>
          <a:p>
            <a:pPr marL="0" indent="0" algn="ctr">
              <a:buNone/>
            </a:pPr>
            <a:r>
              <a:rPr lang="en-US" sz="1300" b="1" dirty="0">
                <a:solidFill>
                  <a:srgbClr val="EF4444"/>
                </a:solidFill>
                <a:latin typeface="Calibri" pitchFamily="34" charset="0"/>
                <a:ea typeface="Calibri" pitchFamily="34" charset="-122"/>
                <a:cs typeface="Calibri" pitchFamily="34" charset="-120"/>
              </a:rPr>
              <a:t>98.9% confidence</a:t>
            </a:r>
            <a:endParaRPr lang="en-US" sz="1300" dirty="0"/>
          </a:p>
        </p:txBody>
      </p:sp>
      <p:sp>
        <p:nvSpPr>
          <p:cNvPr id="18" name="Text 16"/>
          <p:cNvSpPr/>
          <p:nvPr/>
        </p:nvSpPr>
        <p:spPr>
          <a:xfrm>
            <a:off x="3291840" y="3291840"/>
            <a:ext cx="2468880" cy="8229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LR: 100%</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RF: 96.8%</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XGB: 100%</a:t>
            </a:r>
            <a:endParaRPr lang="en-US" sz="1200" dirty="0"/>
          </a:p>
        </p:txBody>
      </p:sp>
      <p:sp>
        <p:nvSpPr>
          <p:cNvPr id="19" name="Text 17"/>
          <p:cNvSpPr/>
          <p:nvPr/>
        </p:nvSpPr>
        <p:spPr>
          <a:xfrm>
            <a:off x="3291840" y="4187952"/>
            <a:ext cx="2468880" cy="502920"/>
          </a:xfrm>
          <a:prstGeom prst="rect">
            <a:avLst/>
          </a:prstGeom>
          <a:noFill/>
          <a:ln/>
        </p:spPr>
        <p:txBody>
          <a:bodyPr wrap="square"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 Correct ✓</a:t>
            </a:r>
            <a:endParaRPr lang="en-US" sz="1100" dirty="0"/>
          </a:p>
        </p:txBody>
      </p:sp>
      <p:sp>
        <p:nvSpPr>
          <p:cNvPr id="20" name="Shape 18"/>
          <p:cNvSpPr/>
          <p:nvPr/>
        </p:nvSpPr>
        <p:spPr>
          <a:xfrm>
            <a:off x="6035040" y="1874520"/>
            <a:ext cx="2651760" cy="301752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1" name="Shape 19"/>
          <p:cNvSpPr/>
          <p:nvPr/>
        </p:nvSpPr>
        <p:spPr>
          <a:xfrm>
            <a:off x="6035040" y="1874520"/>
            <a:ext cx="2651760" cy="54864"/>
          </a:xfrm>
          <a:prstGeom prst="rect">
            <a:avLst/>
          </a:prstGeom>
          <a:solidFill>
            <a:srgbClr val="F59E0B"/>
          </a:solidFill>
          <a:ln w="12700">
            <a:solidFill>
              <a:srgbClr val="F59E0B"/>
            </a:solidFill>
            <a:prstDash val="solid"/>
          </a:ln>
        </p:spPr>
        <p:txBody>
          <a:bodyPr/>
          <a:lstStyle/>
          <a:p>
            <a:endParaRPr lang="en-US"/>
          </a:p>
        </p:txBody>
      </p:sp>
      <p:sp>
        <p:nvSpPr>
          <p:cNvPr id="22" name="Text 20"/>
          <p:cNvSpPr/>
          <p:nvPr/>
        </p:nvSpPr>
        <p:spPr>
          <a:xfrm>
            <a:off x="6126480" y="1965960"/>
            <a:ext cx="2468880" cy="502920"/>
          </a:xfrm>
          <a:prstGeom prst="rect">
            <a:avLst/>
          </a:prstGeom>
          <a:noFill/>
          <a:ln/>
        </p:spPr>
        <p:txBody>
          <a:bodyPr wrap="square"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Mistral Text</a:t>
            </a:r>
            <a:endParaRPr lang="en-US" sz="1200" dirty="0"/>
          </a:p>
          <a:p>
            <a:pPr marL="0" indent="0" algn="ctr">
              <a:buNone/>
            </a:pPr>
            <a:r>
              <a:rPr lang="en-US" sz="1200" dirty="0">
                <a:solidFill>
                  <a:srgbClr val="94A3B8"/>
                </a:solidFill>
                <a:latin typeface="Calibri" pitchFamily="34" charset="0"/>
                <a:ea typeface="Calibri" pitchFamily="34" charset="-122"/>
                <a:cs typeface="Calibri" pitchFamily="34" charset="-120"/>
              </a:rPr>
              <a:t>(Never seen in training)</a:t>
            </a:r>
            <a:endParaRPr lang="en-US" sz="1200" dirty="0"/>
          </a:p>
        </p:txBody>
      </p:sp>
      <p:sp>
        <p:nvSpPr>
          <p:cNvPr id="23" name="Text 21"/>
          <p:cNvSpPr/>
          <p:nvPr/>
        </p:nvSpPr>
        <p:spPr>
          <a:xfrm>
            <a:off x="6126480" y="2514600"/>
            <a:ext cx="2468880" cy="731520"/>
          </a:xfrm>
          <a:prstGeom prst="rect">
            <a:avLst/>
          </a:prstGeom>
          <a:noFill/>
          <a:ln/>
        </p:spPr>
        <p:txBody>
          <a:bodyPr wrap="square" rtlCol="0" anchor="ctr"/>
          <a:lstStyle/>
          <a:p>
            <a:pPr marL="0" indent="0" algn="ctr">
              <a:buNone/>
            </a:pPr>
            <a:r>
              <a:rPr lang="en-US" sz="1300" b="1" dirty="0">
                <a:solidFill>
                  <a:srgbClr val="F59E0B"/>
                </a:solidFill>
                <a:latin typeface="Calibri" pitchFamily="34" charset="0"/>
                <a:ea typeface="Calibri" pitchFamily="34" charset="-122"/>
                <a:cs typeface="Calibri" pitchFamily="34" charset="-120"/>
              </a:rPr>
              <a:t>🤖 AI-GENERATED</a:t>
            </a:r>
            <a:endParaRPr lang="en-US" sz="1300" dirty="0"/>
          </a:p>
          <a:p>
            <a:pPr marL="0" indent="0" algn="ctr">
              <a:buNone/>
            </a:pPr>
            <a:r>
              <a:rPr lang="en-US" sz="1300" b="1" dirty="0">
                <a:solidFill>
                  <a:srgbClr val="F59E0B"/>
                </a:solidFill>
                <a:latin typeface="Calibri" pitchFamily="34" charset="0"/>
                <a:ea typeface="Calibri" pitchFamily="34" charset="-122"/>
                <a:cs typeface="Calibri" pitchFamily="34" charset="-120"/>
              </a:rPr>
              <a:t>98.7% confidence</a:t>
            </a:r>
            <a:endParaRPr lang="en-US" sz="1300" dirty="0"/>
          </a:p>
        </p:txBody>
      </p:sp>
      <p:sp>
        <p:nvSpPr>
          <p:cNvPr id="24" name="Text 22"/>
          <p:cNvSpPr/>
          <p:nvPr/>
        </p:nvSpPr>
        <p:spPr>
          <a:xfrm>
            <a:off x="6126480" y="3291840"/>
            <a:ext cx="2468880" cy="8229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LR: 100%</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RF: 96.0%</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XGB: 100%</a:t>
            </a:r>
            <a:endParaRPr lang="en-US" sz="1200" dirty="0"/>
          </a:p>
        </p:txBody>
      </p:sp>
      <p:sp>
        <p:nvSpPr>
          <p:cNvPr id="25" name="Text 23"/>
          <p:cNvSpPr/>
          <p:nvPr/>
        </p:nvSpPr>
        <p:spPr>
          <a:xfrm>
            <a:off x="6126480" y="4187952"/>
            <a:ext cx="2468880" cy="502920"/>
          </a:xfrm>
          <a:prstGeom prst="rect">
            <a:avLst/>
          </a:prstGeom>
          <a:noFill/>
          <a:ln/>
        </p:spPr>
        <p:txBody>
          <a:bodyPr wrap="square"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 Never seen — still correct ✓</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Live Demo</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Let's test it now</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19 / 24</a:t>
            </a:r>
            <a:endParaRPr lang="en-US" sz="900" dirty="0"/>
          </a:p>
        </p:txBody>
      </p:sp>
      <p:sp>
        <p:nvSpPr>
          <p:cNvPr id="6" name="Shape 4"/>
          <p:cNvSpPr/>
          <p:nvPr/>
        </p:nvSpPr>
        <p:spPr>
          <a:xfrm>
            <a:off x="273846" y="2048730"/>
            <a:ext cx="841248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Text 5"/>
          <p:cNvSpPr/>
          <p:nvPr/>
        </p:nvSpPr>
        <p:spPr>
          <a:xfrm>
            <a:off x="183827" y="2180086"/>
            <a:ext cx="8046720" cy="347472"/>
          </a:xfrm>
          <a:prstGeom prst="rect">
            <a:avLst/>
          </a:prstGeom>
          <a:noFill/>
          <a:ln/>
        </p:spPr>
        <p:txBody>
          <a:bodyPr wrap="square" rtlCol="0" anchor="ctr"/>
          <a:lstStyle/>
          <a:p>
            <a:pPr marL="0" indent="0" algn="ctr">
              <a:buNone/>
            </a:pPr>
            <a:r>
              <a:rPr lang="en-US" sz="1800" b="1" dirty="0">
                <a:solidFill>
                  <a:srgbClr val="00D4FF"/>
                </a:solidFill>
                <a:latin typeface="Calibri" pitchFamily="34" charset="0"/>
                <a:ea typeface="Calibri" pitchFamily="34" charset="-122"/>
                <a:cs typeface="Calibri" pitchFamily="34" charset="-120"/>
              </a:rPr>
              <a:t>🌐  huggingface.co/spaces/amenuvevemelissa/ai-detector</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Findings</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What this research tells us</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20 / 24</a:t>
            </a:r>
            <a:endParaRPr lang="en-US" sz="900" dirty="0"/>
          </a:p>
        </p:txBody>
      </p:sp>
      <p:sp>
        <p:nvSpPr>
          <p:cNvPr id="6" name="Shape 4"/>
          <p:cNvSpPr/>
          <p:nvPr/>
        </p:nvSpPr>
        <p:spPr>
          <a:xfrm>
            <a:off x="365760" y="1261872"/>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65760" y="1261872"/>
            <a:ext cx="365760" cy="640080"/>
          </a:xfrm>
          <a:prstGeom prst="rect">
            <a:avLst/>
          </a:prstGeom>
          <a:solidFill>
            <a:srgbClr val="10B981"/>
          </a:solidFill>
          <a:ln w="12700">
            <a:solidFill>
              <a:srgbClr val="10B981"/>
            </a:solidFill>
            <a:prstDash val="solid"/>
          </a:ln>
        </p:spPr>
        <p:txBody>
          <a:bodyPr/>
          <a:lstStyle/>
          <a:p>
            <a:endParaRPr lang="en-US"/>
          </a:p>
        </p:txBody>
      </p:sp>
      <p:sp>
        <p:nvSpPr>
          <p:cNvPr id="8" name="Text 6"/>
          <p:cNvSpPr/>
          <p:nvPr/>
        </p:nvSpPr>
        <p:spPr>
          <a:xfrm>
            <a:off x="365760" y="1426464"/>
            <a:ext cx="365760" cy="292608"/>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22960" y="1307592"/>
            <a:ext cx="3520440" cy="27432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Classical ML beats neural baselines by 81 F1 points</a:t>
            </a:r>
            <a:endParaRPr lang="en-US" sz="1100" dirty="0"/>
          </a:p>
        </p:txBody>
      </p:sp>
      <p:sp>
        <p:nvSpPr>
          <p:cNvPr id="10" name="Text 8"/>
          <p:cNvSpPr/>
          <p:nvPr/>
        </p:nvSpPr>
        <p:spPr>
          <a:xfrm>
            <a:off x="822960" y="1600200"/>
            <a:ext cx="3520440" cy="24688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99.94% vs 18.37% — not a marginal difference</a:t>
            </a:r>
            <a:endParaRPr lang="en-US" sz="1000" dirty="0"/>
          </a:p>
        </p:txBody>
      </p:sp>
      <p:sp>
        <p:nvSpPr>
          <p:cNvPr id="11" name="Shape 9"/>
          <p:cNvSpPr/>
          <p:nvPr/>
        </p:nvSpPr>
        <p:spPr>
          <a:xfrm>
            <a:off x="365760" y="2011680"/>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2" name="Shape 10"/>
          <p:cNvSpPr/>
          <p:nvPr/>
        </p:nvSpPr>
        <p:spPr>
          <a:xfrm>
            <a:off x="365760" y="2011680"/>
            <a:ext cx="365760" cy="640080"/>
          </a:xfrm>
          <a:prstGeom prst="rect">
            <a:avLst/>
          </a:prstGeom>
          <a:solidFill>
            <a:srgbClr val="F59E0B"/>
          </a:solidFill>
          <a:ln w="12700">
            <a:solidFill>
              <a:srgbClr val="F59E0B"/>
            </a:solidFill>
            <a:prstDash val="solid"/>
          </a:ln>
        </p:spPr>
        <p:txBody>
          <a:bodyPr/>
          <a:lstStyle/>
          <a:p>
            <a:endParaRPr lang="en-US"/>
          </a:p>
        </p:txBody>
      </p:sp>
      <p:sp>
        <p:nvSpPr>
          <p:cNvPr id="13" name="Text 11"/>
          <p:cNvSpPr/>
          <p:nvPr/>
        </p:nvSpPr>
        <p:spPr>
          <a:xfrm>
            <a:off x="365760" y="2176272"/>
            <a:ext cx="365760" cy="292608"/>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822960" y="2057400"/>
            <a:ext cx="3520440"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LLaMA is consistently the hardest model to detect</a:t>
            </a:r>
            <a:endParaRPr lang="en-US" sz="1100" dirty="0"/>
          </a:p>
        </p:txBody>
      </p:sp>
      <p:sp>
        <p:nvSpPr>
          <p:cNvPr id="15" name="Text 13"/>
          <p:cNvSpPr/>
          <p:nvPr/>
        </p:nvSpPr>
        <p:spPr>
          <a:xfrm>
            <a:off x="822960" y="2350008"/>
            <a:ext cx="3520440" cy="24688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Drops across all classifiers — shorter vocabulary, open-source diversity</a:t>
            </a:r>
            <a:endParaRPr lang="en-US" sz="1000" dirty="0"/>
          </a:p>
        </p:txBody>
      </p:sp>
      <p:sp>
        <p:nvSpPr>
          <p:cNvPr id="16" name="Shape 14"/>
          <p:cNvSpPr/>
          <p:nvPr/>
        </p:nvSpPr>
        <p:spPr>
          <a:xfrm>
            <a:off x="365760" y="2761488"/>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7" name="Shape 15"/>
          <p:cNvSpPr/>
          <p:nvPr/>
        </p:nvSpPr>
        <p:spPr>
          <a:xfrm>
            <a:off x="365760" y="2761488"/>
            <a:ext cx="365760" cy="640080"/>
          </a:xfrm>
          <a:prstGeom prst="rect">
            <a:avLst/>
          </a:prstGeom>
          <a:solidFill>
            <a:srgbClr val="00D4FF"/>
          </a:solidFill>
          <a:ln w="12700">
            <a:solidFill>
              <a:srgbClr val="00D4FF"/>
            </a:solidFill>
            <a:prstDash val="solid"/>
          </a:ln>
        </p:spPr>
        <p:txBody>
          <a:bodyPr/>
          <a:lstStyle/>
          <a:p>
            <a:endParaRPr lang="en-US"/>
          </a:p>
        </p:txBody>
      </p:sp>
      <p:sp>
        <p:nvSpPr>
          <p:cNvPr id="18" name="Text 16"/>
          <p:cNvSpPr/>
          <p:nvPr/>
        </p:nvSpPr>
        <p:spPr>
          <a:xfrm>
            <a:off x="365760" y="2926080"/>
            <a:ext cx="365760" cy="292608"/>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22960" y="2807208"/>
            <a:ext cx="3520440" cy="27432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syllables_per_word is the #1 most transferable feature</a:t>
            </a:r>
            <a:endParaRPr lang="en-US" sz="1100" dirty="0"/>
          </a:p>
        </p:txBody>
      </p:sp>
      <p:sp>
        <p:nvSpPr>
          <p:cNvPr id="20" name="Text 18"/>
          <p:cNvSpPr/>
          <p:nvPr/>
        </p:nvSpPr>
        <p:spPr>
          <a:xfrm>
            <a:off x="822960" y="3099816"/>
            <a:ext cx="3520440" cy="24688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50.6% combined RF+XGBoost importance, CV=0.017</a:t>
            </a:r>
            <a:endParaRPr lang="en-US" sz="1000" dirty="0"/>
          </a:p>
        </p:txBody>
      </p:sp>
      <p:sp>
        <p:nvSpPr>
          <p:cNvPr id="21" name="Shape 19"/>
          <p:cNvSpPr/>
          <p:nvPr/>
        </p:nvSpPr>
        <p:spPr>
          <a:xfrm>
            <a:off x="365760" y="3511296"/>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2" name="Shape 20"/>
          <p:cNvSpPr/>
          <p:nvPr/>
        </p:nvSpPr>
        <p:spPr>
          <a:xfrm>
            <a:off x="365760" y="3511296"/>
            <a:ext cx="365760" cy="640080"/>
          </a:xfrm>
          <a:prstGeom prst="rect">
            <a:avLst/>
          </a:prstGeom>
          <a:solidFill>
            <a:srgbClr val="EF4444"/>
          </a:solidFill>
          <a:ln w="12700">
            <a:solidFill>
              <a:srgbClr val="EF4444"/>
            </a:solidFill>
            <a:prstDash val="solid"/>
          </a:ln>
        </p:spPr>
        <p:txBody>
          <a:bodyPr/>
          <a:lstStyle/>
          <a:p>
            <a:endParaRPr lang="en-US"/>
          </a:p>
        </p:txBody>
      </p:sp>
      <p:sp>
        <p:nvSpPr>
          <p:cNvPr id="23" name="Text 21"/>
          <p:cNvSpPr/>
          <p:nvPr/>
        </p:nvSpPr>
        <p:spPr>
          <a:xfrm>
            <a:off x="365760" y="3675888"/>
            <a:ext cx="365760" cy="292608"/>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822960" y="3557016"/>
            <a:ext cx="3520440" cy="27432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Vocabulary complexity challenges Xia et al.'s hypothesis</a:t>
            </a:r>
            <a:endParaRPr lang="en-US" sz="1100" dirty="0"/>
          </a:p>
        </p:txBody>
      </p:sp>
      <p:sp>
        <p:nvSpPr>
          <p:cNvPr id="25" name="Text 23"/>
          <p:cNvSpPr/>
          <p:nvPr/>
        </p:nvSpPr>
        <p:spPr>
          <a:xfrm>
            <a:off x="822960" y="3849624"/>
            <a:ext cx="3520440" cy="24688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Voice/tense/pronoun features rank #14–#40 — low importance as direct inputs</a:t>
            </a:r>
            <a:endParaRPr lang="en-US" sz="1000" dirty="0"/>
          </a:p>
        </p:txBody>
      </p:sp>
      <p:sp>
        <p:nvSpPr>
          <p:cNvPr id="26" name="Shape 24"/>
          <p:cNvSpPr/>
          <p:nvPr/>
        </p:nvSpPr>
        <p:spPr>
          <a:xfrm>
            <a:off x="365760" y="4261104"/>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7" name="Shape 25"/>
          <p:cNvSpPr/>
          <p:nvPr/>
        </p:nvSpPr>
        <p:spPr>
          <a:xfrm>
            <a:off x="365760" y="4261104"/>
            <a:ext cx="365760" cy="640080"/>
          </a:xfrm>
          <a:prstGeom prst="rect">
            <a:avLst/>
          </a:prstGeom>
          <a:solidFill>
            <a:srgbClr val="10B981"/>
          </a:solidFill>
          <a:ln w="12700">
            <a:solidFill>
              <a:srgbClr val="10B981"/>
            </a:solidFill>
            <a:prstDash val="solid"/>
          </a:ln>
        </p:spPr>
        <p:txBody>
          <a:bodyPr/>
          <a:lstStyle/>
          <a:p>
            <a:endParaRPr lang="en-US"/>
          </a:p>
        </p:txBody>
      </p:sp>
      <p:sp>
        <p:nvSpPr>
          <p:cNvPr id="28" name="Text 26"/>
          <p:cNvSpPr/>
          <p:nvPr/>
        </p:nvSpPr>
        <p:spPr>
          <a:xfrm>
            <a:off x="365760" y="4425696"/>
            <a:ext cx="365760" cy="292608"/>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822960" y="4306824"/>
            <a:ext cx="3520440" cy="27432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Classical ML has near-zero generalization gap</a:t>
            </a:r>
            <a:endParaRPr lang="en-US" sz="1100" dirty="0"/>
          </a:p>
        </p:txBody>
      </p:sp>
      <p:sp>
        <p:nvSpPr>
          <p:cNvPr id="30" name="Text 28"/>
          <p:cNvSpPr/>
          <p:nvPr/>
        </p:nvSpPr>
        <p:spPr>
          <a:xfrm>
            <a:off x="822960" y="4599432"/>
            <a:ext cx="3520440" cy="24688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Features transfer perfectly — even negative gap (better on unseen models)</a:t>
            </a:r>
            <a:endParaRPr lang="en-US" sz="1000" dirty="0"/>
          </a:p>
        </p:txBody>
      </p:sp>
      <p:sp>
        <p:nvSpPr>
          <p:cNvPr id="31" name="Shape 29"/>
          <p:cNvSpPr/>
          <p:nvPr/>
        </p:nvSpPr>
        <p:spPr>
          <a:xfrm>
            <a:off x="4663440" y="1261872"/>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2" name="Shape 30"/>
          <p:cNvSpPr/>
          <p:nvPr/>
        </p:nvSpPr>
        <p:spPr>
          <a:xfrm>
            <a:off x="4663440" y="1261872"/>
            <a:ext cx="365760" cy="640080"/>
          </a:xfrm>
          <a:prstGeom prst="rect">
            <a:avLst/>
          </a:prstGeom>
          <a:solidFill>
            <a:srgbClr val="EF4444"/>
          </a:solidFill>
          <a:ln w="12700">
            <a:solidFill>
              <a:srgbClr val="EF4444"/>
            </a:solidFill>
            <a:prstDash val="solid"/>
          </a:ln>
        </p:spPr>
        <p:txBody>
          <a:bodyPr/>
          <a:lstStyle/>
          <a:p>
            <a:endParaRPr lang="en-US"/>
          </a:p>
        </p:txBody>
      </p:sp>
      <p:sp>
        <p:nvSpPr>
          <p:cNvPr id="33" name="Text 31"/>
          <p:cNvSpPr/>
          <p:nvPr/>
        </p:nvSpPr>
        <p:spPr>
          <a:xfrm>
            <a:off x="4663440" y="1426464"/>
            <a:ext cx="365760" cy="292608"/>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5120640" y="1307592"/>
            <a:ext cx="3520440" cy="274320"/>
          </a:xfrm>
          <a:prstGeom prst="rect">
            <a:avLst/>
          </a:prstGeom>
          <a:noFill/>
          <a:ln/>
        </p:spPr>
        <p:txBody>
          <a:bodyPr wrap="square"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Neural detectors collapse on unseen models</a:t>
            </a:r>
            <a:endParaRPr lang="en-US" sz="1100" dirty="0"/>
          </a:p>
        </p:txBody>
      </p:sp>
      <p:sp>
        <p:nvSpPr>
          <p:cNvPr id="35" name="Text 33"/>
          <p:cNvSpPr/>
          <p:nvPr/>
        </p:nvSpPr>
        <p:spPr>
          <a:xfrm>
            <a:off x="5120640" y="1600200"/>
            <a:ext cx="3520440" cy="24688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AUC &lt; 0.5 on Claude, Gemini, Qwen — worse than random guessing</a:t>
            </a:r>
            <a:endParaRPr lang="en-US" sz="1000" dirty="0"/>
          </a:p>
        </p:txBody>
      </p:sp>
      <p:sp>
        <p:nvSpPr>
          <p:cNvPr id="36" name="Shape 34"/>
          <p:cNvSpPr/>
          <p:nvPr/>
        </p:nvSpPr>
        <p:spPr>
          <a:xfrm>
            <a:off x="4663440" y="2011680"/>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37" name="Shape 35"/>
          <p:cNvSpPr/>
          <p:nvPr/>
        </p:nvSpPr>
        <p:spPr>
          <a:xfrm>
            <a:off x="4663440" y="2011680"/>
            <a:ext cx="365760" cy="640080"/>
          </a:xfrm>
          <a:prstGeom prst="rect">
            <a:avLst/>
          </a:prstGeom>
          <a:solidFill>
            <a:srgbClr val="00D4FF"/>
          </a:solidFill>
          <a:ln w="12700">
            <a:solidFill>
              <a:srgbClr val="00D4FF"/>
            </a:solidFill>
            <a:prstDash val="solid"/>
          </a:ln>
        </p:spPr>
        <p:txBody>
          <a:bodyPr/>
          <a:lstStyle/>
          <a:p>
            <a:endParaRPr lang="en-US"/>
          </a:p>
        </p:txBody>
      </p:sp>
      <p:sp>
        <p:nvSpPr>
          <p:cNvPr id="38" name="Text 36"/>
          <p:cNvSpPr/>
          <p:nvPr/>
        </p:nvSpPr>
        <p:spPr>
          <a:xfrm>
            <a:off x="4663440" y="2176272"/>
            <a:ext cx="365760" cy="292608"/>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7</a:t>
            </a:r>
            <a:endParaRPr lang="en-US" sz="1300" dirty="0"/>
          </a:p>
        </p:txBody>
      </p:sp>
      <p:sp>
        <p:nvSpPr>
          <p:cNvPr id="39" name="Text 37"/>
          <p:cNvSpPr/>
          <p:nvPr/>
        </p:nvSpPr>
        <p:spPr>
          <a:xfrm>
            <a:off x="5120640" y="2057400"/>
            <a:ext cx="3520440" cy="27432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Only 4 samples fooled all classical models (0.07%)</a:t>
            </a:r>
            <a:endParaRPr lang="en-US" sz="1100" dirty="0"/>
          </a:p>
        </p:txBody>
      </p:sp>
      <p:sp>
        <p:nvSpPr>
          <p:cNvPr id="40" name="Text 38"/>
          <p:cNvSpPr/>
          <p:nvPr/>
        </p:nvSpPr>
        <p:spPr>
          <a:xfrm>
            <a:off x="5120640" y="2350008"/>
            <a:ext cx="3520440" cy="24688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All were LLaMA AI text — the one genuinely hard case</a:t>
            </a:r>
            <a:endParaRPr lang="en-US" sz="1000" dirty="0"/>
          </a:p>
        </p:txBody>
      </p:sp>
      <p:sp>
        <p:nvSpPr>
          <p:cNvPr id="41" name="Shape 39"/>
          <p:cNvSpPr/>
          <p:nvPr/>
        </p:nvSpPr>
        <p:spPr>
          <a:xfrm>
            <a:off x="4663440" y="2761488"/>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42" name="Shape 40"/>
          <p:cNvSpPr/>
          <p:nvPr/>
        </p:nvSpPr>
        <p:spPr>
          <a:xfrm>
            <a:off x="4663440" y="2761488"/>
            <a:ext cx="365760" cy="640080"/>
          </a:xfrm>
          <a:prstGeom prst="rect">
            <a:avLst/>
          </a:prstGeom>
          <a:solidFill>
            <a:srgbClr val="10B981"/>
          </a:solidFill>
          <a:ln w="12700">
            <a:solidFill>
              <a:srgbClr val="10B981"/>
            </a:solidFill>
            <a:prstDash val="solid"/>
          </a:ln>
        </p:spPr>
        <p:txBody>
          <a:bodyPr/>
          <a:lstStyle/>
          <a:p>
            <a:endParaRPr lang="en-US"/>
          </a:p>
        </p:txBody>
      </p:sp>
      <p:sp>
        <p:nvSpPr>
          <p:cNvPr id="43" name="Text 41"/>
          <p:cNvSpPr/>
          <p:nvPr/>
        </p:nvSpPr>
        <p:spPr>
          <a:xfrm>
            <a:off x="4663440" y="2926080"/>
            <a:ext cx="365760" cy="292608"/>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8</a:t>
            </a:r>
            <a:endParaRPr lang="en-US" sz="1300" dirty="0"/>
          </a:p>
        </p:txBody>
      </p:sp>
      <p:sp>
        <p:nvSpPr>
          <p:cNvPr id="44" name="Text 42"/>
          <p:cNvSpPr/>
          <p:nvPr/>
        </p:nvSpPr>
        <p:spPr>
          <a:xfrm>
            <a:off x="5120640" y="2807208"/>
            <a:ext cx="3520440" cy="274320"/>
          </a:xfrm>
          <a:prstGeom prst="rect">
            <a:avLst/>
          </a:prstGeom>
          <a:noFill/>
          <a:ln/>
        </p:spPr>
        <p:txBody>
          <a:bodyPr wrap="square"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FPR = 0% for LR and RF — never falsely accuses humans</a:t>
            </a:r>
            <a:endParaRPr lang="en-US" sz="1100" dirty="0"/>
          </a:p>
        </p:txBody>
      </p:sp>
      <p:sp>
        <p:nvSpPr>
          <p:cNvPr id="45" name="Text 43"/>
          <p:cNvSpPr/>
          <p:nvPr/>
        </p:nvSpPr>
        <p:spPr>
          <a:xfrm>
            <a:off x="5120640" y="3099816"/>
            <a:ext cx="3520440" cy="24688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ChatGPT detector FPR = 11.9% — dangerous for academic use</a:t>
            </a:r>
            <a:endParaRPr lang="en-US" sz="1000" dirty="0"/>
          </a:p>
        </p:txBody>
      </p:sp>
      <p:sp>
        <p:nvSpPr>
          <p:cNvPr id="46" name="Shape 44"/>
          <p:cNvSpPr/>
          <p:nvPr/>
        </p:nvSpPr>
        <p:spPr>
          <a:xfrm>
            <a:off x="4663440" y="3511296"/>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47" name="Shape 45"/>
          <p:cNvSpPr/>
          <p:nvPr/>
        </p:nvSpPr>
        <p:spPr>
          <a:xfrm>
            <a:off x="4663440" y="3511296"/>
            <a:ext cx="365760" cy="640080"/>
          </a:xfrm>
          <a:prstGeom prst="rect">
            <a:avLst/>
          </a:prstGeom>
          <a:solidFill>
            <a:srgbClr val="F59E0B"/>
          </a:solidFill>
          <a:ln w="12700">
            <a:solidFill>
              <a:srgbClr val="F59E0B"/>
            </a:solidFill>
            <a:prstDash val="solid"/>
          </a:ln>
        </p:spPr>
        <p:txBody>
          <a:bodyPr/>
          <a:lstStyle/>
          <a:p>
            <a:endParaRPr lang="en-US"/>
          </a:p>
        </p:txBody>
      </p:sp>
      <p:sp>
        <p:nvSpPr>
          <p:cNvPr id="48" name="Text 46"/>
          <p:cNvSpPr/>
          <p:nvPr/>
        </p:nvSpPr>
        <p:spPr>
          <a:xfrm>
            <a:off x="4663440" y="3675888"/>
            <a:ext cx="365760" cy="292608"/>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9</a:t>
            </a:r>
            <a:endParaRPr lang="en-US" sz="1300" dirty="0"/>
          </a:p>
        </p:txBody>
      </p:sp>
      <p:sp>
        <p:nvSpPr>
          <p:cNvPr id="49" name="Text 47"/>
          <p:cNvSpPr/>
          <p:nvPr/>
        </p:nvSpPr>
        <p:spPr>
          <a:xfrm>
            <a:off x="5120640" y="3557016"/>
            <a:ext cx="3520440"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ChatGPT detector worse than GPT-2 detector overall</a:t>
            </a:r>
            <a:endParaRPr lang="en-US" sz="1100" dirty="0"/>
          </a:p>
        </p:txBody>
      </p:sp>
      <p:sp>
        <p:nvSpPr>
          <p:cNvPr id="50" name="Text 48"/>
          <p:cNvSpPr/>
          <p:nvPr/>
        </p:nvSpPr>
        <p:spPr>
          <a:xfrm>
            <a:off x="5120640" y="3849624"/>
            <a:ext cx="3520440" cy="24688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Newer training does not guarantee better generalization</a:t>
            </a:r>
            <a:endParaRPr lang="en-US" sz="1000" dirty="0"/>
          </a:p>
        </p:txBody>
      </p:sp>
      <p:sp>
        <p:nvSpPr>
          <p:cNvPr id="51" name="Shape 49"/>
          <p:cNvSpPr/>
          <p:nvPr/>
        </p:nvSpPr>
        <p:spPr>
          <a:xfrm>
            <a:off x="4663440" y="4261104"/>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52" name="Shape 50"/>
          <p:cNvSpPr/>
          <p:nvPr/>
        </p:nvSpPr>
        <p:spPr>
          <a:xfrm>
            <a:off x="4663440" y="4261104"/>
            <a:ext cx="365760" cy="640080"/>
          </a:xfrm>
          <a:prstGeom prst="rect">
            <a:avLst/>
          </a:prstGeom>
          <a:solidFill>
            <a:srgbClr val="00D4FF"/>
          </a:solidFill>
          <a:ln w="12700">
            <a:solidFill>
              <a:srgbClr val="00D4FF"/>
            </a:solidFill>
            <a:prstDash val="solid"/>
          </a:ln>
        </p:spPr>
        <p:txBody>
          <a:bodyPr/>
          <a:lstStyle/>
          <a:p>
            <a:endParaRPr lang="en-US"/>
          </a:p>
        </p:txBody>
      </p:sp>
      <p:sp>
        <p:nvSpPr>
          <p:cNvPr id="53" name="Text 51"/>
          <p:cNvSpPr/>
          <p:nvPr/>
        </p:nvSpPr>
        <p:spPr>
          <a:xfrm>
            <a:off x="4663440" y="4425696"/>
            <a:ext cx="365760" cy="292608"/>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10</a:t>
            </a:r>
            <a:endParaRPr lang="en-US" sz="1300" dirty="0"/>
          </a:p>
        </p:txBody>
      </p:sp>
      <p:sp>
        <p:nvSpPr>
          <p:cNvPr id="54" name="Text 52"/>
          <p:cNvSpPr/>
          <p:nvPr/>
        </p:nvSpPr>
        <p:spPr>
          <a:xfrm>
            <a:off x="5120640" y="4306824"/>
            <a:ext cx="3520440" cy="27432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98.7% confidence on Mistral (never seen in training)</a:t>
            </a:r>
            <a:endParaRPr lang="en-US" sz="1100" dirty="0"/>
          </a:p>
        </p:txBody>
      </p:sp>
      <p:sp>
        <p:nvSpPr>
          <p:cNvPr id="55" name="Text 53"/>
          <p:cNvSpPr/>
          <p:nvPr/>
        </p:nvSpPr>
        <p:spPr>
          <a:xfrm>
            <a:off x="5120640" y="4599432"/>
            <a:ext cx="3520440" cy="24688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True cross-model generalization confirmed on a 6th model</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Conclusions</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Answering the research questions</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21 / 24</a:t>
            </a:r>
            <a:endParaRPr lang="en-US" sz="900" dirty="0"/>
          </a:p>
        </p:txBody>
      </p:sp>
      <p:sp>
        <p:nvSpPr>
          <p:cNvPr id="6" name="Shape 4"/>
          <p:cNvSpPr/>
          <p:nvPr/>
        </p:nvSpPr>
        <p:spPr>
          <a:xfrm>
            <a:off x="365760" y="1261872"/>
            <a:ext cx="8412480" cy="10789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65760" y="1261872"/>
            <a:ext cx="685800" cy="1078992"/>
          </a:xfrm>
          <a:prstGeom prst="rect">
            <a:avLst/>
          </a:prstGeom>
          <a:solidFill>
            <a:srgbClr val="10B981">
              <a:alpha val="80000"/>
            </a:srgbClr>
          </a:solidFill>
          <a:ln w="12700">
            <a:solidFill>
              <a:srgbClr val="10B981"/>
            </a:solidFill>
            <a:prstDash val="solid"/>
          </a:ln>
        </p:spPr>
        <p:txBody>
          <a:bodyPr/>
          <a:lstStyle/>
          <a:p>
            <a:endParaRPr lang="en-US"/>
          </a:p>
        </p:txBody>
      </p:sp>
      <p:sp>
        <p:nvSpPr>
          <p:cNvPr id="8" name="Text 6"/>
          <p:cNvSpPr/>
          <p:nvPr/>
        </p:nvSpPr>
        <p:spPr>
          <a:xfrm>
            <a:off x="365760" y="1581912"/>
            <a:ext cx="685800" cy="411480"/>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RQ1</a:t>
            </a:r>
            <a:endParaRPr lang="en-US" sz="1300" dirty="0"/>
          </a:p>
        </p:txBody>
      </p:sp>
      <p:sp>
        <p:nvSpPr>
          <p:cNvPr id="9" name="Text 7"/>
          <p:cNvSpPr/>
          <p:nvPr/>
        </p:nvSpPr>
        <p:spPr>
          <a:xfrm>
            <a:off x="1143000" y="1307592"/>
            <a:ext cx="7498080" cy="320040"/>
          </a:xfrm>
          <a:prstGeom prst="rect">
            <a:avLst/>
          </a:prstGeom>
          <a:noFill/>
          <a:ln/>
        </p:spPr>
        <p:txBody>
          <a:bodyPr wrap="square"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How do feature-based models compare to neural models for cross-LLM generalization?</a:t>
            </a:r>
            <a:endParaRPr lang="en-US" sz="1150" dirty="0"/>
          </a:p>
        </p:txBody>
      </p:sp>
      <p:sp>
        <p:nvSpPr>
          <p:cNvPr id="10" name="Text 8"/>
          <p:cNvSpPr/>
          <p:nvPr/>
        </p:nvSpPr>
        <p:spPr>
          <a:xfrm>
            <a:off x="1143000" y="1664208"/>
            <a:ext cx="7498080" cy="59436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Feature-based classical ML (99.94% F1) completely outperforms neural baselines (18.37% F1). Hand-crafted linguistic features generalize significantly better than neural detectors trained on specific model outputs.</a:t>
            </a:r>
            <a:endParaRPr lang="en-US" sz="1150" dirty="0"/>
          </a:p>
        </p:txBody>
      </p:sp>
      <p:sp>
        <p:nvSpPr>
          <p:cNvPr id="11" name="Shape 9"/>
          <p:cNvSpPr/>
          <p:nvPr/>
        </p:nvSpPr>
        <p:spPr>
          <a:xfrm>
            <a:off x="365760" y="2468880"/>
            <a:ext cx="8412480" cy="10789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2" name="Shape 10"/>
          <p:cNvSpPr/>
          <p:nvPr/>
        </p:nvSpPr>
        <p:spPr>
          <a:xfrm>
            <a:off x="365760" y="2468880"/>
            <a:ext cx="685800" cy="1078992"/>
          </a:xfrm>
          <a:prstGeom prst="rect">
            <a:avLst/>
          </a:prstGeom>
          <a:solidFill>
            <a:srgbClr val="00D4FF">
              <a:alpha val="80000"/>
            </a:srgbClr>
          </a:solidFill>
          <a:ln w="12700">
            <a:solidFill>
              <a:srgbClr val="00D4FF"/>
            </a:solidFill>
            <a:prstDash val="solid"/>
          </a:ln>
        </p:spPr>
        <p:txBody>
          <a:bodyPr/>
          <a:lstStyle/>
          <a:p>
            <a:endParaRPr lang="en-US"/>
          </a:p>
        </p:txBody>
      </p:sp>
      <p:sp>
        <p:nvSpPr>
          <p:cNvPr id="13" name="Text 11"/>
          <p:cNvSpPr/>
          <p:nvPr/>
        </p:nvSpPr>
        <p:spPr>
          <a:xfrm>
            <a:off x="365760" y="2788920"/>
            <a:ext cx="685800" cy="411480"/>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RQ2</a:t>
            </a:r>
            <a:endParaRPr lang="en-US" sz="1300" dirty="0"/>
          </a:p>
        </p:txBody>
      </p:sp>
      <p:sp>
        <p:nvSpPr>
          <p:cNvPr id="14" name="Text 12"/>
          <p:cNvSpPr/>
          <p:nvPr/>
        </p:nvSpPr>
        <p:spPr>
          <a:xfrm>
            <a:off x="1143000" y="2514600"/>
            <a:ext cx="7498080" cy="320040"/>
          </a:xfrm>
          <a:prstGeom prst="rect">
            <a:avLst/>
          </a:prstGeom>
          <a:noFill/>
          <a:ln/>
        </p:spPr>
        <p:txBody>
          <a:bodyPr wrap="square" rtlCol="0" anchor="ctr"/>
          <a:lstStyle/>
          <a:p>
            <a:pPr marL="0" indent="0">
              <a:buNone/>
            </a:pPr>
            <a:r>
              <a:rPr lang="en-US" sz="1150" b="1" dirty="0">
                <a:solidFill>
                  <a:srgbClr val="00D4FF"/>
                </a:solidFill>
                <a:latin typeface="Calibri" pitchFamily="34" charset="0"/>
                <a:ea typeface="Calibri" pitchFamily="34" charset="-122"/>
                <a:cs typeface="Calibri" pitchFamily="34" charset="-120"/>
              </a:rPr>
              <a:t>Which specific linguistic features enable robust cross-model detection?</a:t>
            </a:r>
            <a:endParaRPr lang="en-US" sz="1150" dirty="0"/>
          </a:p>
        </p:txBody>
      </p:sp>
      <p:sp>
        <p:nvSpPr>
          <p:cNvPr id="15" name="Text 13"/>
          <p:cNvSpPr/>
          <p:nvPr/>
        </p:nvSpPr>
        <p:spPr>
          <a:xfrm>
            <a:off x="1143000" y="2871216"/>
            <a:ext cx="7498080" cy="59436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Vocabulary complexity features dominate: syllables_per_word (#1, 50.6%), avg_word_len, long_word_ratio, hapax_ratio, lexical_density. These are universal AI writing patterns across all 5 models.</a:t>
            </a:r>
            <a:endParaRPr lang="en-US" sz="1150" dirty="0"/>
          </a:p>
        </p:txBody>
      </p:sp>
      <p:sp>
        <p:nvSpPr>
          <p:cNvPr id="16" name="Shape 14"/>
          <p:cNvSpPr/>
          <p:nvPr/>
        </p:nvSpPr>
        <p:spPr>
          <a:xfrm>
            <a:off x="365760" y="3675888"/>
            <a:ext cx="8412480" cy="1078992"/>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7" name="Shape 15"/>
          <p:cNvSpPr/>
          <p:nvPr/>
        </p:nvSpPr>
        <p:spPr>
          <a:xfrm>
            <a:off x="365760" y="3675888"/>
            <a:ext cx="685800" cy="1078992"/>
          </a:xfrm>
          <a:prstGeom prst="rect">
            <a:avLst/>
          </a:prstGeom>
          <a:solidFill>
            <a:srgbClr val="94A3B8">
              <a:alpha val="80000"/>
            </a:srgbClr>
          </a:solidFill>
          <a:ln w="12700">
            <a:solidFill>
              <a:srgbClr val="94A3B8"/>
            </a:solidFill>
            <a:prstDash val="solid"/>
          </a:ln>
        </p:spPr>
        <p:txBody>
          <a:bodyPr/>
          <a:lstStyle/>
          <a:p>
            <a:endParaRPr lang="en-US"/>
          </a:p>
        </p:txBody>
      </p:sp>
      <p:sp>
        <p:nvSpPr>
          <p:cNvPr id="18" name="Text 16"/>
          <p:cNvSpPr/>
          <p:nvPr/>
        </p:nvSpPr>
        <p:spPr>
          <a:xfrm>
            <a:off x="365760" y="3995928"/>
            <a:ext cx="685800" cy="411480"/>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RQ3</a:t>
            </a:r>
            <a:endParaRPr lang="en-US" sz="1300" dirty="0"/>
          </a:p>
        </p:txBody>
      </p:sp>
      <p:sp>
        <p:nvSpPr>
          <p:cNvPr id="19" name="Text 17"/>
          <p:cNvSpPr/>
          <p:nvPr/>
        </p:nvSpPr>
        <p:spPr>
          <a:xfrm>
            <a:off x="1143000" y="3721608"/>
            <a:ext cx="7498080" cy="320040"/>
          </a:xfrm>
          <a:prstGeom prst="rect">
            <a:avLst/>
          </a:prstGeom>
          <a:noFill/>
          <a:ln/>
        </p:spPr>
        <p:txBody>
          <a:bodyPr wrap="square" rtlCol="0" anchor="ctr"/>
          <a:lstStyle/>
          <a:p>
            <a:pPr marL="0" indent="0">
              <a:buNone/>
            </a:pPr>
            <a:r>
              <a:rPr lang="en-US" sz="1150" b="1" dirty="0">
                <a:solidFill>
                  <a:srgbClr val="94A3B8"/>
                </a:solidFill>
                <a:latin typeface="Calibri" pitchFamily="34" charset="0"/>
                <a:ea typeface="Calibri" pitchFamily="34" charset="-122"/>
                <a:cs typeface="Calibri" pitchFamily="34" charset="-120"/>
              </a:rPr>
              <a:t>Can hybrid approaches outperform either alone?</a:t>
            </a:r>
            <a:endParaRPr lang="en-US" sz="1150" dirty="0"/>
          </a:p>
        </p:txBody>
      </p:sp>
      <p:sp>
        <p:nvSpPr>
          <p:cNvPr id="20" name="Text 18"/>
          <p:cNvSpPr/>
          <p:nvPr/>
        </p:nvSpPr>
        <p:spPr>
          <a:xfrm>
            <a:off x="1143000" y="4078224"/>
            <a:ext cx="7498080" cy="59436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Not implemented — classical models achieved near-perfect performance alone, making a hybrid ensemble scientifically redundant. Left as future work.</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Future Work</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457200" y="932688"/>
            <a:ext cx="8229600" cy="292608"/>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What comes next</a:t>
            </a:r>
            <a:endParaRPr lang="en-US" sz="1300" dirty="0"/>
          </a:p>
        </p:txBody>
      </p:sp>
      <p:sp>
        <p:nvSpPr>
          <p:cNvPr id="5" name="Text 3"/>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22 / 24</a:t>
            </a:r>
            <a:endParaRPr lang="en-US" sz="900" dirty="0"/>
          </a:p>
        </p:txBody>
      </p:sp>
      <p:sp>
        <p:nvSpPr>
          <p:cNvPr id="6" name="Shape 4"/>
          <p:cNvSpPr/>
          <p:nvPr/>
        </p:nvSpPr>
        <p:spPr>
          <a:xfrm>
            <a:off x="365760" y="1261872"/>
            <a:ext cx="4114800" cy="10972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65760" y="1261872"/>
            <a:ext cx="4114800" cy="54864"/>
          </a:xfrm>
          <a:prstGeom prst="rect">
            <a:avLst/>
          </a:prstGeom>
          <a:solidFill>
            <a:srgbClr val="00D4FF"/>
          </a:solidFill>
          <a:ln w="12700">
            <a:solidFill>
              <a:srgbClr val="00D4FF"/>
            </a:solidFill>
            <a:prstDash val="solid"/>
          </a:ln>
        </p:spPr>
        <p:txBody>
          <a:bodyPr/>
          <a:lstStyle/>
          <a:p>
            <a:endParaRPr lang="en-US"/>
          </a:p>
        </p:txBody>
      </p:sp>
      <p:sp>
        <p:nvSpPr>
          <p:cNvPr id="8" name="Text 6"/>
          <p:cNvSpPr/>
          <p:nvPr/>
        </p:nvSpPr>
        <p:spPr>
          <a:xfrm>
            <a:off x="502920" y="1371600"/>
            <a:ext cx="3840480" cy="32004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Hybrid Ensemble</a:t>
            </a:r>
            <a:endParaRPr lang="en-US" sz="1300" dirty="0"/>
          </a:p>
        </p:txBody>
      </p:sp>
      <p:sp>
        <p:nvSpPr>
          <p:cNvPr id="9" name="Text 7"/>
          <p:cNvSpPr/>
          <p:nvPr/>
        </p:nvSpPr>
        <p:spPr>
          <a:xfrm>
            <a:off x="502920" y="1737360"/>
            <a:ext cx="384048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Combine feature-based and neural predictions — more meaningful once neural baselines improve with multi-model fine-tuning</a:t>
            </a:r>
            <a:endParaRPr lang="en-US" sz="1100" dirty="0"/>
          </a:p>
        </p:txBody>
      </p:sp>
      <p:sp>
        <p:nvSpPr>
          <p:cNvPr id="10" name="Shape 8"/>
          <p:cNvSpPr/>
          <p:nvPr/>
        </p:nvSpPr>
        <p:spPr>
          <a:xfrm>
            <a:off x="365760" y="2523744"/>
            <a:ext cx="4114800" cy="10972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1" name="Shape 9"/>
          <p:cNvSpPr/>
          <p:nvPr/>
        </p:nvSpPr>
        <p:spPr>
          <a:xfrm>
            <a:off x="365760" y="2523744"/>
            <a:ext cx="4114800" cy="54864"/>
          </a:xfrm>
          <a:prstGeom prst="rect">
            <a:avLst/>
          </a:prstGeom>
          <a:solidFill>
            <a:srgbClr val="10B981"/>
          </a:solidFill>
          <a:ln w="12700">
            <a:solidFill>
              <a:srgbClr val="10B981"/>
            </a:solidFill>
            <a:prstDash val="solid"/>
          </a:ln>
        </p:spPr>
        <p:txBody>
          <a:bodyPr/>
          <a:lstStyle/>
          <a:p>
            <a:endParaRPr lang="en-US"/>
          </a:p>
        </p:txBody>
      </p:sp>
      <p:sp>
        <p:nvSpPr>
          <p:cNvPr id="12" name="Text 10"/>
          <p:cNvSpPr/>
          <p:nvPr/>
        </p:nvSpPr>
        <p:spPr>
          <a:xfrm>
            <a:off x="502920" y="2633472"/>
            <a:ext cx="3840480" cy="320040"/>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More Unseen Models</a:t>
            </a:r>
            <a:endParaRPr lang="en-US" sz="1300" dirty="0"/>
          </a:p>
        </p:txBody>
      </p:sp>
      <p:sp>
        <p:nvSpPr>
          <p:cNvPr id="13" name="Text 11"/>
          <p:cNvSpPr/>
          <p:nvPr/>
        </p:nvSpPr>
        <p:spPr>
          <a:xfrm>
            <a:off x="502920" y="2999232"/>
            <a:ext cx="384048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Test on DeepSeek, GPT-5, Llama 4 as they release — continue validating generalization beyond training set</a:t>
            </a:r>
            <a:endParaRPr lang="en-US" sz="1100" dirty="0"/>
          </a:p>
        </p:txBody>
      </p:sp>
      <p:sp>
        <p:nvSpPr>
          <p:cNvPr id="14" name="Shape 12"/>
          <p:cNvSpPr/>
          <p:nvPr/>
        </p:nvSpPr>
        <p:spPr>
          <a:xfrm>
            <a:off x="365760" y="3785616"/>
            <a:ext cx="4114800" cy="10972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5" name="Shape 13"/>
          <p:cNvSpPr/>
          <p:nvPr/>
        </p:nvSpPr>
        <p:spPr>
          <a:xfrm>
            <a:off x="365760" y="3785616"/>
            <a:ext cx="4114800" cy="54864"/>
          </a:xfrm>
          <a:prstGeom prst="rect">
            <a:avLst/>
          </a:prstGeom>
          <a:solidFill>
            <a:srgbClr val="F59E0B"/>
          </a:solidFill>
          <a:ln w="12700">
            <a:solidFill>
              <a:srgbClr val="F59E0B"/>
            </a:solidFill>
            <a:prstDash val="solid"/>
          </a:ln>
        </p:spPr>
        <p:txBody>
          <a:bodyPr/>
          <a:lstStyle/>
          <a:p>
            <a:endParaRPr lang="en-US"/>
          </a:p>
        </p:txBody>
      </p:sp>
      <p:sp>
        <p:nvSpPr>
          <p:cNvPr id="16" name="Text 14"/>
          <p:cNvSpPr/>
          <p:nvPr/>
        </p:nvSpPr>
        <p:spPr>
          <a:xfrm>
            <a:off x="502920" y="3895344"/>
            <a:ext cx="3840480" cy="32004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Semantic Features</a:t>
            </a:r>
            <a:endParaRPr lang="en-US" sz="1300" dirty="0"/>
          </a:p>
        </p:txBody>
      </p:sp>
      <p:sp>
        <p:nvSpPr>
          <p:cNvPr id="17" name="Text 15"/>
          <p:cNvSpPr/>
          <p:nvPr/>
        </p:nvSpPr>
        <p:spPr>
          <a:xfrm>
            <a:off x="502920" y="4261104"/>
            <a:ext cx="384048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Add perplexity scores and embedding coherence — requires LM inference but may add discriminating power</a:t>
            </a:r>
            <a:endParaRPr lang="en-US" sz="1100" dirty="0"/>
          </a:p>
        </p:txBody>
      </p:sp>
      <p:sp>
        <p:nvSpPr>
          <p:cNvPr id="18" name="Shape 16"/>
          <p:cNvSpPr/>
          <p:nvPr/>
        </p:nvSpPr>
        <p:spPr>
          <a:xfrm>
            <a:off x="4663440" y="1261872"/>
            <a:ext cx="4114800" cy="10972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9" name="Shape 17"/>
          <p:cNvSpPr/>
          <p:nvPr/>
        </p:nvSpPr>
        <p:spPr>
          <a:xfrm>
            <a:off x="4663440" y="1261872"/>
            <a:ext cx="4114800" cy="54864"/>
          </a:xfrm>
          <a:prstGeom prst="rect">
            <a:avLst/>
          </a:prstGeom>
          <a:solidFill>
            <a:srgbClr val="EF4444"/>
          </a:solidFill>
          <a:ln w="12700">
            <a:solidFill>
              <a:srgbClr val="EF4444"/>
            </a:solidFill>
            <a:prstDash val="solid"/>
          </a:ln>
        </p:spPr>
        <p:txBody>
          <a:bodyPr/>
          <a:lstStyle/>
          <a:p>
            <a:endParaRPr lang="en-US"/>
          </a:p>
        </p:txBody>
      </p:sp>
      <p:sp>
        <p:nvSpPr>
          <p:cNvPr id="20" name="Text 18"/>
          <p:cNvSpPr/>
          <p:nvPr/>
        </p:nvSpPr>
        <p:spPr>
          <a:xfrm>
            <a:off x="4800600" y="1371600"/>
            <a:ext cx="3840480" cy="320040"/>
          </a:xfrm>
          <a:prstGeom prst="rect">
            <a:avLst/>
          </a:prstGeom>
          <a:noFill/>
          <a:ln/>
        </p:spPr>
        <p:txBody>
          <a:bodyPr wrap="square"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Adversarial Robustness</a:t>
            </a:r>
            <a:endParaRPr lang="en-US" sz="1300" dirty="0"/>
          </a:p>
        </p:txBody>
      </p:sp>
      <p:sp>
        <p:nvSpPr>
          <p:cNvPr id="21" name="Text 19"/>
          <p:cNvSpPr/>
          <p:nvPr/>
        </p:nvSpPr>
        <p:spPr>
          <a:xfrm>
            <a:off x="4800600" y="1737360"/>
            <a:ext cx="384048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Test against paraphrase attacks — can an adversary rewrite AI text to fool the detector?</a:t>
            </a:r>
            <a:endParaRPr lang="en-US" sz="1100" dirty="0"/>
          </a:p>
        </p:txBody>
      </p:sp>
      <p:sp>
        <p:nvSpPr>
          <p:cNvPr id="22" name="Shape 20"/>
          <p:cNvSpPr/>
          <p:nvPr/>
        </p:nvSpPr>
        <p:spPr>
          <a:xfrm>
            <a:off x="4663440" y="2523744"/>
            <a:ext cx="4114800" cy="10972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3" name="Shape 21"/>
          <p:cNvSpPr/>
          <p:nvPr/>
        </p:nvSpPr>
        <p:spPr>
          <a:xfrm>
            <a:off x="4663440" y="2523744"/>
            <a:ext cx="4114800" cy="54864"/>
          </a:xfrm>
          <a:prstGeom prst="rect">
            <a:avLst/>
          </a:prstGeom>
          <a:solidFill>
            <a:srgbClr val="7C3AED"/>
          </a:solidFill>
          <a:ln w="12700">
            <a:solidFill>
              <a:srgbClr val="7C3AED"/>
            </a:solidFill>
            <a:prstDash val="solid"/>
          </a:ln>
        </p:spPr>
        <p:txBody>
          <a:bodyPr/>
          <a:lstStyle/>
          <a:p>
            <a:endParaRPr lang="en-US"/>
          </a:p>
        </p:txBody>
      </p:sp>
      <p:sp>
        <p:nvSpPr>
          <p:cNvPr id="24" name="Text 22"/>
          <p:cNvSpPr/>
          <p:nvPr/>
        </p:nvSpPr>
        <p:spPr>
          <a:xfrm>
            <a:off x="4800600" y="2633472"/>
            <a:ext cx="3840480" cy="32004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Multi-language Detection</a:t>
            </a:r>
            <a:endParaRPr lang="en-US" sz="1300" dirty="0"/>
          </a:p>
        </p:txBody>
      </p:sp>
      <p:sp>
        <p:nvSpPr>
          <p:cNvPr id="25" name="Text 23"/>
          <p:cNvSpPr/>
          <p:nvPr/>
        </p:nvSpPr>
        <p:spPr>
          <a:xfrm>
            <a:off x="4800600" y="2999232"/>
            <a:ext cx="384048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Extend to non-English text — do the same vocabulary complexity features transfer across languages?</a:t>
            </a:r>
            <a:endParaRPr lang="en-US" sz="1100" dirty="0"/>
          </a:p>
        </p:txBody>
      </p:sp>
      <p:sp>
        <p:nvSpPr>
          <p:cNvPr id="26" name="Shape 24"/>
          <p:cNvSpPr/>
          <p:nvPr/>
        </p:nvSpPr>
        <p:spPr>
          <a:xfrm>
            <a:off x="4663440" y="3785616"/>
            <a:ext cx="4114800" cy="10972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7" name="Shape 25"/>
          <p:cNvSpPr/>
          <p:nvPr/>
        </p:nvSpPr>
        <p:spPr>
          <a:xfrm>
            <a:off x="4663440" y="3785616"/>
            <a:ext cx="4114800" cy="54864"/>
          </a:xfrm>
          <a:prstGeom prst="rect">
            <a:avLst/>
          </a:prstGeom>
          <a:solidFill>
            <a:srgbClr val="00D4FF"/>
          </a:solidFill>
          <a:ln w="12700">
            <a:solidFill>
              <a:srgbClr val="00D4FF"/>
            </a:solidFill>
            <a:prstDash val="solid"/>
          </a:ln>
        </p:spPr>
        <p:txBody>
          <a:bodyPr/>
          <a:lstStyle/>
          <a:p>
            <a:endParaRPr lang="en-US"/>
          </a:p>
        </p:txBody>
      </p:sp>
      <p:sp>
        <p:nvSpPr>
          <p:cNvPr id="28" name="Text 26"/>
          <p:cNvSpPr/>
          <p:nvPr/>
        </p:nvSpPr>
        <p:spPr>
          <a:xfrm>
            <a:off x="4800600" y="3895344"/>
            <a:ext cx="3840480" cy="32004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Fine-tune RoBERTa on Multi-Model Data</a:t>
            </a:r>
            <a:endParaRPr lang="en-US" sz="1300" dirty="0"/>
          </a:p>
        </p:txBody>
      </p:sp>
      <p:sp>
        <p:nvSpPr>
          <p:cNvPr id="29" name="Text 27"/>
          <p:cNvSpPr/>
          <p:nvPr/>
        </p:nvSpPr>
        <p:spPr>
          <a:xfrm>
            <a:off x="4800600" y="4261104"/>
            <a:ext cx="384048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Train the neural baseline on all 5 models — does it then match classical ML performance?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References</a:t>
            </a:r>
            <a:endParaRPr lang="en-US" sz="2800" dirty="0"/>
          </a:p>
        </p:txBody>
      </p:sp>
      <p:sp>
        <p:nvSpPr>
          <p:cNvPr id="3" name="Shape 1"/>
          <p:cNvSpPr/>
          <p:nvPr/>
        </p:nvSpPr>
        <p:spPr>
          <a:xfrm>
            <a:off x="457200" y="850392"/>
            <a:ext cx="1097280" cy="36576"/>
          </a:xfrm>
          <a:prstGeom prst="rect">
            <a:avLst/>
          </a:prstGeom>
          <a:solidFill>
            <a:srgbClr val="00D4FF"/>
          </a:solidFill>
          <a:ln w="12700">
            <a:solidFill>
              <a:srgbClr val="00D4FF"/>
            </a:solidFill>
            <a:prstDash val="solid"/>
          </a:ln>
        </p:spPr>
        <p:txBody>
          <a:bodyPr/>
          <a:lstStyle/>
          <a:p>
            <a:endParaRPr lang="en-US"/>
          </a:p>
        </p:txBody>
      </p:sp>
      <p:sp>
        <p:nvSpPr>
          <p:cNvPr id="4" name="Text 2"/>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23 / 24</a:t>
            </a:r>
            <a:endParaRPr lang="en-US" sz="900" dirty="0"/>
          </a:p>
        </p:txBody>
      </p:sp>
      <p:sp>
        <p:nvSpPr>
          <p:cNvPr id="5" name="Shape 3"/>
          <p:cNvSpPr/>
          <p:nvPr/>
        </p:nvSpPr>
        <p:spPr>
          <a:xfrm>
            <a:off x="365760" y="1261872"/>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502920" y="1353312"/>
            <a:ext cx="3840480" cy="47548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Crossley et al. (2024). PERSUADE 2.0 corpus. Assessing Writing, 61.</a:t>
            </a:r>
            <a:endParaRPr lang="en-US" sz="1000" dirty="0"/>
          </a:p>
        </p:txBody>
      </p:sp>
      <p:sp>
        <p:nvSpPr>
          <p:cNvPr id="7" name="Shape 5"/>
          <p:cNvSpPr/>
          <p:nvPr/>
        </p:nvSpPr>
        <p:spPr>
          <a:xfrm>
            <a:off x="365760" y="2011680"/>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8" name="Text 6"/>
          <p:cNvSpPr/>
          <p:nvPr/>
        </p:nvSpPr>
        <p:spPr>
          <a:xfrm>
            <a:off x="502920" y="2103120"/>
            <a:ext cx="3840480" cy="47548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Desaire et al. (2023). ChatGPT or academic scientist? ArXiv:2303.16352.</a:t>
            </a:r>
            <a:endParaRPr lang="en-US" sz="1000" dirty="0"/>
          </a:p>
        </p:txBody>
      </p:sp>
      <p:sp>
        <p:nvSpPr>
          <p:cNvPr id="9" name="Shape 7"/>
          <p:cNvSpPr/>
          <p:nvPr/>
        </p:nvSpPr>
        <p:spPr>
          <a:xfrm>
            <a:off x="365760" y="2761488"/>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0" name="Text 8"/>
          <p:cNvSpPr/>
          <p:nvPr/>
        </p:nvSpPr>
        <p:spPr>
          <a:xfrm>
            <a:off x="502920" y="2852928"/>
            <a:ext cx="3840480" cy="47548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Gehrmann, Strobelt &amp; Rush (2019). GLTR: Statistical Detection. ArXiv:1906.04043.</a:t>
            </a:r>
            <a:endParaRPr lang="en-US" sz="1000" dirty="0"/>
          </a:p>
        </p:txBody>
      </p:sp>
      <p:sp>
        <p:nvSpPr>
          <p:cNvPr id="11" name="Shape 9"/>
          <p:cNvSpPr/>
          <p:nvPr/>
        </p:nvSpPr>
        <p:spPr>
          <a:xfrm>
            <a:off x="365760" y="3511296"/>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2" name="Text 10"/>
          <p:cNvSpPr/>
          <p:nvPr/>
        </p:nvSpPr>
        <p:spPr>
          <a:xfrm>
            <a:off x="502920" y="3602736"/>
            <a:ext cx="3840480" cy="47548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He et al. (2021). DeBERTa: Decoding-enhanced BERT. ArXiv:2006.03654.</a:t>
            </a:r>
            <a:endParaRPr lang="en-US" sz="1000" dirty="0"/>
          </a:p>
        </p:txBody>
      </p:sp>
      <p:sp>
        <p:nvSpPr>
          <p:cNvPr id="13" name="Shape 11"/>
          <p:cNvSpPr/>
          <p:nvPr/>
        </p:nvSpPr>
        <p:spPr>
          <a:xfrm>
            <a:off x="365760" y="4261104"/>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4" name="Text 12"/>
          <p:cNvSpPr/>
          <p:nvPr/>
        </p:nvSpPr>
        <p:spPr>
          <a:xfrm>
            <a:off x="502920" y="4352544"/>
            <a:ext cx="3840480" cy="47548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Li et al. (2023). Deepfake Text Detection in the Wild. ArXiv:2305.13242.</a:t>
            </a:r>
            <a:endParaRPr lang="en-US" sz="1000" dirty="0"/>
          </a:p>
        </p:txBody>
      </p:sp>
      <p:sp>
        <p:nvSpPr>
          <p:cNvPr id="15" name="Shape 13"/>
          <p:cNvSpPr/>
          <p:nvPr/>
        </p:nvSpPr>
        <p:spPr>
          <a:xfrm>
            <a:off x="4663440" y="1261872"/>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6" name="Text 14"/>
          <p:cNvSpPr/>
          <p:nvPr/>
        </p:nvSpPr>
        <p:spPr>
          <a:xfrm>
            <a:off x="4800600" y="1353312"/>
            <a:ext cx="3840480" cy="47548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Liu et al. (2019). RoBERTa: Robustly Optimized BERT Pretraining. ArXiv:1907.11692.</a:t>
            </a:r>
            <a:endParaRPr lang="en-US" sz="1000" dirty="0"/>
          </a:p>
        </p:txBody>
      </p:sp>
      <p:sp>
        <p:nvSpPr>
          <p:cNvPr id="17" name="Shape 15"/>
          <p:cNvSpPr/>
          <p:nvPr/>
        </p:nvSpPr>
        <p:spPr>
          <a:xfrm>
            <a:off x="4663440" y="2011680"/>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18" name="Text 16"/>
          <p:cNvSpPr/>
          <p:nvPr/>
        </p:nvSpPr>
        <p:spPr>
          <a:xfrm>
            <a:off x="4800600" y="2103120"/>
            <a:ext cx="3840480" cy="47548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Mitchell et al. (2023). DetectGPT: Zero-Shot Detection. ArXiv:2301.11305.</a:t>
            </a:r>
            <a:endParaRPr lang="en-US" sz="1000" dirty="0"/>
          </a:p>
        </p:txBody>
      </p:sp>
      <p:sp>
        <p:nvSpPr>
          <p:cNvPr id="19" name="Shape 17"/>
          <p:cNvSpPr/>
          <p:nvPr/>
        </p:nvSpPr>
        <p:spPr>
          <a:xfrm>
            <a:off x="4663440" y="2761488"/>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0" name="Text 18"/>
          <p:cNvSpPr/>
          <p:nvPr/>
        </p:nvSpPr>
        <p:spPr>
          <a:xfrm>
            <a:off x="4800600" y="2852928"/>
            <a:ext cx="3840480" cy="47548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Wang et al. (2024). M4GT-Bench: Multi-model Detection Benchmark. ArXiv:2402.11175.</a:t>
            </a:r>
            <a:endParaRPr lang="en-US" sz="1000" dirty="0"/>
          </a:p>
        </p:txBody>
      </p:sp>
      <p:sp>
        <p:nvSpPr>
          <p:cNvPr id="21" name="Shape 19"/>
          <p:cNvSpPr/>
          <p:nvPr/>
        </p:nvSpPr>
        <p:spPr>
          <a:xfrm>
            <a:off x="4663440" y="3511296"/>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2" name="Text 20"/>
          <p:cNvSpPr/>
          <p:nvPr/>
        </p:nvSpPr>
        <p:spPr>
          <a:xfrm>
            <a:off x="4800600" y="3602736"/>
            <a:ext cx="3840480" cy="475488"/>
          </a:xfrm>
          <a:prstGeom prst="rect">
            <a:avLst/>
          </a:prstGeom>
          <a:noFill/>
          <a:ln/>
        </p:spPr>
        <p:txBody>
          <a:bodyPr wrap="square" rtlCol="0" anchor="ctr"/>
          <a:lstStyle/>
          <a:p>
            <a:pPr marL="0" indent="0">
              <a:buNone/>
            </a:pPr>
            <a:r>
              <a:rPr lang="en-US" sz="1000" dirty="0">
                <a:solidFill>
                  <a:srgbClr val="00D4FF"/>
                </a:solidFill>
                <a:latin typeface="Calibri" pitchFamily="34" charset="0"/>
                <a:ea typeface="Calibri" pitchFamily="34" charset="-122"/>
                <a:cs typeface="Calibri" pitchFamily="34" charset="-120"/>
              </a:rPr>
              <a:t>Xia, Stańczak &amp; Roth (2026). Explaining Generalization of AI Detectors. ArXiv:2601.07974. ★ Key paper</a:t>
            </a:r>
            <a:endParaRPr lang="en-US" sz="1000" dirty="0"/>
          </a:p>
        </p:txBody>
      </p:sp>
      <p:sp>
        <p:nvSpPr>
          <p:cNvPr id="23" name="Shape 21"/>
          <p:cNvSpPr/>
          <p:nvPr/>
        </p:nvSpPr>
        <p:spPr>
          <a:xfrm>
            <a:off x="4663440" y="4261104"/>
            <a:ext cx="4114800" cy="640080"/>
          </a:xfrm>
          <a:prstGeom prst="rect">
            <a:avLst/>
          </a:prstGeom>
          <a:solidFill>
            <a:srgbClr val="111827"/>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US"/>
          </a:p>
        </p:txBody>
      </p:sp>
      <p:sp>
        <p:nvSpPr>
          <p:cNvPr id="24" name="Text 22"/>
          <p:cNvSpPr/>
          <p:nvPr/>
        </p:nvSpPr>
        <p:spPr>
          <a:xfrm>
            <a:off x="4800600" y="4352544"/>
            <a:ext cx="3840480" cy="47548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Xu et al. (2023). Generalization of ChatGPT Detection Methods. ArXiv:2310.01307.</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D4FF"/>
          </a:solidFill>
          <a:ln w="12700">
            <a:solidFill>
              <a:srgbClr val="00D4FF"/>
            </a:solidFill>
            <a:prstDash val="solid"/>
          </a:ln>
        </p:spPr>
        <p:txBody>
          <a:bodyPr/>
          <a:lstStyle/>
          <a:p>
            <a:endParaRPr lang="en-US"/>
          </a:p>
        </p:txBody>
      </p:sp>
      <p:sp>
        <p:nvSpPr>
          <p:cNvPr id="3" name="Shape 1"/>
          <p:cNvSpPr/>
          <p:nvPr/>
        </p:nvSpPr>
        <p:spPr>
          <a:xfrm>
            <a:off x="6858000" y="-1371600"/>
            <a:ext cx="4572000" cy="4572000"/>
          </a:xfrm>
          <a:prstGeom prst="ellipse">
            <a:avLst/>
          </a:prstGeom>
          <a:solidFill>
            <a:srgbClr val="7C3AED">
              <a:alpha val="15000"/>
            </a:srgbClr>
          </a:solidFill>
          <a:ln w="12700">
            <a:solidFill>
              <a:srgbClr val="7C3AED">
                <a:alpha val="15000"/>
              </a:srgbClr>
            </a:solidFill>
            <a:prstDash val="solid"/>
          </a:ln>
        </p:spPr>
        <p:txBody>
          <a:bodyPr/>
          <a:lstStyle/>
          <a:p>
            <a:endParaRPr lang="en-US"/>
          </a:p>
        </p:txBody>
      </p:sp>
      <p:sp>
        <p:nvSpPr>
          <p:cNvPr id="4" name="Shape 2"/>
          <p:cNvSpPr/>
          <p:nvPr/>
        </p:nvSpPr>
        <p:spPr>
          <a:xfrm>
            <a:off x="7498080" y="2286000"/>
            <a:ext cx="2743200" cy="2743200"/>
          </a:xfrm>
          <a:prstGeom prst="ellipse">
            <a:avLst/>
          </a:prstGeom>
          <a:solidFill>
            <a:srgbClr val="00D4FF">
              <a:alpha val="10000"/>
            </a:srgbClr>
          </a:solidFill>
          <a:ln w="12700">
            <a:solidFill>
              <a:srgbClr val="00D4FF">
                <a:alpha val="10000"/>
              </a:srgbClr>
            </a:solidFill>
            <a:prstDash val="solid"/>
          </a:ln>
        </p:spPr>
        <p:txBody>
          <a:bodyPr/>
          <a:lstStyle/>
          <a:p>
            <a:endParaRPr lang="en-US"/>
          </a:p>
        </p:txBody>
      </p:sp>
      <p:sp>
        <p:nvSpPr>
          <p:cNvPr id="5" name="Text 3"/>
          <p:cNvSpPr/>
          <p:nvPr/>
        </p:nvSpPr>
        <p:spPr>
          <a:xfrm>
            <a:off x="457200" y="731520"/>
            <a:ext cx="7772400" cy="91440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6" name="Text 4"/>
          <p:cNvSpPr/>
          <p:nvPr/>
        </p:nvSpPr>
        <p:spPr>
          <a:xfrm>
            <a:off x="457200" y="1600200"/>
            <a:ext cx="7772400" cy="640080"/>
          </a:xfrm>
          <a:prstGeom prst="rect">
            <a:avLst/>
          </a:prstGeom>
          <a:noFill/>
          <a:ln/>
        </p:spPr>
        <p:txBody>
          <a:bodyPr wrap="square" rtlCol="0" anchor="ctr"/>
          <a:lstStyle/>
          <a:p>
            <a:pPr marL="0" indent="0">
              <a:buNone/>
            </a:pPr>
            <a:r>
              <a:rPr lang="en-US" sz="3600" b="1" dirty="0">
                <a:solidFill>
                  <a:srgbClr val="00D4FF"/>
                </a:solidFill>
                <a:latin typeface="Calibri" pitchFamily="34" charset="0"/>
                <a:ea typeface="Calibri" pitchFamily="34" charset="-122"/>
                <a:cs typeface="Calibri" pitchFamily="34" charset="-120"/>
              </a:rPr>
              <a:t>Questions?</a:t>
            </a:r>
            <a:endParaRPr lang="en-US" sz="3600" dirty="0"/>
          </a:p>
        </p:txBody>
      </p:sp>
      <p:sp>
        <p:nvSpPr>
          <p:cNvPr id="7" name="Shape 5"/>
          <p:cNvSpPr/>
          <p:nvPr/>
        </p:nvSpPr>
        <p:spPr>
          <a:xfrm>
            <a:off x="457200" y="2331720"/>
            <a:ext cx="3657600" cy="36576"/>
          </a:xfrm>
          <a:prstGeom prst="rect">
            <a:avLst/>
          </a:prstGeom>
          <a:solidFill>
            <a:srgbClr val="00D4FF"/>
          </a:solidFill>
          <a:ln w="12700">
            <a:solidFill>
              <a:srgbClr val="00D4FF"/>
            </a:solidFill>
            <a:prstDash val="solid"/>
          </a:ln>
        </p:spPr>
        <p:txBody>
          <a:bodyPr/>
          <a:lstStyle/>
          <a:p>
            <a:endParaRPr lang="en-US"/>
          </a:p>
        </p:txBody>
      </p:sp>
      <p:sp>
        <p:nvSpPr>
          <p:cNvPr id="8" name="Text 6"/>
          <p:cNvSpPr/>
          <p:nvPr/>
        </p:nvSpPr>
        <p:spPr>
          <a:xfrm>
            <a:off x="457200" y="2514600"/>
            <a:ext cx="2011680" cy="36576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Live App</a:t>
            </a:r>
            <a:endParaRPr lang="en-US" sz="1300" dirty="0"/>
          </a:p>
        </p:txBody>
      </p:sp>
      <p:sp>
        <p:nvSpPr>
          <p:cNvPr id="9" name="Text 7"/>
          <p:cNvSpPr/>
          <p:nvPr/>
        </p:nvSpPr>
        <p:spPr>
          <a:xfrm>
            <a:off x="2560320" y="2514600"/>
            <a:ext cx="594360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huggingface.co/spaces/amenuvevemelissa/ai-detector</a:t>
            </a:r>
            <a:endParaRPr lang="en-US" sz="1300" dirty="0"/>
          </a:p>
        </p:txBody>
      </p:sp>
      <p:sp>
        <p:nvSpPr>
          <p:cNvPr id="10" name="Text 8"/>
          <p:cNvSpPr/>
          <p:nvPr/>
        </p:nvSpPr>
        <p:spPr>
          <a:xfrm>
            <a:off x="457200" y="2971800"/>
            <a:ext cx="2011680" cy="36576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Dataset</a:t>
            </a:r>
            <a:endParaRPr lang="en-US" sz="1300" dirty="0"/>
          </a:p>
        </p:txBody>
      </p:sp>
      <p:sp>
        <p:nvSpPr>
          <p:cNvPr id="11" name="Text 9"/>
          <p:cNvSpPr/>
          <p:nvPr/>
        </p:nvSpPr>
        <p:spPr>
          <a:xfrm>
            <a:off x="2560320" y="2971800"/>
            <a:ext cx="594360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5,981 samples — GPT-4o, Claude, Gemini, LLaMA, Qwen</a:t>
            </a:r>
            <a:endParaRPr lang="en-US" sz="1300" dirty="0"/>
          </a:p>
        </p:txBody>
      </p:sp>
      <p:sp>
        <p:nvSpPr>
          <p:cNvPr id="12" name="Text 10"/>
          <p:cNvSpPr/>
          <p:nvPr/>
        </p:nvSpPr>
        <p:spPr>
          <a:xfrm>
            <a:off x="457200" y="3429000"/>
            <a:ext cx="2011680" cy="36576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Method</a:t>
            </a:r>
            <a:endParaRPr lang="en-US" sz="1300" dirty="0"/>
          </a:p>
        </p:txBody>
      </p:sp>
      <p:sp>
        <p:nvSpPr>
          <p:cNvPr id="13" name="Text 11"/>
          <p:cNvSpPr/>
          <p:nvPr/>
        </p:nvSpPr>
        <p:spPr>
          <a:xfrm>
            <a:off x="2560320" y="3429000"/>
            <a:ext cx="594360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41 linguistic features + LOMO-CV + StandardScaler per fold</a:t>
            </a:r>
            <a:endParaRPr lang="en-US" sz="1300" dirty="0"/>
          </a:p>
        </p:txBody>
      </p:sp>
      <p:sp>
        <p:nvSpPr>
          <p:cNvPr id="14" name="Text 12"/>
          <p:cNvSpPr/>
          <p:nvPr/>
        </p:nvSpPr>
        <p:spPr>
          <a:xfrm>
            <a:off x="457200" y="3886200"/>
            <a:ext cx="2011680" cy="365760"/>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  Result</a:t>
            </a:r>
            <a:endParaRPr lang="en-US" sz="1300" dirty="0"/>
          </a:p>
        </p:txBody>
      </p:sp>
      <p:sp>
        <p:nvSpPr>
          <p:cNvPr id="15" name="Text 13"/>
          <p:cNvSpPr/>
          <p:nvPr/>
        </p:nvSpPr>
        <p:spPr>
          <a:xfrm>
            <a:off x="2560320" y="3886200"/>
            <a:ext cx="594360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LR: 99.94% F1  |  Neural baselines: ~18% F1</a:t>
            </a:r>
            <a:endParaRPr lang="en-US" sz="1300" dirty="0"/>
          </a:p>
        </p:txBody>
      </p:sp>
      <p:sp>
        <p:nvSpPr>
          <p:cNvPr id="16" name="Text 14"/>
          <p:cNvSpPr/>
          <p:nvPr/>
        </p:nvSpPr>
        <p:spPr>
          <a:xfrm>
            <a:off x="457200" y="4754880"/>
            <a:ext cx="82296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Melissa Amenuveve  |  CAP5638 Pattern Recognition  |  Florida State University  |  April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5729</Words>
  <Application>Microsoft Office PowerPoint</Application>
  <PresentationFormat>On-screen Show (16:9)</PresentationFormat>
  <Paragraphs>717</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Cross-Model Generalization in AI Text Detection</dc:title>
  <dc:subject>PptxGenJS Presentation</dc:subject>
  <dc:creator>Melissa Amenuveve</dc:creator>
  <cp:lastModifiedBy>Melissa Amenuveve</cp:lastModifiedBy>
  <cp:revision>2</cp:revision>
  <dcterms:created xsi:type="dcterms:W3CDTF">2026-04-23T02:17:59Z</dcterms:created>
  <dcterms:modified xsi:type="dcterms:W3CDTF">2026-04-23T17:20:00Z</dcterms:modified>
</cp:coreProperties>
</file>